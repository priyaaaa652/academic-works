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66" r:id="rId15"/>
    <p:sldId id="270" r:id="rId16"/>
    <p:sldId id="271" r:id="rId17"/>
    <p:sldId id="272" r:id="rId18"/>
    <p:sldId id="275" r:id="rId19"/>
    <p:sldId id="276" r:id="rId20"/>
    <p:sldId id="277"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6BD68-03C8-0526-FFC8-A7C543EF8F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6A7B8E-C444-BB20-072E-F584EB6BA3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EAF7F6-5D67-96D3-050E-014C14742239}"/>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5" name="Footer Placeholder 4">
            <a:extLst>
              <a:ext uri="{FF2B5EF4-FFF2-40B4-BE49-F238E27FC236}">
                <a16:creationId xmlns:a16="http://schemas.microsoft.com/office/drawing/2014/main" id="{DBA2C8E0-3C6F-79AB-01EC-30C16E73AB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607171-1640-2741-1FAF-91CA22E0E28B}"/>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3494971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EECB0-F9BB-581C-D665-D38EBB6E66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E8568A-7797-4866-9004-F761297E79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564E5-54B3-217F-5F2E-E3E37608BF60}"/>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5" name="Footer Placeholder 4">
            <a:extLst>
              <a:ext uri="{FF2B5EF4-FFF2-40B4-BE49-F238E27FC236}">
                <a16:creationId xmlns:a16="http://schemas.microsoft.com/office/drawing/2014/main" id="{9CA7020A-0B33-874D-D4D8-020097D73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BDF23B-F6F9-36B2-AC97-3A6B77373382}"/>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4009902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AC89F-E1A0-0CC5-D492-366DE6971B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787A81-D6ED-0A2C-42D9-4C6DECD9B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C95936-49E4-8E72-92A2-B3C1156D7327}"/>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5" name="Footer Placeholder 4">
            <a:extLst>
              <a:ext uri="{FF2B5EF4-FFF2-40B4-BE49-F238E27FC236}">
                <a16:creationId xmlns:a16="http://schemas.microsoft.com/office/drawing/2014/main" id="{3D7A0D6A-F71E-A53C-811E-6268FA8643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7DEC7-2118-DB96-98E3-7E7A9FD83063}"/>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349086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AD72-12E4-BD15-2922-E574D10598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4B4906-A4BA-21FD-2359-1E159D0610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296066-C0D8-397B-4E08-2BEC5DBC0F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E0510B-E54C-C4E6-7517-1B2EA58847C3}"/>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6" name="Footer Placeholder 5">
            <a:extLst>
              <a:ext uri="{FF2B5EF4-FFF2-40B4-BE49-F238E27FC236}">
                <a16:creationId xmlns:a16="http://schemas.microsoft.com/office/drawing/2014/main" id="{75E79A41-5BA4-B0B4-A4F0-2E3EC1E5FC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1A1B84-074F-A86E-7224-40C41ABF4A63}"/>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2810285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DF18-C360-1D0E-953D-48AF7B9A06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5CA95B-C3EE-1A40-C0C7-233A894BC5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FF3ADE-D07C-E889-F4F2-058F1F3F93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1E54FE-02AD-D0EB-96B0-E38AAA337C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D9014C-F46B-ED5F-287F-AF46509AF7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9252F8-D296-F80A-9E78-4A2B6607900E}"/>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8" name="Footer Placeholder 7">
            <a:extLst>
              <a:ext uri="{FF2B5EF4-FFF2-40B4-BE49-F238E27FC236}">
                <a16:creationId xmlns:a16="http://schemas.microsoft.com/office/drawing/2014/main" id="{954C917E-D257-A0C2-1ADD-C4DA1CA7B4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A35023-BBD7-5178-E436-BDF78CFE1B8E}"/>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27954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AA9D-1BE2-3EFC-FCC2-E72291EFE5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667585-FA16-B115-D20B-9E3595F732FE}"/>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4" name="Footer Placeholder 3">
            <a:extLst>
              <a:ext uri="{FF2B5EF4-FFF2-40B4-BE49-F238E27FC236}">
                <a16:creationId xmlns:a16="http://schemas.microsoft.com/office/drawing/2014/main" id="{B6056ECA-B84D-EAAE-9AAB-9A3F6D243C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9DE171-D9D6-C74C-7D9E-17C9695B4BDA}"/>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2201039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505966-3CDE-0463-0889-4FE8B7E0EDE2}"/>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3" name="Footer Placeholder 2">
            <a:extLst>
              <a:ext uri="{FF2B5EF4-FFF2-40B4-BE49-F238E27FC236}">
                <a16:creationId xmlns:a16="http://schemas.microsoft.com/office/drawing/2014/main" id="{65070545-1EB6-BD82-FE39-191AF6EAC0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8F9F36-FC0C-4672-E201-3B701BA32B53}"/>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297204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860A2-8626-2B9B-3944-58AC83D7DF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EC968D-EDF4-F033-E31B-7C4063E0EF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E7B99B-C5DC-F110-B748-5BD0C723BC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9D7DBF-1BB9-2130-64E7-5986B90E9F07}"/>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6" name="Footer Placeholder 5">
            <a:extLst>
              <a:ext uri="{FF2B5EF4-FFF2-40B4-BE49-F238E27FC236}">
                <a16:creationId xmlns:a16="http://schemas.microsoft.com/office/drawing/2014/main" id="{4EDFA792-B37C-521B-30F4-559F45EA46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63453C-91EA-1C7F-730A-D03D1590140D}"/>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317246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E3C08-BC43-140A-8EAB-42A38A0BB7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CC90D9-598F-219D-8B42-9C3C4CB250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DBDB63-DEED-7BC1-701C-2CB4618480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0002A9-FE0A-E9E3-95E7-7B6BBCA6BC35}"/>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6" name="Footer Placeholder 5">
            <a:extLst>
              <a:ext uri="{FF2B5EF4-FFF2-40B4-BE49-F238E27FC236}">
                <a16:creationId xmlns:a16="http://schemas.microsoft.com/office/drawing/2014/main" id="{69E7F406-C146-C1DC-D804-CF1A1F5FAC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284721-0AFB-5C07-C5D8-1AF6B49B58A8}"/>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1527079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DDCB3-BA27-8F34-4F52-81FDCED3C6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A030D7-48BE-782C-11F9-D603503152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3CA08C-C78C-002F-1E55-42CBAA505473}"/>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5" name="Footer Placeholder 4">
            <a:extLst>
              <a:ext uri="{FF2B5EF4-FFF2-40B4-BE49-F238E27FC236}">
                <a16:creationId xmlns:a16="http://schemas.microsoft.com/office/drawing/2014/main" id="{FD327EAB-339E-D27D-C1FC-86C1A4E75F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46FB22-4EAA-7F93-58C0-8669B945D394}"/>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3230159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C94BFA-2F90-1C07-4037-D4C0C640C9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8D6067-FD11-6662-F021-84478691A2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0E516E-E602-421C-32CD-11595B87C962}"/>
              </a:ext>
            </a:extLst>
          </p:cNvPr>
          <p:cNvSpPr>
            <a:spLocks noGrp="1"/>
          </p:cNvSpPr>
          <p:nvPr>
            <p:ph type="dt" sz="half" idx="10"/>
          </p:nvPr>
        </p:nvSpPr>
        <p:spPr/>
        <p:txBody>
          <a:bodyPr/>
          <a:lstStyle/>
          <a:p>
            <a:fld id="{9DBE3BDB-6E4E-4DE5-B068-A037138FE7D2}" type="datetimeFigureOut">
              <a:rPr lang="en-US" smtClean="0"/>
              <a:t>8/3/2026</a:t>
            </a:fld>
            <a:endParaRPr lang="en-US"/>
          </a:p>
        </p:txBody>
      </p:sp>
      <p:sp>
        <p:nvSpPr>
          <p:cNvPr id="5" name="Footer Placeholder 4">
            <a:extLst>
              <a:ext uri="{FF2B5EF4-FFF2-40B4-BE49-F238E27FC236}">
                <a16:creationId xmlns:a16="http://schemas.microsoft.com/office/drawing/2014/main" id="{542BBBB6-DB22-56DC-D386-56427D73F7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85793D-EE36-E8C5-822A-CDECE9A9D06E}"/>
              </a:ext>
            </a:extLst>
          </p:cNvPr>
          <p:cNvSpPr>
            <a:spLocks noGrp="1"/>
          </p:cNvSpPr>
          <p:nvPr>
            <p:ph type="sldNum" sz="quarter" idx="12"/>
          </p:nvPr>
        </p:nvSpPr>
        <p:spPr/>
        <p:txBody>
          <a:bodyPr/>
          <a:lstStyle/>
          <a:p>
            <a:fld id="{2BAF8901-13DC-4671-A7F5-2AFB76113F9E}" type="slidenum">
              <a:rPr lang="en-US" smtClean="0"/>
              <a:t>‹#›</a:t>
            </a:fld>
            <a:endParaRPr lang="en-US"/>
          </a:p>
        </p:txBody>
      </p:sp>
    </p:spTree>
    <p:extLst>
      <p:ext uri="{BB962C8B-B14F-4D97-AF65-F5344CB8AC3E}">
        <p14:creationId xmlns:p14="http://schemas.microsoft.com/office/powerpoint/2010/main" val="463405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197A20-70D8-D04F-1D6F-8197026E7F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F94319-7D08-3BB8-D6DD-A844187936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7282B0-53EA-52AD-C558-4A8B4393DD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E3BDB-6E4E-4DE5-B068-A037138FE7D2}" type="datetimeFigureOut">
              <a:rPr lang="en-US" smtClean="0"/>
              <a:t>8/3/2026</a:t>
            </a:fld>
            <a:endParaRPr lang="en-US"/>
          </a:p>
        </p:txBody>
      </p:sp>
      <p:sp>
        <p:nvSpPr>
          <p:cNvPr id="5" name="Footer Placeholder 4">
            <a:extLst>
              <a:ext uri="{FF2B5EF4-FFF2-40B4-BE49-F238E27FC236}">
                <a16:creationId xmlns:a16="http://schemas.microsoft.com/office/drawing/2014/main" id="{FDE321AD-4BB2-A302-D68A-2DFA552532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9D997-9C81-A118-EE0F-DF3F72954B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AF8901-13DC-4671-A7F5-2AFB76113F9E}" type="slidenum">
              <a:rPr lang="en-US" smtClean="0"/>
              <a:t>‹#›</a:t>
            </a:fld>
            <a:endParaRPr lang="en-US"/>
          </a:p>
        </p:txBody>
      </p:sp>
    </p:spTree>
    <p:extLst>
      <p:ext uri="{BB962C8B-B14F-4D97-AF65-F5344CB8AC3E}">
        <p14:creationId xmlns:p14="http://schemas.microsoft.com/office/powerpoint/2010/main" val="85900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emf"/><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4.pn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B15087C-BE59-854A-BC4A-04BB75C872D3}"/>
              </a:ext>
            </a:extLst>
          </p:cNvPr>
          <p:cNvSpPr txBox="1"/>
          <p:nvPr/>
        </p:nvSpPr>
        <p:spPr>
          <a:xfrm>
            <a:off x="317241" y="1175658"/>
            <a:ext cx="7576457" cy="461665"/>
          </a:xfrm>
          <a:prstGeom prst="rect">
            <a:avLst/>
          </a:prstGeom>
          <a:noFill/>
        </p:spPr>
        <p:txBody>
          <a:bodyPr wrap="square" rtlCol="0">
            <a:spAutoFit/>
          </a:bodyPr>
          <a:lstStyle/>
          <a:p>
            <a:r>
              <a:rPr lang="en-US" sz="2400" dirty="0"/>
              <a:t>By quantum system, one means one of the following cases:</a:t>
            </a:r>
          </a:p>
        </p:txBody>
      </p:sp>
      <p:pic>
        <p:nvPicPr>
          <p:cNvPr id="8" name="Picture 7">
            <a:extLst>
              <a:ext uri="{FF2B5EF4-FFF2-40B4-BE49-F238E27FC236}">
                <a16:creationId xmlns:a16="http://schemas.microsoft.com/office/drawing/2014/main" id="{54E8F2B7-FF99-A1BF-8523-6F8EC2A5498D}"/>
              </a:ext>
            </a:extLst>
          </p:cNvPr>
          <p:cNvPicPr>
            <a:picLocks noChangeAspect="1"/>
          </p:cNvPicPr>
          <p:nvPr/>
        </p:nvPicPr>
        <p:blipFill>
          <a:blip r:embed="rId2"/>
          <a:stretch>
            <a:fillRect/>
          </a:stretch>
        </p:blipFill>
        <p:spPr>
          <a:xfrm>
            <a:off x="177282" y="2166650"/>
            <a:ext cx="11706808" cy="2837713"/>
          </a:xfrm>
          <a:prstGeom prst="rect">
            <a:avLst/>
          </a:prstGeom>
        </p:spPr>
      </p:pic>
      <p:sp>
        <p:nvSpPr>
          <p:cNvPr id="9" name="TextBox 8">
            <a:extLst>
              <a:ext uri="{FF2B5EF4-FFF2-40B4-BE49-F238E27FC236}">
                <a16:creationId xmlns:a16="http://schemas.microsoft.com/office/drawing/2014/main" id="{8CCDA495-29EF-C95C-8BD2-2415880084DB}"/>
              </a:ext>
            </a:extLst>
          </p:cNvPr>
          <p:cNvSpPr txBox="1"/>
          <p:nvPr/>
        </p:nvSpPr>
        <p:spPr>
          <a:xfrm>
            <a:off x="3879980" y="0"/>
            <a:ext cx="4301412" cy="646331"/>
          </a:xfrm>
          <a:prstGeom prst="rect">
            <a:avLst/>
          </a:prstGeom>
          <a:noFill/>
        </p:spPr>
        <p:txBody>
          <a:bodyPr wrap="square" rtlCol="0">
            <a:spAutoFit/>
          </a:bodyPr>
          <a:lstStyle/>
          <a:p>
            <a:r>
              <a:rPr lang="en-US" sz="3600" dirty="0">
                <a:solidFill>
                  <a:srgbClr val="FF0000"/>
                </a:solidFill>
              </a:rPr>
              <a:t>The Quantum System</a:t>
            </a:r>
          </a:p>
        </p:txBody>
      </p:sp>
    </p:spTree>
    <p:extLst>
      <p:ext uri="{BB962C8B-B14F-4D97-AF65-F5344CB8AC3E}">
        <p14:creationId xmlns:p14="http://schemas.microsoft.com/office/powerpoint/2010/main" val="1844351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E3C034-98A0-FD01-9381-7A3DDC9A135E}"/>
              </a:ext>
            </a:extLst>
          </p:cNvPr>
          <p:cNvSpPr txBox="1"/>
          <p:nvPr/>
        </p:nvSpPr>
        <p:spPr>
          <a:xfrm>
            <a:off x="2354062" y="8878"/>
            <a:ext cx="7483875" cy="646331"/>
          </a:xfrm>
          <a:prstGeom prst="rect">
            <a:avLst/>
          </a:prstGeom>
          <a:noFill/>
        </p:spPr>
        <p:txBody>
          <a:bodyPr wrap="square" rtlCol="0">
            <a:spAutoFit/>
          </a:bodyPr>
          <a:lstStyle/>
          <a:p>
            <a:r>
              <a:rPr lang="en-US" sz="3600" dirty="0"/>
              <a:t>The Postulates of Quantum Mechanics</a:t>
            </a:r>
          </a:p>
        </p:txBody>
      </p:sp>
      <p:pic>
        <p:nvPicPr>
          <p:cNvPr id="6" name="Picture 5">
            <a:extLst>
              <a:ext uri="{FF2B5EF4-FFF2-40B4-BE49-F238E27FC236}">
                <a16:creationId xmlns:a16="http://schemas.microsoft.com/office/drawing/2014/main" id="{0612386F-263D-E4C3-38D8-14DDDF7F0330}"/>
              </a:ext>
            </a:extLst>
          </p:cNvPr>
          <p:cNvPicPr>
            <a:picLocks noChangeAspect="1"/>
          </p:cNvPicPr>
          <p:nvPr/>
        </p:nvPicPr>
        <p:blipFill>
          <a:blip r:embed="rId2"/>
          <a:stretch>
            <a:fillRect/>
          </a:stretch>
        </p:blipFill>
        <p:spPr>
          <a:xfrm>
            <a:off x="561557" y="655209"/>
            <a:ext cx="11462492" cy="5788821"/>
          </a:xfrm>
          <a:prstGeom prst="rect">
            <a:avLst/>
          </a:prstGeom>
        </p:spPr>
      </p:pic>
    </p:spTree>
    <p:extLst>
      <p:ext uri="{BB962C8B-B14F-4D97-AF65-F5344CB8AC3E}">
        <p14:creationId xmlns:p14="http://schemas.microsoft.com/office/powerpoint/2010/main" val="1711701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ECF950-7F2E-08BA-9775-F58302B4B1EA}"/>
              </a:ext>
            </a:extLst>
          </p:cNvPr>
          <p:cNvPicPr>
            <a:picLocks noChangeAspect="1"/>
          </p:cNvPicPr>
          <p:nvPr/>
        </p:nvPicPr>
        <p:blipFill>
          <a:blip r:embed="rId2"/>
          <a:stretch>
            <a:fillRect/>
          </a:stretch>
        </p:blipFill>
        <p:spPr>
          <a:xfrm>
            <a:off x="423623" y="242596"/>
            <a:ext cx="11551864" cy="6615404"/>
          </a:xfrm>
          <a:prstGeom prst="rect">
            <a:avLst/>
          </a:prstGeom>
        </p:spPr>
      </p:pic>
    </p:spTree>
    <p:extLst>
      <p:ext uri="{BB962C8B-B14F-4D97-AF65-F5344CB8AC3E}">
        <p14:creationId xmlns:p14="http://schemas.microsoft.com/office/powerpoint/2010/main" val="3891965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B831BD-85CD-CAE0-DF50-199B3E566407}"/>
              </a:ext>
            </a:extLst>
          </p:cNvPr>
          <p:cNvPicPr>
            <a:picLocks noChangeAspect="1"/>
          </p:cNvPicPr>
          <p:nvPr/>
        </p:nvPicPr>
        <p:blipFill>
          <a:blip r:embed="rId2"/>
          <a:stretch>
            <a:fillRect/>
          </a:stretch>
        </p:blipFill>
        <p:spPr>
          <a:xfrm>
            <a:off x="476250" y="217714"/>
            <a:ext cx="11239500" cy="5638800"/>
          </a:xfrm>
          <a:prstGeom prst="rect">
            <a:avLst/>
          </a:prstGeom>
        </p:spPr>
      </p:pic>
    </p:spTree>
    <p:extLst>
      <p:ext uri="{BB962C8B-B14F-4D97-AF65-F5344CB8AC3E}">
        <p14:creationId xmlns:p14="http://schemas.microsoft.com/office/powerpoint/2010/main" val="1689247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632AF4-0542-DBD6-956B-BB56B4BEFFD5}"/>
              </a:ext>
            </a:extLst>
          </p:cNvPr>
          <p:cNvPicPr>
            <a:picLocks noChangeAspect="1"/>
          </p:cNvPicPr>
          <p:nvPr/>
        </p:nvPicPr>
        <p:blipFill>
          <a:blip r:embed="rId2"/>
          <a:stretch>
            <a:fillRect/>
          </a:stretch>
        </p:blipFill>
        <p:spPr>
          <a:xfrm>
            <a:off x="614362" y="661987"/>
            <a:ext cx="10963275" cy="5534025"/>
          </a:xfrm>
          <a:prstGeom prst="rect">
            <a:avLst/>
          </a:prstGeom>
        </p:spPr>
      </p:pic>
    </p:spTree>
    <p:extLst>
      <p:ext uri="{BB962C8B-B14F-4D97-AF65-F5344CB8AC3E}">
        <p14:creationId xmlns:p14="http://schemas.microsoft.com/office/powerpoint/2010/main" val="109943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659825-97C6-6295-C0EB-6AA432850D0D}"/>
              </a:ext>
            </a:extLst>
          </p:cNvPr>
          <p:cNvPicPr>
            <a:picLocks noChangeAspect="1"/>
          </p:cNvPicPr>
          <p:nvPr/>
        </p:nvPicPr>
        <p:blipFill>
          <a:blip r:embed="rId2"/>
          <a:stretch>
            <a:fillRect/>
          </a:stretch>
        </p:blipFill>
        <p:spPr>
          <a:xfrm>
            <a:off x="576262" y="161925"/>
            <a:ext cx="11039475" cy="6534150"/>
          </a:xfrm>
          <a:prstGeom prst="rect">
            <a:avLst/>
          </a:prstGeom>
        </p:spPr>
      </p:pic>
    </p:spTree>
    <p:extLst>
      <p:ext uri="{BB962C8B-B14F-4D97-AF65-F5344CB8AC3E}">
        <p14:creationId xmlns:p14="http://schemas.microsoft.com/office/powerpoint/2010/main" val="1941135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F5500A-7379-8DC9-F461-665447542689}"/>
              </a:ext>
            </a:extLst>
          </p:cNvPr>
          <p:cNvSpPr txBox="1"/>
          <p:nvPr/>
        </p:nvSpPr>
        <p:spPr>
          <a:xfrm>
            <a:off x="5042647" y="0"/>
            <a:ext cx="2420471" cy="646331"/>
          </a:xfrm>
          <a:prstGeom prst="rect">
            <a:avLst/>
          </a:prstGeom>
          <a:noFill/>
        </p:spPr>
        <p:txBody>
          <a:bodyPr wrap="square" rtlCol="0">
            <a:spAutoFit/>
          </a:bodyPr>
          <a:lstStyle/>
          <a:p>
            <a:r>
              <a:rPr lang="en-US" sz="3600" dirty="0"/>
              <a:t>Formalism</a:t>
            </a:r>
          </a:p>
        </p:txBody>
      </p:sp>
      <p:sp>
        <p:nvSpPr>
          <p:cNvPr id="5" name="TextBox 4">
            <a:extLst>
              <a:ext uri="{FF2B5EF4-FFF2-40B4-BE49-F238E27FC236}">
                <a16:creationId xmlns:a16="http://schemas.microsoft.com/office/drawing/2014/main" id="{276D09D8-0560-AF95-1DEA-C8ABA2E00EAF}"/>
              </a:ext>
            </a:extLst>
          </p:cNvPr>
          <p:cNvSpPr txBox="1"/>
          <p:nvPr/>
        </p:nvSpPr>
        <p:spPr>
          <a:xfrm>
            <a:off x="766482" y="728400"/>
            <a:ext cx="11122090" cy="1569660"/>
          </a:xfrm>
          <a:prstGeom prst="rect">
            <a:avLst/>
          </a:prstGeom>
          <a:noFill/>
        </p:spPr>
        <p:txBody>
          <a:bodyPr wrap="square" rtlCol="0">
            <a:spAutoFit/>
          </a:bodyPr>
          <a:lstStyle/>
          <a:p>
            <a:pPr algn="just"/>
            <a:r>
              <a:rPr lang="en-US" sz="2400" dirty="0"/>
              <a:t>Quantum theory is based on two constructs: (</a:t>
            </a:r>
            <a:r>
              <a:rPr lang="en-US" sz="2400" dirty="0" err="1"/>
              <a:t>i</a:t>
            </a:r>
            <a:r>
              <a:rPr lang="en-US" sz="2400" dirty="0"/>
              <a:t>) Wave functions and (ii) Operators.</a:t>
            </a:r>
          </a:p>
          <a:p>
            <a:pPr algn="just"/>
            <a:r>
              <a:rPr lang="en-US" sz="2400" dirty="0"/>
              <a:t>The state of a system is represented by its wave function, observables are represented by operators. Mathematically the wave function satisfy the defining conditions for abstract vectors, and operators act on them as linear transformations.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5AEDBB0-E3BC-8CBA-9F86-413C81060C9C}"/>
                  </a:ext>
                </a:extLst>
              </p:cNvPr>
              <p:cNvSpPr txBox="1"/>
              <p:nvPr/>
            </p:nvSpPr>
            <p:spPr>
              <a:xfrm>
                <a:off x="766482" y="2380129"/>
                <a:ext cx="9009530" cy="461665"/>
              </a:xfrm>
              <a:prstGeom prst="rect">
                <a:avLst/>
              </a:prstGeom>
              <a:noFill/>
            </p:spPr>
            <p:txBody>
              <a:bodyPr wrap="square" rtlCol="0">
                <a:spAutoFit/>
              </a:bodyPr>
              <a:lstStyle/>
              <a:p>
                <a:r>
                  <a:rPr lang="en-US" sz="2400" dirty="0"/>
                  <a:t>In an  n-dimensional vector space, the vector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&gt;</m:t>
                    </m:r>
                  </m:oMath>
                </a14:m>
                <a:r>
                  <a:rPr lang="en-US" sz="2400" dirty="0"/>
                  <a:t> is represented as</a:t>
                </a:r>
              </a:p>
            </p:txBody>
          </p:sp>
        </mc:Choice>
        <mc:Fallback xmlns="">
          <p:sp>
            <p:nvSpPr>
              <p:cNvPr id="6" name="TextBox 5">
                <a:extLst>
                  <a:ext uri="{FF2B5EF4-FFF2-40B4-BE49-F238E27FC236}">
                    <a16:creationId xmlns:a16="http://schemas.microsoft.com/office/drawing/2014/main" id="{B5AEDBB0-E3BC-8CBA-9F86-413C81060C9C}"/>
                  </a:ext>
                </a:extLst>
              </p:cNvPr>
              <p:cNvSpPr txBox="1">
                <a:spLocks noRot="1" noChangeAspect="1" noMove="1" noResize="1" noEditPoints="1" noAdjustHandles="1" noChangeArrowheads="1" noChangeShapeType="1" noTextEdit="1"/>
              </p:cNvSpPr>
              <p:nvPr/>
            </p:nvSpPr>
            <p:spPr>
              <a:xfrm>
                <a:off x="766482" y="2380129"/>
                <a:ext cx="9009530" cy="461665"/>
              </a:xfrm>
              <a:prstGeom prst="rect">
                <a:avLst/>
              </a:prstGeom>
              <a:blipFill>
                <a:blip r:embed="rId2"/>
                <a:stretch>
                  <a:fillRect l="-1083" t="-10526" b="-28947"/>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0EBAA23-626F-BA81-4867-17F1C6297E52}"/>
              </a:ext>
            </a:extLst>
          </p:cNvPr>
          <p:cNvPicPr>
            <a:picLocks noChangeAspect="1"/>
          </p:cNvPicPr>
          <p:nvPr/>
        </p:nvPicPr>
        <p:blipFill>
          <a:blip r:embed="rId3"/>
          <a:stretch>
            <a:fillRect/>
          </a:stretch>
        </p:blipFill>
        <p:spPr>
          <a:xfrm>
            <a:off x="4450715" y="2923863"/>
            <a:ext cx="2162297" cy="1598220"/>
          </a:xfrm>
          <a:prstGeom prst="rect">
            <a:avLst/>
          </a:prstGeom>
        </p:spPr>
      </p:pic>
      <p:pic>
        <p:nvPicPr>
          <p:cNvPr id="10" name="Picture 9">
            <a:extLst>
              <a:ext uri="{FF2B5EF4-FFF2-40B4-BE49-F238E27FC236}">
                <a16:creationId xmlns:a16="http://schemas.microsoft.com/office/drawing/2014/main" id="{E5B0EA53-03C3-151C-2135-95EE5221DB15}"/>
              </a:ext>
            </a:extLst>
          </p:cNvPr>
          <p:cNvPicPr>
            <a:picLocks noChangeAspect="1"/>
          </p:cNvPicPr>
          <p:nvPr/>
        </p:nvPicPr>
        <p:blipFill>
          <a:blip r:embed="rId4"/>
          <a:stretch>
            <a:fillRect/>
          </a:stretch>
        </p:blipFill>
        <p:spPr>
          <a:xfrm>
            <a:off x="732912" y="4716189"/>
            <a:ext cx="10256080" cy="802650"/>
          </a:xfrm>
          <a:prstGeom prst="rect">
            <a:avLst/>
          </a:prstGeom>
        </p:spPr>
      </p:pic>
      <p:pic>
        <p:nvPicPr>
          <p:cNvPr id="12" name="Picture 11">
            <a:extLst>
              <a:ext uri="{FF2B5EF4-FFF2-40B4-BE49-F238E27FC236}">
                <a16:creationId xmlns:a16="http://schemas.microsoft.com/office/drawing/2014/main" id="{72DB9AB9-2FBC-D10F-E11B-852370F7ACAC}"/>
              </a:ext>
            </a:extLst>
          </p:cNvPr>
          <p:cNvPicPr>
            <a:picLocks noChangeAspect="1"/>
          </p:cNvPicPr>
          <p:nvPr/>
        </p:nvPicPr>
        <p:blipFill>
          <a:blip r:embed="rId5"/>
          <a:stretch>
            <a:fillRect/>
          </a:stretch>
        </p:blipFill>
        <p:spPr>
          <a:xfrm>
            <a:off x="3486608" y="5801585"/>
            <a:ext cx="4940951" cy="459255"/>
          </a:xfrm>
          <a:prstGeom prst="rect">
            <a:avLst/>
          </a:prstGeom>
        </p:spPr>
      </p:pic>
    </p:spTree>
    <p:extLst>
      <p:ext uri="{BB962C8B-B14F-4D97-AF65-F5344CB8AC3E}">
        <p14:creationId xmlns:p14="http://schemas.microsoft.com/office/powerpoint/2010/main" val="1878654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22C48A9-1E5F-20EE-5BE5-758EBF4B8FF3}"/>
              </a:ext>
            </a:extLst>
          </p:cNvPr>
          <p:cNvSpPr txBox="1"/>
          <p:nvPr/>
        </p:nvSpPr>
        <p:spPr>
          <a:xfrm>
            <a:off x="1026366" y="34518"/>
            <a:ext cx="10338319" cy="830997"/>
          </a:xfrm>
          <a:prstGeom prst="rect">
            <a:avLst/>
          </a:prstGeom>
          <a:noFill/>
        </p:spPr>
        <p:txBody>
          <a:bodyPr wrap="square" rtlCol="0">
            <a:spAutoFit/>
          </a:bodyPr>
          <a:lstStyle/>
          <a:p>
            <a:r>
              <a:rPr lang="en-US" sz="2400" dirty="0"/>
              <a:t>The collection of all functions of x constitutes a vector space, to represent a physical state, the wave function must be </a:t>
            </a:r>
            <a:r>
              <a:rPr lang="en-US" sz="2400" dirty="0" err="1"/>
              <a:t>normalizable</a:t>
            </a:r>
            <a:r>
              <a:rPr lang="en-US" sz="2400" dirty="0"/>
              <a:t> </a:t>
            </a:r>
          </a:p>
        </p:txBody>
      </p:sp>
      <p:pic>
        <p:nvPicPr>
          <p:cNvPr id="6" name="Picture 5">
            <a:extLst>
              <a:ext uri="{FF2B5EF4-FFF2-40B4-BE49-F238E27FC236}">
                <a16:creationId xmlns:a16="http://schemas.microsoft.com/office/drawing/2014/main" id="{1AD846F7-38E9-EA2D-7490-2D2F6A93555C}"/>
              </a:ext>
            </a:extLst>
          </p:cNvPr>
          <p:cNvPicPr>
            <a:picLocks noChangeAspect="1"/>
          </p:cNvPicPr>
          <p:nvPr/>
        </p:nvPicPr>
        <p:blipFill>
          <a:blip r:embed="rId2"/>
          <a:stretch>
            <a:fillRect/>
          </a:stretch>
        </p:blipFill>
        <p:spPr>
          <a:xfrm>
            <a:off x="4422710" y="847152"/>
            <a:ext cx="1687255" cy="749891"/>
          </a:xfrm>
          <a:prstGeom prst="rect">
            <a:avLst/>
          </a:prstGeom>
        </p:spPr>
      </p:pic>
      <p:sp>
        <p:nvSpPr>
          <p:cNvPr id="7" name="TextBox 6">
            <a:extLst>
              <a:ext uri="{FF2B5EF4-FFF2-40B4-BE49-F238E27FC236}">
                <a16:creationId xmlns:a16="http://schemas.microsoft.com/office/drawing/2014/main" id="{A855100C-34F1-67E5-AA7C-5B0434AD242A}"/>
              </a:ext>
            </a:extLst>
          </p:cNvPr>
          <p:cNvSpPr txBox="1"/>
          <p:nvPr/>
        </p:nvSpPr>
        <p:spPr>
          <a:xfrm>
            <a:off x="1455576" y="1673290"/>
            <a:ext cx="8201608" cy="461665"/>
          </a:xfrm>
          <a:prstGeom prst="rect">
            <a:avLst/>
          </a:prstGeom>
          <a:noFill/>
        </p:spPr>
        <p:txBody>
          <a:bodyPr wrap="square" rtlCol="0">
            <a:spAutoFit/>
          </a:bodyPr>
          <a:lstStyle/>
          <a:p>
            <a:r>
              <a:rPr lang="en-US" sz="2400" dirty="0"/>
              <a:t>The set of all square-integrable functions on a specified interval </a:t>
            </a:r>
          </a:p>
        </p:txBody>
      </p:sp>
      <p:pic>
        <p:nvPicPr>
          <p:cNvPr id="9" name="Picture 8">
            <a:extLst>
              <a:ext uri="{FF2B5EF4-FFF2-40B4-BE49-F238E27FC236}">
                <a16:creationId xmlns:a16="http://schemas.microsoft.com/office/drawing/2014/main" id="{0F4ABE59-E514-55BD-374A-EC0B24EF3E01}"/>
              </a:ext>
            </a:extLst>
          </p:cNvPr>
          <p:cNvPicPr>
            <a:picLocks noChangeAspect="1"/>
          </p:cNvPicPr>
          <p:nvPr/>
        </p:nvPicPr>
        <p:blipFill>
          <a:blip r:embed="rId3"/>
          <a:stretch>
            <a:fillRect/>
          </a:stretch>
        </p:blipFill>
        <p:spPr>
          <a:xfrm>
            <a:off x="3094140" y="2231100"/>
            <a:ext cx="4924480" cy="711630"/>
          </a:xfrm>
          <a:prstGeom prst="rect">
            <a:avLst/>
          </a:prstGeom>
        </p:spPr>
      </p:pic>
      <p:sp>
        <p:nvSpPr>
          <p:cNvPr id="10" name="TextBox 9">
            <a:extLst>
              <a:ext uri="{FF2B5EF4-FFF2-40B4-BE49-F238E27FC236}">
                <a16:creationId xmlns:a16="http://schemas.microsoft.com/office/drawing/2014/main" id="{B3BCDAE3-B95A-8742-FC1F-C83872723000}"/>
              </a:ext>
            </a:extLst>
          </p:cNvPr>
          <p:cNvSpPr txBox="1"/>
          <p:nvPr/>
        </p:nvSpPr>
        <p:spPr>
          <a:xfrm>
            <a:off x="755779" y="3038875"/>
            <a:ext cx="10608906" cy="830997"/>
          </a:xfrm>
          <a:prstGeom prst="rect">
            <a:avLst/>
          </a:prstGeom>
          <a:noFill/>
        </p:spPr>
        <p:txBody>
          <a:bodyPr wrap="square" rtlCol="0">
            <a:spAutoFit/>
          </a:bodyPr>
          <a:lstStyle/>
          <a:p>
            <a:r>
              <a:rPr lang="en-US" sz="2400" dirty="0"/>
              <a:t>Constitute a smaller vector space. Called Hilbert space, in quantum mechanics the wavefunctions live in Hilbert space.</a:t>
            </a:r>
          </a:p>
        </p:txBody>
      </p:sp>
      <p:sp>
        <p:nvSpPr>
          <p:cNvPr id="12" name="TextBox 11">
            <a:extLst>
              <a:ext uri="{FF2B5EF4-FFF2-40B4-BE49-F238E27FC236}">
                <a16:creationId xmlns:a16="http://schemas.microsoft.com/office/drawing/2014/main" id="{1F627B28-C1FC-3C60-B7B2-028B21C26CF2}"/>
              </a:ext>
            </a:extLst>
          </p:cNvPr>
          <p:cNvSpPr txBox="1"/>
          <p:nvPr/>
        </p:nvSpPr>
        <p:spPr>
          <a:xfrm>
            <a:off x="583615" y="4111096"/>
            <a:ext cx="11052700" cy="2308324"/>
          </a:xfrm>
          <a:prstGeom prst="rect">
            <a:avLst/>
          </a:prstGeom>
          <a:noFill/>
        </p:spPr>
        <p:txBody>
          <a:bodyPr wrap="square">
            <a:spAutoFit/>
          </a:bodyPr>
          <a:lstStyle/>
          <a:p>
            <a:pPr algn="just"/>
            <a:r>
              <a:rPr lang="en-US" sz="2400" dirty="0">
                <a:solidFill>
                  <a:srgbClr val="FF0000"/>
                </a:solidFill>
              </a:rPr>
              <a:t>In mathematics, Hilbert spaces (named after David Hilbert) allow generalizing the methods of linear algebra and calculus from (finite-dimensional) Euclidean vector spaces to spaces that may be infinite-dimensional. Hilbert spaces arise naturally and frequently in mathematics and physics, typically as function spaces. Formally, a Hilbert space is a vector space equipped with an inner product that defines a distance function for which the space is a complete metric space.</a:t>
            </a:r>
          </a:p>
        </p:txBody>
      </p:sp>
    </p:spTree>
    <p:extLst>
      <p:ext uri="{BB962C8B-B14F-4D97-AF65-F5344CB8AC3E}">
        <p14:creationId xmlns:p14="http://schemas.microsoft.com/office/powerpoint/2010/main" val="2082285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84463E4-CEE6-A657-D6D6-3474487B5F4F}"/>
                  </a:ext>
                </a:extLst>
              </p:cNvPr>
              <p:cNvSpPr txBox="1"/>
              <p:nvPr/>
            </p:nvSpPr>
            <p:spPr>
              <a:xfrm>
                <a:off x="699247" y="497541"/>
                <a:ext cx="8799316" cy="461665"/>
              </a:xfrm>
              <a:prstGeom prst="rect">
                <a:avLst/>
              </a:prstGeom>
              <a:noFill/>
            </p:spPr>
            <p:txBody>
              <a:bodyPr wrap="square" rtlCol="0">
                <a:spAutoFit/>
              </a:bodyPr>
              <a:lstStyle/>
              <a:p>
                <a:r>
                  <a:rPr lang="en-US" sz="2400" dirty="0"/>
                  <a:t>The inner product of two functions </a:t>
                </a:r>
                <a14:m>
                  <m:oMath xmlns:m="http://schemas.openxmlformats.org/officeDocument/2006/math">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oMath>
                </a14:m>
                <a:r>
                  <a:rPr lang="en-US" sz="2400" dirty="0"/>
                  <a:t> and </a:t>
                </a:r>
                <a14:m>
                  <m:oMath xmlns:m="http://schemas.openxmlformats.org/officeDocument/2006/math">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oMath>
                </a14:m>
                <a:r>
                  <a:rPr lang="en-US" sz="2400" dirty="0"/>
                  <a:t> is defined as</a:t>
                </a:r>
              </a:p>
            </p:txBody>
          </p:sp>
        </mc:Choice>
        <mc:Fallback xmlns="">
          <p:sp>
            <p:nvSpPr>
              <p:cNvPr id="2" name="TextBox 1">
                <a:extLst>
                  <a:ext uri="{FF2B5EF4-FFF2-40B4-BE49-F238E27FC236}">
                    <a16:creationId xmlns:a16="http://schemas.microsoft.com/office/drawing/2014/main" id="{384463E4-CEE6-A657-D6D6-3474487B5F4F}"/>
                  </a:ext>
                </a:extLst>
              </p:cNvPr>
              <p:cNvSpPr txBox="1">
                <a:spLocks noRot="1" noChangeAspect="1" noMove="1" noResize="1" noEditPoints="1" noAdjustHandles="1" noChangeArrowheads="1" noChangeShapeType="1" noTextEdit="1"/>
              </p:cNvSpPr>
              <p:nvPr/>
            </p:nvSpPr>
            <p:spPr>
              <a:xfrm>
                <a:off x="699247" y="497541"/>
                <a:ext cx="8799316" cy="461665"/>
              </a:xfrm>
              <a:prstGeom prst="rect">
                <a:avLst/>
              </a:prstGeom>
              <a:blipFill>
                <a:blip r:embed="rId2"/>
                <a:stretch>
                  <a:fillRect l="-1109" t="-10667" b="-3066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FB27187-1EFC-FD46-4BCE-6F8EEA1B4180}"/>
              </a:ext>
            </a:extLst>
          </p:cNvPr>
          <p:cNvPicPr>
            <a:picLocks noChangeAspect="1"/>
          </p:cNvPicPr>
          <p:nvPr/>
        </p:nvPicPr>
        <p:blipFill>
          <a:blip r:embed="rId3"/>
          <a:stretch>
            <a:fillRect/>
          </a:stretch>
        </p:blipFill>
        <p:spPr>
          <a:xfrm>
            <a:off x="4466459" y="1014503"/>
            <a:ext cx="3259082" cy="760931"/>
          </a:xfrm>
          <a:prstGeom prst="rect">
            <a:avLst/>
          </a:prstGeom>
        </p:spPr>
      </p:pic>
      <p:pic>
        <p:nvPicPr>
          <p:cNvPr id="6" name="Picture 5">
            <a:extLst>
              <a:ext uri="{FF2B5EF4-FFF2-40B4-BE49-F238E27FC236}">
                <a16:creationId xmlns:a16="http://schemas.microsoft.com/office/drawing/2014/main" id="{C9077D67-4A5A-A5D1-E034-CAEFE46A15B7}"/>
              </a:ext>
            </a:extLst>
          </p:cNvPr>
          <p:cNvPicPr>
            <a:picLocks noChangeAspect="1"/>
          </p:cNvPicPr>
          <p:nvPr/>
        </p:nvPicPr>
        <p:blipFill>
          <a:blip r:embed="rId4"/>
          <a:stretch>
            <a:fillRect/>
          </a:stretch>
        </p:blipFill>
        <p:spPr>
          <a:xfrm>
            <a:off x="1035423" y="1854096"/>
            <a:ext cx="9589285" cy="383004"/>
          </a:xfrm>
          <a:prstGeom prst="rect">
            <a:avLst/>
          </a:prstGeom>
        </p:spPr>
      </p:pic>
      <p:pic>
        <p:nvPicPr>
          <p:cNvPr id="8" name="Picture 7">
            <a:extLst>
              <a:ext uri="{FF2B5EF4-FFF2-40B4-BE49-F238E27FC236}">
                <a16:creationId xmlns:a16="http://schemas.microsoft.com/office/drawing/2014/main" id="{CF580ADA-090B-BF09-D133-48BEA807C38B}"/>
              </a:ext>
            </a:extLst>
          </p:cNvPr>
          <p:cNvPicPr>
            <a:picLocks noChangeAspect="1"/>
          </p:cNvPicPr>
          <p:nvPr/>
        </p:nvPicPr>
        <p:blipFill>
          <a:blip r:embed="rId5"/>
          <a:stretch>
            <a:fillRect/>
          </a:stretch>
        </p:blipFill>
        <p:spPr>
          <a:xfrm>
            <a:off x="909020" y="2455171"/>
            <a:ext cx="10373959" cy="3905288"/>
          </a:xfrm>
          <a:prstGeom prst="rect">
            <a:avLst/>
          </a:prstGeom>
        </p:spPr>
      </p:pic>
      <p:grpSp>
        <p:nvGrpSpPr>
          <p:cNvPr id="12" name="Group 11">
            <a:extLst>
              <a:ext uri="{FF2B5EF4-FFF2-40B4-BE49-F238E27FC236}">
                <a16:creationId xmlns:a16="http://schemas.microsoft.com/office/drawing/2014/main" id="{50B40567-729D-4E25-75E7-815F7E829E50}"/>
              </a:ext>
            </a:extLst>
          </p:cNvPr>
          <p:cNvGrpSpPr/>
          <p:nvPr/>
        </p:nvGrpSpPr>
        <p:grpSpPr>
          <a:xfrm>
            <a:off x="4794272" y="6311235"/>
            <a:ext cx="2392201" cy="534589"/>
            <a:chOff x="5886226" y="6217082"/>
            <a:chExt cx="2392201" cy="534589"/>
          </a:xfrm>
        </p:grpSpPr>
        <p:pic>
          <p:nvPicPr>
            <p:cNvPr id="10" name="Picture 9">
              <a:extLst>
                <a:ext uri="{FF2B5EF4-FFF2-40B4-BE49-F238E27FC236}">
                  <a16:creationId xmlns:a16="http://schemas.microsoft.com/office/drawing/2014/main" id="{8F4A7003-C432-3B6B-C3BB-45B5895158ED}"/>
                </a:ext>
              </a:extLst>
            </p:cNvPr>
            <p:cNvPicPr>
              <a:picLocks noChangeAspect="1"/>
            </p:cNvPicPr>
            <p:nvPr/>
          </p:nvPicPr>
          <p:blipFill>
            <a:blip r:embed="rId6"/>
            <a:stretch>
              <a:fillRect/>
            </a:stretch>
          </p:blipFill>
          <p:spPr>
            <a:xfrm>
              <a:off x="6861144" y="6217082"/>
              <a:ext cx="1417283" cy="534589"/>
            </a:xfrm>
            <a:prstGeom prst="rect">
              <a:avLst/>
            </a:prstGeom>
          </p:spPr>
        </p:pic>
        <p:sp>
          <p:nvSpPr>
            <p:cNvPr id="11" name="TextBox 10">
              <a:extLst>
                <a:ext uri="{FF2B5EF4-FFF2-40B4-BE49-F238E27FC236}">
                  <a16:creationId xmlns:a16="http://schemas.microsoft.com/office/drawing/2014/main" id="{6BEBFA3D-7504-B4C4-5A54-47CB16C6131A}"/>
                </a:ext>
              </a:extLst>
            </p:cNvPr>
            <p:cNvSpPr txBox="1"/>
            <p:nvPr/>
          </p:nvSpPr>
          <p:spPr>
            <a:xfrm>
              <a:off x="5886226" y="6231404"/>
              <a:ext cx="1109709" cy="461665"/>
            </a:xfrm>
            <a:prstGeom prst="rect">
              <a:avLst/>
            </a:prstGeom>
            <a:noFill/>
          </p:spPr>
          <p:txBody>
            <a:bodyPr wrap="square" rtlCol="0">
              <a:spAutoFit/>
            </a:bodyPr>
            <a:lstStyle/>
            <a:p>
              <a:r>
                <a:rPr lang="en-US" sz="2400" dirty="0"/>
                <a:t>Where, </a:t>
              </a:r>
            </a:p>
          </p:txBody>
        </p:sp>
      </p:grpSp>
    </p:spTree>
    <p:extLst>
      <p:ext uri="{BB962C8B-B14F-4D97-AF65-F5344CB8AC3E}">
        <p14:creationId xmlns:p14="http://schemas.microsoft.com/office/powerpoint/2010/main" val="152102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63DFA3-1509-802F-FC78-DC35D9FF63D9}"/>
              </a:ext>
            </a:extLst>
          </p:cNvPr>
          <p:cNvSpPr txBox="1"/>
          <p:nvPr/>
        </p:nvSpPr>
        <p:spPr>
          <a:xfrm>
            <a:off x="226359" y="228601"/>
            <a:ext cx="11739281" cy="830997"/>
          </a:xfrm>
          <a:prstGeom prst="rect">
            <a:avLst/>
          </a:prstGeom>
          <a:noFill/>
        </p:spPr>
        <p:txBody>
          <a:bodyPr wrap="square" rtlCol="0">
            <a:spAutoFit/>
          </a:bodyPr>
          <a:lstStyle/>
          <a:p>
            <a:r>
              <a:rPr lang="en-US" sz="2400" dirty="0"/>
              <a:t>The expectation value of an observable Q(</a:t>
            </a:r>
            <a:r>
              <a:rPr lang="en-US" sz="2400" dirty="0" err="1"/>
              <a:t>x,p</a:t>
            </a:r>
            <a:r>
              <a:rPr lang="en-US" sz="2400" dirty="0"/>
              <a:t>) can be expressed  very neatly in inner-product notation as </a:t>
            </a:r>
          </a:p>
        </p:txBody>
      </p:sp>
      <p:pic>
        <p:nvPicPr>
          <p:cNvPr id="4" name="Picture 3">
            <a:extLst>
              <a:ext uri="{FF2B5EF4-FFF2-40B4-BE49-F238E27FC236}">
                <a16:creationId xmlns:a16="http://schemas.microsoft.com/office/drawing/2014/main" id="{947CD80D-03CF-839E-BA5A-A1CC2E57882C}"/>
              </a:ext>
            </a:extLst>
          </p:cNvPr>
          <p:cNvPicPr>
            <a:picLocks noChangeAspect="1"/>
          </p:cNvPicPr>
          <p:nvPr/>
        </p:nvPicPr>
        <p:blipFill>
          <a:blip r:embed="rId2"/>
          <a:stretch>
            <a:fillRect/>
          </a:stretch>
        </p:blipFill>
        <p:spPr>
          <a:xfrm>
            <a:off x="4085061" y="688520"/>
            <a:ext cx="3638593" cy="717095"/>
          </a:xfrm>
          <a:prstGeom prst="rect">
            <a:avLst/>
          </a:prstGeom>
        </p:spPr>
      </p:pic>
      <p:pic>
        <p:nvPicPr>
          <p:cNvPr id="6" name="Picture 5">
            <a:extLst>
              <a:ext uri="{FF2B5EF4-FFF2-40B4-BE49-F238E27FC236}">
                <a16:creationId xmlns:a16="http://schemas.microsoft.com/office/drawing/2014/main" id="{3642B4EF-89FE-1636-B0C9-435DB14E7765}"/>
              </a:ext>
            </a:extLst>
          </p:cNvPr>
          <p:cNvPicPr>
            <a:picLocks noChangeAspect="1"/>
          </p:cNvPicPr>
          <p:nvPr/>
        </p:nvPicPr>
        <p:blipFill>
          <a:blip r:embed="rId3"/>
          <a:stretch>
            <a:fillRect/>
          </a:stretch>
        </p:blipFill>
        <p:spPr>
          <a:xfrm>
            <a:off x="551609" y="1519517"/>
            <a:ext cx="9473915" cy="717094"/>
          </a:xfrm>
          <a:prstGeom prst="rect">
            <a:avLst/>
          </a:prstGeom>
        </p:spPr>
      </p:pic>
      <p:pic>
        <p:nvPicPr>
          <p:cNvPr id="8" name="Picture 7">
            <a:extLst>
              <a:ext uri="{FF2B5EF4-FFF2-40B4-BE49-F238E27FC236}">
                <a16:creationId xmlns:a16="http://schemas.microsoft.com/office/drawing/2014/main" id="{B5DF61D1-9D5F-246D-2711-CF137CECD8C4}"/>
              </a:ext>
            </a:extLst>
          </p:cNvPr>
          <p:cNvPicPr>
            <a:picLocks noChangeAspect="1"/>
          </p:cNvPicPr>
          <p:nvPr/>
        </p:nvPicPr>
        <p:blipFill>
          <a:blip r:embed="rId4"/>
          <a:stretch>
            <a:fillRect/>
          </a:stretch>
        </p:blipFill>
        <p:spPr>
          <a:xfrm>
            <a:off x="4746812" y="2119872"/>
            <a:ext cx="1683963" cy="771161"/>
          </a:xfrm>
          <a:prstGeom prst="rect">
            <a:avLst/>
          </a:prstGeom>
        </p:spPr>
      </p:pic>
      <p:pic>
        <p:nvPicPr>
          <p:cNvPr id="10" name="Picture 9">
            <a:extLst>
              <a:ext uri="{FF2B5EF4-FFF2-40B4-BE49-F238E27FC236}">
                <a16:creationId xmlns:a16="http://schemas.microsoft.com/office/drawing/2014/main" id="{F2FEE62F-191B-518D-1F92-46E575B76E97}"/>
              </a:ext>
            </a:extLst>
          </p:cNvPr>
          <p:cNvPicPr>
            <a:picLocks noChangeAspect="1"/>
          </p:cNvPicPr>
          <p:nvPr/>
        </p:nvPicPr>
        <p:blipFill>
          <a:blip r:embed="rId5"/>
          <a:stretch>
            <a:fillRect/>
          </a:stretch>
        </p:blipFill>
        <p:spPr>
          <a:xfrm>
            <a:off x="1842246" y="2696530"/>
            <a:ext cx="6889938" cy="441164"/>
          </a:xfrm>
          <a:prstGeom prst="rect">
            <a:avLst/>
          </a:prstGeom>
        </p:spPr>
      </p:pic>
      <p:pic>
        <p:nvPicPr>
          <p:cNvPr id="12" name="Picture 11">
            <a:extLst>
              <a:ext uri="{FF2B5EF4-FFF2-40B4-BE49-F238E27FC236}">
                <a16:creationId xmlns:a16="http://schemas.microsoft.com/office/drawing/2014/main" id="{F6C13A52-8640-D8D0-AD86-974A7292B1D3}"/>
              </a:ext>
            </a:extLst>
          </p:cNvPr>
          <p:cNvPicPr>
            <a:picLocks noChangeAspect="1"/>
          </p:cNvPicPr>
          <p:nvPr/>
        </p:nvPicPr>
        <p:blipFill>
          <a:blip r:embed="rId6"/>
          <a:stretch>
            <a:fillRect/>
          </a:stretch>
        </p:blipFill>
        <p:spPr>
          <a:xfrm>
            <a:off x="4201202" y="3239585"/>
            <a:ext cx="2735217" cy="441164"/>
          </a:xfrm>
          <a:prstGeom prst="rect">
            <a:avLst/>
          </a:prstGeom>
        </p:spPr>
      </p:pic>
      <p:pic>
        <p:nvPicPr>
          <p:cNvPr id="14" name="Picture 13">
            <a:extLst>
              <a:ext uri="{FF2B5EF4-FFF2-40B4-BE49-F238E27FC236}">
                <a16:creationId xmlns:a16="http://schemas.microsoft.com/office/drawing/2014/main" id="{8062ED7D-E410-443F-62C1-41AA69CEF01D}"/>
              </a:ext>
            </a:extLst>
          </p:cNvPr>
          <p:cNvPicPr>
            <a:picLocks noChangeAspect="1"/>
          </p:cNvPicPr>
          <p:nvPr/>
        </p:nvPicPr>
        <p:blipFill>
          <a:blip r:embed="rId7"/>
          <a:stretch>
            <a:fillRect/>
          </a:stretch>
        </p:blipFill>
        <p:spPr>
          <a:xfrm>
            <a:off x="752300" y="3782640"/>
            <a:ext cx="9750280" cy="864487"/>
          </a:xfrm>
          <a:prstGeom prst="rect">
            <a:avLst/>
          </a:prstGeom>
        </p:spPr>
      </p:pic>
      <p:pic>
        <p:nvPicPr>
          <p:cNvPr id="16" name="Picture 15">
            <a:extLst>
              <a:ext uri="{FF2B5EF4-FFF2-40B4-BE49-F238E27FC236}">
                <a16:creationId xmlns:a16="http://schemas.microsoft.com/office/drawing/2014/main" id="{55B65DD7-E592-3CD0-F435-B83B41C0EF4C}"/>
              </a:ext>
            </a:extLst>
          </p:cNvPr>
          <p:cNvPicPr>
            <a:picLocks noChangeAspect="1"/>
          </p:cNvPicPr>
          <p:nvPr/>
        </p:nvPicPr>
        <p:blipFill>
          <a:blip r:embed="rId8"/>
          <a:stretch>
            <a:fillRect/>
          </a:stretch>
        </p:blipFill>
        <p:spPr>
          <a:xfrm>
            <a:off x="2430865" y="4792196"/>
            <a:ext cx="6169207" cy="999753"/>
          </a:xfrm>
          <a:prstGeom prst="rect">
            <a:avLst/>
          </a:prstGeom>
        </p:spPr>
      </p:pic>
      <p:pic>
        <p:nvPicPr>
          <p:cNvPr id="18" name="Picture 17">
            <a:extLst>
              <a:ext uri="{FF2B5EF4-FFF2-40B4-BE49-F238E27FC236}">
                <a16:creationId xmlns:a16="http://schemas.microsoft.com/office/drawing/2014/main" id="{BA456B94-C42C-B374-87D4-EE2817E65EEB}"/>
              </a:ext>
            </a:extLst>
          </p:cNvPr>
          <p:cNvPicPr>
            <a:picLocks noChangeAspect="1"/>
          </p:cNvPicPr>
          <p:nvPr/>
        </p:nvPicPr>
        <p:blipFill>
          <a:blip r:embed="rId9"/>
          <a:stretch>
            <a:fillRect/>
          </a:stretch>
        </p:blipFill>
        <p:spPr>
          <a:xfrm>
            <a:off x="2175946" y="6125907"/>
            <a:ext cx="6306900" cy="503492"/>
          </a:xfrm>
          <a:prstGeom prst="rect">
            <a:avLst/>
          </a:prstGeom>
        </p:spPr>
      </p:pic>
    </p:spTree>
    <p:extLst>
      <p:ext uri="{BB962C8B-B14F-4D97-AF65-F5344CB8AC3E}">
        <p14:creationId xmlns:p14="http://schemas.microsoft.com/office/powerpoint/2010/main" val="818486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ECFB45-CA57-E688-01D7-40C3EB700457}"/>
              </a:ext>
            </a:extLst>
          </p:cNvPr>
          <p:cNvPicPr>
            <a:picLocks noChangeAspect="1"/>
          </p:cNvPicPr>
          <p:nvPr/>
        </p:nvPicPr>
        <p:blipFill>
          <a:blip r:embed="rId2"/>
          <a:stretch>
            <a:fillRect/>
          </a:stretch>
        </p:blipFill>
        <p:spPr>
          <a:xfrm>
            <a:off x="2211973" y="0"/>
            <a:ext cx="5538234" cy="391083"/>
          </a:xfrm>
          <a:prstGeom prst="rect">
            <a:avLst/>
          </a:prstGeom>
        </p:spPr>
      </p:pic>
      <p:pic>
        <p:nvPicPr>
          <p:cNvPr id="5" name="Picture 4">
            <a:extLst>
              <a:ext uri="{FF2B5EF4-FFF2-40B4-BE49-F238E27FC236}">
                <a16:creationId xmlns:a16="http://schemas.microsoft.com/office/drawing/2014/main" id="{D099A690-3B18-FBA3-8EB2-41F010405ABE}"/>
              </a:ext>
            </a:extLst>
          </p:cNvPr>
          <p:cNvPicPr>
            <a:picLocks noChangeAspect="1"/>
          </p:cNvPicPr>
          <p:nvPr/>
        </p:nvPicPr>
        <p:blipFill>
          <a:blip r:embed="rId3"/>
          <a:stretch>
            <a:fillRect/>
          </a:stretch>
        </p:blipFill>
        <p:spPr>
          <a:xfrm>
            <a:off x="1342867" y="424282"/>
            <a:ext cx="6828103" cy="710306"/>
          </a:xfrm>
          <a:prstGeom prst="rect">
            <a:avLst/>
          </a:prstGeom>
        </p:spPr>
      </p:pic>
      <p:pic>
        <p:nvPicPr>
          <p:cNvPr id="7" name="Picture 6">
            <a:extLst>
              <a:ext uri="{FF2B5EF4-FFF2-40B4-BE49-F238E27FC236}">
                <a16:creationId xmlns:a16="http://schemas.microsoft.com/office/drawing/2014/main" id="{7FA21D89-2939-61BE-68C9-C25383B40979}"/>
              </a:ext>
            </a:extLst>
          </p:cNvPr>
          <p:cNvPicPr>
            <a:picLocks noChangeAspect="1"/>
          </p:cNvPicPr>
          <p:nvPr/>
        </p:nvPicPr>
        <p:blipFill>
          <a:blip r:embed="rId4"/>
          <a:stretch>
            <a:fillRect/>
          </a:stretch>
        </p:blipFill>
        <p:spPr>
          <a:xfrm>
            <a:off x="1342867" y="1349311"/>
            <a:ext cx="7882094" cy="710305"/>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791453B-6039-80F2-5BDB-6ED86D351ABF}"/>
                  </a:ext>
                </a:extLst>
              </p:cNvPr>
              <p:cNvSpPr txBox="1"/>
              <p:nvPr/>
            </p:nvSpPr>
            <p:spPr>
              <a:xfrm>
                <a:off x="1127464" y="2239018"/>
                <a:ext cx="10209320" cy="1569660"/>
              </a:xfrm>
              <a:prstGeom prst="rect">
                <a:avLst/>
              </a:prstGeom>
              <a:noFill/>
            </p:spPr>
            <p:txBody>
              <a:bodyPr wrap="square" rtlCol="0">
                <a:spAutoFit/>
              </a:bodyPr>
              <a:lstStyle/>
              <a:p>
                <a:pPr algn="just"/>
                <a:r>
                  <a:rPr lang="en-US" sz="2400" dirty="0"/>
                  <a:t>Ordinarily, when you measure an observable Q on an ensemble of identically prepared systems, all in the same state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Ψ</m:t>
                    </m:r>
                  </m:oMath>
                </a14:m>
                <a:r>
                  <a:rPr lang="en-US" sz="2400" dirty="0"/>
                  <a:t>, you do not get the same result each time- this is the called indeterminacy of quantum mechanics. Only the determinate state will give the exact same results all the measurements, so</a:t>
                </a:r>
              </a:p>
            </p:txBody>
          </p:sp>
        </mc:Choice>
        <mc:Fallback xmlns="">
          <p:sp>
            <p:nvSpPr>
              <p:cNvPr id="10" name="TextBox 9">
                <a:extLst>
                  <a:ext uri="{FF2B5EF4-FFF2-40B4-BE49-F238E27FC236}">
                    <a16:creationId xmlns:a16="http://schemas.microsoft.com/office/drawing/2014/main" id="{F791453B-6039-80F2-5BDB-6ED86D351ABF}"/>
                  </a:ext>
                </a:extLst>
              </p:cNvPr>
              <p:cNvSpPr txBox="1">
                <a:spLocks noRot="1" noChangeAspect="1" noMove="1" noResize="1" noEditPoints="1" noAdjustHandles="1" noChangeArrowheads="1" noChangeShapeType="1" noTextEdit="1"/>
              </p:cNvSpPr>
              <p:nvPr/>
            </p:nvSpPr>
            <p:spPr>
              <a:xfrm>
                <a:off x="1127464" y="2239018"/>
                <a:ext cx="10209320" cy="1569660"/>
              </a:xfrm>
              <a:prstGeom prst="rect">
                <a:avLst/>
              </a:prstGeom>
              <a:blipFill>
                <a:blip r:embed="rId5"/>
                <a:stretch>
                  <a:fillRect l="-955" t="-3101" r="-896" b="-7752"/>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B4D88A1A-6E77-E245-13E8-D7EDA952F68C}"/>
              </a:ext>
            </a:extLst>
          </p:cNvPr>
          <p:cNvPicPr>
            <a:picLocks noChangeAspect="1"/>
          </p:cNvPicPr>
          <p:nvPr/>
        </p:nvPicPr>
        <p:blipFill>
          <a:blip r:embed="rId6"/>
          <a:stretch>
            <a:fillRect/>
          </a:stretch>
        </p:blipFill>
        <p:spPr>
          <a:xfrm>
            <a:off x="2334896" y="3948876"/>
            <a:ext cx="6890065" cy="455445"/>
          </a:xfrm>
          <a:prstGeom prst="rect">
            <a:avLst/>
          </a:prstGeom>
        </p:spPr>
      </p:pic>
      <p:pic>
        <p:nvPicPr>
          <p:cNvPr id="14" name="Picture 13">
            <a:extLst>
              <a:ext uri="{FF2B5EF4-FFF2-40B4-BE49-F238E27FC236}">
                <a16:creationId xmlns:a16="http://schemas.microsoft.com/office/drawing/2014/main" id="{865885BC-9FC6-B0CA-377F-7F6105093D98}"/>
              </a:ext>
            </a:extLst>
          </p:cNvPr>
          <p:cNvPicPr>
            <a:picLocks noChangeAspect="1"/>
          </p:cNvPicPr>
          <p:nvPr/>
        </p:nvPicPr>
        <p:blipFill>
          <a:blip r:embed="rId7"/>
          <a:stretch>
            <a:fillRect/>
          </a:stretch>
        </p:blipFill>
        <p:spPr>
          <a:xfrm>
            <a:off x="2211973" y="4511890"/>
            <a:ext cx="6952870" cy="315527"/>
          </a:xfrm>
          <a:prstGeom prst="rect">
            <a:avLst/>
          </a:prstGeom>
        </p:spPr>
      </p:pic>
      <p:sp>
        <p:nvSpPr>
          <p:cNvPr id="15" name="TextBox 14">
            <a:extLst>
              <a:ext uri="{FF2B5EF4-FFF2-40B4-BE49-F238E27FC236}">
                <a16:creationId xmlns:a16="http://schemas.microsoft.com/office/drawing/2014/main" id="{94CC761C-2759-522D-DC99-E28AAE767CAB}"/>
              </a:ext>
            </a:extLst>
          </p:cNvPr>
          <p:cNvSpPr txBox="1"/>
          <p:nvPr/>
        </p:nvSpPr>
        <p:spPr>
          <a:xfrm>
            <a:off x="878889" y="4980373"/>
            <a:ext cx="9463596" cy="461665"/>
          </a:xfrm>
          <a:prstGeom prst="rect">
            <a:avLst/>
          </a:prstGeom>
          <a:noFill/>
        </p:spPr>
        <p:txBody>
          <a:bodyPr wrap="square" rtlCol="0">
            <a:spAutoFit/>
          </a:bodyPr>
          <a:lstStyle/>
          <a:p>
            <a:r>
              <a:rPr lang="en-US" sz="2400" dirty="0"/>
              <a:t>The only function whose inner product with itself vanishes is 0, so   </a:t>
            </a:r>
          </a:p>
        </p:txBody>
      </p:sp>
      <p:pic>
        <p:nvPicPr>
          <p:cNvPr id="17" name="Picture 16">
            <a:extLst>
              <a:ext uri="{FF2B5EF4-FFF2-40B4-BE49-F238E27FC236}">
                <a16:creationId xmlns:a16="http://schemas.microsoft.com/office/drawing/2014/main" id="{2F0BE605-C06E-7337-F01D-C07FED7ACD44}"/>
              </a:ext>
            </a:extLst>
          </p:cNvPr>
          <p:cNvPicPr>
            <a:picLocks noChangeAspect="1"/>
          </p:cNvPicPr>
          <p:nvPr/>
        </p:nvPicPr>
        <p:blipFill>
          <a:blip r:embed="rId8"/>
          <a:stretch>
            <a:fillRect/>
          </a:stretch>
        </p:blipFill>
        <p:spPr>
          <a:xfrm>
            <a:off x="5649938" y="5403469"/>
            <a:ext cx="1192635" cy="461665"/>
          </a:xfrm>
          <a:prstGeom prst="rect">
            <a:avLst/>
          </a:prstGeom>
        </p:spPr>
      </p:pic>
    </p:spTree>
    <p:extLst>
      <p:ext uri="{BB962C8B-B14F-4D97-AF65-F5344CB8AC3E}">
        <p14:creationId xmlns:p14="http://schemas.microsoft.com/office/powerpoint/2010/main" val="2897475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E2153E-B01F-FA5C-E5AD-296215603152}"/>
              </a:ext>
            </a:extLst>
          </p:cNvPr>
          <p:cNvPicPr>
            <a:picLocks noChangeAspect="1"/>
          </p:cNvPicPr>
          <p:nvPr/>
        </p:nvPicPr>
        <p:blipFill>
          <a:blip r:embed="rId2"/>
          <a:stretch>
            <a:fillRect/>
          </a:stretch>
        </p:blipFill>
        <p:spPr>
          <a:xfrm>
            <a:off x="1704512" y="1138838"/>
            <a:ext cx="8453438" cy="664463"/>
          </a:xfrm>
          <a:prstGeom prst="rect">
            <a:avLst/>
          </a:prstGeom>
        </p:spPr>
      </p:pic>
      <p:pic>
        <p:nvPicPr>
          <p:cNvPr id="4" name="Picture 3">
            <a:extLst>
              <a:ext uri="{FF2B5EF4-FFF2-40B4-BE49-F238E27FC236}">
                <a16:creationId xmlns:a16="http://schemas.microsoft.com/office/drawing/2014/main" id="{CDABF66B-F4F6-A543-8363-E44C040814C6}"/>
              </a:ext>
            </a:extLst>
          </p:cNvPr>
          <p:cNvPicPr>
            <a:picLocks noChangeAspect="1"/>
          </p:cNvPicPr>
          <p:nvPr/>
        </p:nvPicPr>
        <p:blipFill>
          <a:blip r:embed="rId3"/>
          <a:stretch>
            <a:fillRect/>
          </a:stretch>
        </p:blipFill>
        <p:spPr>
          <a:xfrm>
            <a:off x="4742408" y="560664"/>
            <a:ext cx="1188823" cy="463336"/>
          </a:xfrm>
          <a:prstGeom prst="rect">
            <a:avLst/>
          </a:prstGeom>
        </p:spPr>
      </p:pic>
      <p:pic>
        <p:nvPicPr>
          <p:cNvPr id="6" name="Picture 5">
            <a:extLst>
              <a:ext uri="{FF2B5EF4-FFF2-40B4-BE49-F238E27FC236}">
                <a16:creationId xmlns:a16="http://schemas.microsoft.com/office/drawing/2014/main" id="{9763B3B9-92C2-40F4-EC24-2AEE64698F6F}"/>
              </a:ext>
            </a:extLst>
          </p:cNvPr>
          <p:cNvPicPr>
            <a:picLocks noChangeAspect="1"/>
          </p:cNvPicPr>
          <p:nvPr/>
        </p:nvPicPr>
        <p:blipFill>
          <a:blip r:embed="rId4"/>
          <a:stretch>
            <a:fillRect/>
          </a:stretch>
        </p:blipFill>
        <p:spPr>
          <a:xfrm>
            <a:off x="2926793" y="1918139"/>
            <a:ext cx="5575703" cy="664462"/>
          </a:xfrm>
          <a:prstGeom prst="rect">
            <a:avLst/>
          </a:prstGeom>
        </p:spPr>
      </p:pic>
      <p:pic>
        <p:nvPicPr>
          <p:cNvPr id="8" name="Picture 7">
            <a:extLst>
              <a:ext uri="{FF2B5EF4-FFF2-40B4-BE49-F238E27FC236}">
                <a16:creationId xmlns:a16="http://schemas.microsoft.com/office/drawing/2014/main" id="{5302A9C3-E738-C45B-9CD4-95B1D479E5FE}"/>
              </a:ext>
            </a:extLst>
          </p:cNvPr>
          <p:cNvPicPr>
            <a:picLocks noChangeAspect="1"/>
          </p:cNvPicPr>
          <p:nvPr/>
        </p:nvPicPr>
        <p:blipFill>
          <a:blip r:embed="rId5"/>
          <a:stretch>
            <a:fillRect/>
          </a:stretch>
        </p:blipFill>
        <p:spPr>
          <a:xfrm>
            <a:off x="1471448" y="2697439"/>
            <a:ext cx="8059656" cy="577373"/>
          </a:xfrm>
          <a:prstGeom prst="rect">
            <a:avLst/>
          </a:prstGeom>
        </p:spPr>
      </p:pic>
      <p:pic>
        <p:nvPicPr>
          <p:cNvPr id="10" name="Picture 9">
            <a:extLst>
              <a:ext uri="{FF2B5EF4-FFF2-40B4-BE49-F238E27FC236}">
                <a16:creationId xmlns:a16="http://schemas.microsoft.com/office/drawing/2014/main" id="{B715D787-AE7D-77AE-8295-A156999A2403}"/>
              </a:ext>
            </a:extLst>
          </p:cNvPr>
          <p:cNvPicPr>
            <a:picLocks noChangeAspect="1"/>
          </p:cNvPicPr>
          <p:nvPr/>
        </p:nvPicPr>
        <p:blipFill>
          <a:blip r:embed="rId6"/>
          <a:stretch>
            <a:fillRect/>
          </a:stretch>
        </p:blipFill>
        <p:spPr>
          <a:xfrm>
            <a:off x="4589012" y="3279500"/>
            <a:ext cx="1573339" cy="577372"/>
          </a:xfrm>
          <a:prstGeom prst="rect">
            <a:avLst/>
          </a:prstGeom>
        </p:spPr>
      </p:pic>
      <p:pic>
        <p:nvPicPr>
          <p:cNvPr id="12" name="Picture 11">
            <a:extLst>
              <a:ext uri="{FF2B5EF4-FFF2-40B4-BE49-F238E27FC236}">
                <a16:creationId xmlns:a16="http://schemas.microsoft.com/office/drawing/2014/main" id="{B82AD9C5-3811-4BD0-F432-F054D4D43F47}"/>
              </a:ext>
            </a:extLst>
          </p:cNvPr>
          <p:cNvPicPr>
            <a:picLocks noChangeAspect="1"/>
          </p:cNvPicPr>
          <p:nvPr/>
        </p:nvPicPr>
        <p:blipFill>
          <a:blip r:embed="rId7"/>
          <a:stretch>
            <a:fillRect/>
          </a:stretch>
        </p:blipFill>
        <p:spPr>
          <a:xfrm>
            <a:off x="2950402" y="3939465"/>
            <a:ext cx="3584012" cy="1298359"/>
          </a:xfrm>
          <a:prstGeom prst="rect">
            <a:avLst/>
          </a:prstGeom>
        </p:spPr>
      </p:pic>
      <p:pic>
        <p:nvPicPr>
          <p:cNvPr id="14" name="Picture 13">
            <a:extLst>
              <a:ext uri="{FF2B5EF4-FFF2-40B4-BE49-F238E27FC236}">
                <a16:creationId xmlns:a16="http://schemas.microsoft.com/office/drawing/2014/main" id="{15CBC3AD-5328-204D-00A5-BAB0C47B5F14}"/>
              </a:ext>
            </a:extLst>
          </p:cNvPr>
          <p:cNvPicPr>
            <a:picLocks noChangeAspect="1"/>
          </p:cNvPicPr>
          <p:nvPr/>
        </p:nvPicPr>
        <p:blipFill>
          <a:blip r:embed="rId8"/>
          <a:stretch>
            <a:fillRect/>
          </a:stretch>
        </p:blipFill>
        <p:spPr>
          <a:xfrm>
            <a:off x="2351351" y="5237824"/>
            <a:ext cx="6151145" cy="354117"/>
          </a:xfrm>
          <a:prstGeom prst="rect">
            <a:avLst/>
          </a:prstGeom>
        </p:spPr>
      </p:pic>
      <p:pic>
        <p:nvPicPr>
          <p:cNvPr id="16" name="Picture 15">
            <a:extLst>
              <a:ext uri="{FF2B5EF4-FFF2-40B4-BE49-F238E27FC236}">
                <a16:creationId xmlns:a16="http://schemas.microsoft.com/office/drawing/2014/main" id="{A42911A8-6F5B-95E4-8568-D5663DF00CF3}"/>
              </a:ext>
            </a:extLst>
          </p:cNvPr>
          <p:cNvPicPr>
            <a:picLocks noChangeAspect="1"/>
          </p:cNvPicPr>
          <p:nvPr/>
        </p:nvPicPr>
        <p:blipFill>
          <a:blip r:embed="rId9"/>
          <a:stretch>
            <a:fillRect/>
          </a:stretch>
        </p:blipFill>
        <p:spPr>
          <a:xfrm>
            <a:off x="2528934" y="5623364"/>
            <a:ext cx="5973562" cy="398237"/>
          </a:xfrm>
          <a:prstGeom prst="rect">
            <a:avLst/>
          </a:prstGeom>
        </p:spPr>
      </p:pic>
    </p:spTree>
    <p:extLst>
      <p:ext uri="{BB962C8B-B14F-4D97-AF65-F5344CB8AC3E}">
        <p14:creationId xmlns:p14="http://schemas.microsoft.com/office/powerpoint/2010/main" val="2797904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8904DF-FBC5-9D45-C06E-E46B79C4BB94}"/>
              </a:ext>
            </a:extLst>
          </p:cNvPr>
          <p:cNvPicPr>
            <a:picLocks noChangeAspect="1"/>
          </p:cNvPicPr>
          <p:nvPr/>
        </p:nvPicPr>
        <p:blipFill>
          <a:blip r:embed="rId2"/>
          <a:stretch>
            <a:fillRect/>
          </a:stretch>
        </p:blipFill>
        <p:spPr>
          <a:xfrm>
            <a:off x="1678818" y="487231"/>
            <a:ext cx="8018787" cy="5883538"/>
          </a:xfrm>
          <a:prstGeom prst="rect">
            <a:avLst/>
          </a:prstGeom>
        </p:spPr>
      </p:pic>
    </p:spTree>
    <p:extLst>
      <p:ext uri="{BB962C8B-B14F-4D97-AF65-F5344CB8AC3E}">
        <p14:creationId xmlns:p14="http://schemas.microsoft.com/office/powerpoint/2010/main" val="434997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A9BE21-18EC-D3C6-E9D7-822B5C5173E9}"/>
              </a:ext>
            </a:extLst>
          </p:cNvPr>
          <p:cNvSpPr txBox="1"/>
          <p:nvPr/>
        </p:nvSpPr>
        <p:spPr>
          <a:xfrm>
            <a:off x="612559" y="0"/>
            <a:ext cx="9419208" cy="646331"/>
          </a:xfrm>
          <a:prstGeom prst="rect">
            <a:avLst/>
          </a:prstGeom>
          <a:noFill/>
        </p:spPr>
        <p:txBody>
          <a:bodyPr wrap="square" rtlCol="0">
            <a:spAutoFit/>
          </a:bodyPr>
          <a:lstStyle/>
          <a:p>
            <a:r>
              <a:rPr lang="en-US" sz="3600" dirty="0"/>
              <a:t>Properties of eigenfunction of Hermitian operator</a:t>
            </a:r>
          </a:p>
        </p:txBody>
      </p:sp>
      <p:pic>
        <p:nvPicPr>
          <p:cNvPr id="4" name="Picture 3">
            <a:extLst>
              <a:ext uri="{FF2B5EF4-FFF2-40B4-BE49-F238E27FC236}">
                <a16:creationId xmlns:a16="http://schemas.microsoft.com/office/drawing/2014/main" id="{5EF36E45-5A55-38CD-CE1A-BAF4CBD109A2}"/>
              </a:ext>
            </a:extLst>
          </p:cNvPr>
          <p:cNvPicPr>
            <a:picLocks noChangeAspect="1"/>
          </p:cNvPicPr>
          <p:nvPr/>
        </p:nvPicPr>
        <p:blipFill>
          <a:blip r:embed="rId2"/>
          <a:stretch>
            <a:fillRect/>
          </a:stretch>
        </p:blipFill>
        <p:spPr>
          <a:xfrm>
            <a:off x="2200335" y="1054038"/>
            <a:ext cx="7791329" cy="4749924"/>
          </a:xfrm>
          <a:prstGeom prst="rect">
            <a:avLst/>
          </a:prstGeom>
        </p:spPr>
      </p:pic>
      <p:pic>
        <p:nvPicPr>
          <p:cNvPr id="6" name="Picture 5">
            <a:extLst>
              <a:ext uri="{FF2B5EF4-FFF2-40B4-BE49-F238E27FC236}">
                <a16:creationId xmlns:a16="http://schemas.microsoft.com/office/drawing/2014/main" id="{2ADBD53B-BB55-AC55-6F9D-F9AF00675A9A}"/>
              </a:ext>
            </a:extLst>
          </p:cNvPr>
          <p:cNvPicPr>
            <a:picLocks noChangeAspect="1"/>
          </p:cNvPicPr>
          <p:nvPr/>
        </p:nvPicPr>
        <p:blipFill>
          <a:blip r:embed="rId3"/>
          <a:stretch>
            <a:fillRect/>
          </a:stretch>
        </p:blipFill>
        <p:spPr>
          <a:xfrm>
            <a:off x="8126442" y="6051334"/>
            <a:ext cx="3351836" cy="806666"/>
          </a:xfrm>
          <a:prstGeom prst="rect">
            <a:avLst/>
          </a:prstGeom>
        </p:spPr>
      </p:pic>
    </p:spTree>
    <p:extLst>
      <p:ext uri="{BB962C8B-B14F-4D97-AF65-F5344CB8AC3E}">
        <p14:creationId xmlns:p14="http://schemas.microsoft.com/office/powerpoint/2010/main" val="4189617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CE2140-0510-C85E-0809-7B1536C6DAF1}"/>
              </a:ext>
            </a:extLst>
          </p:cNvPr>
          <p:cNvPicPr>
            <a:picLocks noChangeAspect="1"/>
          </p:cNvPicPr>
          <p:nvPr/>
        </p:nvPicPr>
        <p:blipFill>
          <a:blip r:embed="rId2"/>
          <a:stretch>
            <a:fillRect/>
          </a:stretch>
        </p:blipFill>
        <p:spPr>
          <a:xfrm>
            <a:off x="1825126" y="381924"/>
            <a:ext cx="7557045" cy="3586394"/>
          </a:xfrm>
          <a:prstGeom prst="rect">
            <a:avLst/>
          </a:prstGeom>
        </p:spPr>
      </p:pic>
      <p:pic>
        <p:nvPicPr>
          <p:cNvPr id="5" name="Picture 4">
            <a:extLst>
              <a:ext uri="{FF2B5EF4-FFF2-40B4-BE49-F238E27FC236}">
                <a16:creationId xmlns:a16="http://schemas.microsoft.com/office/drawing/2014/main" id="{FC5244E2-91BC-AC8D-536B-B8A4A9D1A160}"/>
              </a:ext>
            </a:extLst>
          </p:cNvPr>
          <p:cNvPicPr>
            <a:picLocks noChangeAspect="1"/>
          </p:cNvPicPr>
          <p:nvPr/>
        </p:nvPicPr>
        <p:blipFill>
          <a:blip r:embed="rId3"/>
          <a:stretch>
            <a:fillRect/>
          </a:stretch>
        </p:blipFill>
        <p:spPr>
          <a:xfrm>
            <a:off x="1449681" y="4595944"/>
            <a:ext cx="8612548" cy="1246389"/>
          </a:xfrm>
          <a:prstGeom prst="rect">
            <a:avLst/>
          </a:prstGeom>
        </p:spPr>
      </p:pic>
    </p:spTree>
    <p:extLst>
      <p:ext uri="{BB962C8B-B14F-4D97-AF65-F5344CB8AC3E}">
        <p14:creationId xmlns:p14="http://schemas.microsoft.com/office/powerpoint/2010/main" val="827895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0D18C3-2837-483D-5680-56ACAB1C4B82}"/>
              </a:ext>
            </a:extLst>
          </p:cNvPr>
          <p:cNvPicPr>
            <a:picLocks noChangeAspect="1"/>
          </p:cNvPicPr>
          <p:nvPr/>
        </p:nvPicPr>
        <p:blipFill>
          <a:blip r:embed="rId2"/>
          <a:stretch>
            <a:fillRect/>
          </a:stretch>
        </p:blipFill>
        <p:spPr>
          <a:xfrm>
            <a:off x="750903" y="82812"/>
            <a:ext cx="9345298" cy="529748"/>
          </a:xfrm>
          <a:prstGeom prst="rect">
            <a:avLst/>
          </a:prstGeom>
        </p:spPr>
      </p:pic>
      <p:pic>
        <p:nvPicPr>
          <p:cNvPr id="5" name="Picture 4">
            <a:extLst>
              <a:ext uri="{FF2B5EF4-FFF2-40B4-BE49-F238E27FC236}">
                <a16:creationId xmlns:a16="http://schemas.microsoft.com/office/drawing/2014/main" id="{7A308131-5862-5DDB-E374-F00DE0FF59EE}"/>
              </a:ext>
            </a:extLst>
          </p:cNvPr>
          <p:cNvPicPr>
            <a:picLocks noChangeAspect="1"/>
          </p:cNvPicPr>
          <p:nvPr/>
        </p:nvPicPr>
        <p:blipFill>
          <a:blip r:embed="rId3"/>
          <a:stretch>
            <a:fillRect/>
          </a:stretch>
        </p:blipFill>
        <p:spPr>
          <a:xfrm>
            <a:off x="2061226" y="932201"/>
            <a:ext cx="7792019" cy="2041818"/>
          </a:xfrm>
          <a:prstGeom prst="rect">
            <a:avLst/>
          </a:prstGeom>
        </p:spPr>
      </p:pic>
      <p:pic>
        <p:nvPicPr>
          <p:cNvPr id="7" name="Picture 6">
            <a:extLst>
              <a:ext uri="{FF2B5EF4-FFF2-40B4-BE49-F238E27FC236}">
                <a16:creationId xmlns:a16="http://schemas.microsoft.com/office/drawing/2014/main" id="{E1DDA62A-8113-CB8D-688F-09803A5FC112}"/>
              </a:ext>
            </a:extLst>
          </p:cNvPr>
          <p:cNvPicPr>
            <a:picLocks noChangeAspect="1"/>
          </p:cNvPicPr>
          <p:nvPr/>
        </p:nvPicPr>
        <p:blipFill>
          <a:blip r:embed="rId4"/>
          <a:stretch>
            <a:fillRect/>
          </a:stretch>
        </p:blipFill>
        <p:spPr>
          <a:xfrm>
            <a:off x="1953962" y="3126486"/>
            <a:ext cx="8018150" cy="2041818"/>
          </a:xfrm>
          <a:prstGeom prst="rect">
            <a:avLst/>
          </a:prstGeom>
        </p:spPr>
      </p:pic>
      <p:pic>
        <p:nvPicPr>
          <p:cNvPr id="9" name="Picture 8">
            <a:extLst>
              <a:ext uri="{FF2B5EF4-FFF2-40B4-BE49-F238E27FC236}">
                <a16:creationId xmlns:a16="http://schemas.microsoft.com/office/drawing/2014/main" id="{D4A53E54-3F42-70F4-9CFC-242543CEE5A0}"/>
              </a:ext>
            </a:extLst>
          </p:cNvPr>
          <p:cNvPicPr>
            <a:picLocks noChangeAspect="1"/>
          </p:cNvPicPr>
          <p:nvPr/>
        </p:nvPicPr>
        <p:blipFill>
          <a:blip r:embed="rId5"/>
          <a:stretch>
            <a:fillRect/>
          </a:stretch>
        </p:blipFill>
        <p:spPr>
          <a:xfrm>
            <a:off x="1953962" y="5320771"/>
            <a:ext cx="8036619" cy="1463315"/>
          </a:xfrm>
          <a:prstGeom prst="rect">
            <a:avLst/>
          </a:prstGeom>
        </p:spPr>
      </p:pic>
    </p:spTree>
    <p:extLst>
      <p:ext uri="{BB962C8B-B14F-4D97-AF65-F5344CB8AC3E}">
        <p14:creationId xmlns:p14="http://schemas.microsoft.com/office/powerpoint/2010/main" val="882292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6C24A7-410D-9ECC-BAC7-02009C75A5B7}"/>
              </a:ext>
            </a:extLst>
          </p:cNvPr>
          <p:cNvPicPr>
            <a:picLocks noChangeAspect="1"/>
          </p:cNvPicPr>
          <p:nvPr/>
        </p:nvPicPr>
        <p:blipFill>
          <a:blip r:embed="rId2"/>
          <a:stretch>
            <a:fillRect/>
          </a:stretch>
        </p:blipFill>
        <p:spPr>
          <a:xfrm>
            <a:off x="1271932" y="154527"/>
            <a:ext cx="9213424" cy="3538584"/>
          </a:xfrm>
          <a:prstGeom prst="rect">
            <a:avLst/>
          </a:prstGeom>
        </p:spPr>
      </p:pic>
    </p:spTree>
    <p:extLst>
      <p:ext uri="{BB962C8B-B14F-4D97-AF65-F5344CB8AC3E}">
        <p14:creationId xmlns:p14="http://schemas.microsoft.com/office/powerpoint/2010/main" val="2623424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173AB4-7127-1EE6-DFF6-162B13464E99}"/>
              </a:ext>
            </a:extLst>
          </p:cNvPr>
          <p:cNvSpPr txBox="1"/>
          <p:nvPr/>
        </p:nvSpPr>
        <p:spPr>
          <a:xfrm>
            <a:off x="2744679" y="-62144"/>
            <a:ext cx="6702641" cy="646331"/>
          </a:xfrm>
          <a:prstGeom prst="rect">
            <a:avLst/>
          </a:prstGeom>
          <a:noFill/>
        </p:spPr>
        <p:txBody>
          <a:bodyPr wrap="square" rtlCol="0">
            <a:spAutoFit/>
          </a:bodyPr>
          <a:lstStyle/>
          <a:p>
            <a:r>
              <a:rPr lang="en-US" sz="3600" dirty="0"/>
              <a:t>Generalized Uncertainty Principle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315CEF7-E41E-7B59-CFBD-BDD3345EA4BC}"/>
                  </a:ext>
                </a:extLst>
              </p:cNvPr>
              <p:cNvSpPr txBox="1"/>
              <p:nvPr/>
            </p:nvSpPr>
            <p:spPr>
              <a:xfrm>
                <a:off x="1065321" y="756447"/>
                <a:ext cx="10209320" cy="1938992"/>
              </a:xfrm>
              <a:prstGeom prst="rect">
                <a:avLst/>
              </a:prstGeom>
              <a:noFill/>
            </p:spPr>
            <p:txBody>
              <a:bodyPr wrap="square" rtlCol="0">
                <a:spAutoFit/>
              </a:bodyPr>
              <a:lstStyle/>
              <a:p>
                <a:pPr algn="just"/>
                <a:r>
                  <a:rPr lang="en-US" sz="2400" dirty="0"/>
                  <a:t>Ordinarily, when you measure an observable Q on an ensemble of identically prepared systems, all in the same state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Ψ</m:t>
                    </m:r>
                  </m:oMath>
                </a14:m>
                <a:r>
                  <a:rPr lang="en-US" sz="2400" dirty="0"/>
                  <a:t>, you do not get the same result each time- this is the called indeterminacy of quantum mechanics. Only the determinate state will give the exact same results all the measurements, so the standard deviation is </a:t>
                </a:r>
              </a:p>
            </p:txBody>
          </p:sp>
        </mc:Choice>
        <mc:Fallback xmlns="">
          <p:sp>
            <p:nvSpPr>
              <p:cNvPr id="3" name="TextBox 2">
                <a:extLst>
                  <a:ext uri="{FF2B5EF4-FFF2-40B4-BE49-F238E27FC236}">
                    <a16:creationId xmlns:a16="http://schemas.microsoft.com/office/drawing/2014/main" id="{4315CEF7-E41E-7B59-CFBD-BDD3345EA4BC}"/>
                  </a:ext>
                </a:extLst>
              </p:cNvPr>
              <p:cNvSpPr txBox="1">
                <a:spLocks noRot="1" noChangeAspect="1" noMove="1" noResize="1" noEditPoints="1" noAdjustHandles="1" noChangeArrowheads="1" noChangeShapeType="1" noTextEdit="1"/>
              </p:cNvSpPr>
              <p:nvPr/>
            </p:nvSpPr>
            <p:spPr>
              <a:xfrm>
                <a:off x="1065321" y="756447"/>
                <a:ext cx="10209320" cy="1938992"/>
              </a:xfrm>
              <a:prstGeom prst="rect">
                <a:avLst/>
              </a:prstGeom>
              <a:blipFill>
                <a:blip r:embed="rId2"/>
                <a:stretch>
                  <a:fillRect l="-955" t="-2516" r="-896" b="-628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73AD602-B92C-19BC-50DD-ED8D2F7D9605}"/>
              </a:ext>
            </a:extLst>
          </p:cNvPr>
          <p:cNvPicPr>
            <a:picLocks noChangeAspect="1"/>
          </p:cNvPicPr>
          <p:nvPr/>
        </p:nvPicPr>
        <p:blipFill>
          <a:blip r:embed="rId3"/>
          <a:stretch>
            <a:fillRect/>
          </a:stretch>
        </p:blipFill>
        <p:spPr>
          <a:xfrm>
            <a:off x="2291414" y="2973555"/>
            <a:ext cx="6890065" cy="455445"/>
          </a:xfrm>
          <a:prstGeom prst="rect">
            <a:avLst/>
          </a:prstGeom>
        </p:spPr>
      </p:pic>
      <p:pic>
        <p:nvPicPr>
          <p:cNvPr id="6" name="Picture 5">
            <a:extLst>
              <a:ext uri="{FF2B5EF4-FFF2-40B4-BE49-F238E27FC236}">
                <a16:creationId xmlns:a16="http://schemas.microsoft.com/office/drawing/2014/main" id="{C0A537CC-3779-CC3E-FAD8-EECDED93D8A6}"/>
              </a:ext>
            </a:extLst>
          </p:cNvPr>
          <p:cNvPicPr>
            <a:picLocks noChangeAspect="1"/>
          </p:cNvPicPr>
          <p:nvPr/>
        </p:nvPicPr>
        <p:blipFill>
          <a:blip r:embed="rId4"/>
          <a:stretch>
            <a:fillRect/>
          </a:stretch>
        </p:blipFill>
        <p:spPr>
          <a:xfrm>
            <a:off x="2558045" y="3910810"/>
            <a:ext cx="6520401" cy="284592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C5AC4C7-78CB-FB6E-6E90-EC41FAD28E82}"/>
                  </a:ext>
                </a:extLst>
              </p:cNvPr>
              <p:cNvSpPr txBox="1"/>
              <p:nvPr/>
            </p:nvSpPr>
            <p:spPr>
              <a:xfrm>
                <a:off x="1849305" y="3572026"/>
                <a:ext cx="7229141" cy="474169"/>
              </a:xfrm>
              <a:prstGeom prst="rect">
                <a:avLst/>
              </a:prstGeom>
              <a:noFill/>
            </p:spPr>
            <p:txBody>
              <a:bodyPr wrap="square" rtlCol="0">
                <a:spAutoFit/>
              </a:bodyPr>
              <a:lstStyle/>
              <a:p>
                <a:r>
                  <a:rPr lang="en-US" sz="2400" dirty="0"/>
                  <a:t>So, for any observable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𝐴</m:t>
                        </m:r>
                      </m:e>
                    </m:acc>
                  </m:oMath>
                </a14:m>
                <a:r>
                  <a:rPr lang="en-US" sz="2400" dirty="0"/>
                  <a:t> we can write the deviation as </a:t>
                </a:r>
              </a:p>
            </p:txBody>
          </p:sp>
        </mc:Choice>
        <mc:Fallback xmlns="">
          <p:sp>
            <p:nvSpPr>
              <p:cNvPr id="7" name="TextBox 6">
                <a:extLst>
                  <a:ext uri="{FF2B5EF4-FFF2-40B4-BE49-F238E27FC236}">
                    <a16:creationId xmlns:a16="http://schemas.microsoft.com/office/drawing/2014/main" id="{3C5AC4C7-78CB-FB6E-6E90-EC41FAD28E82}"/>
                  </a:ext>
                </a:extLst>
              </p:cNvPr>
              <p:cNvSpPr txBox="1">
                <a:spLocks noRot="1" noChangeAspect="1" noMove="1" noResize="1" noEditPoints="1" noAdjustHandles="1" noChangeArrowheads="1" noChangeShapeType="1" noTextEdit="1"/>
              </p:cNvSpPr>
              <p:nvPr/>
            </p:nvSpPr>
            <p:spPr>
              <a:xfrm>
                <a:off x="1849305" y="3572026"/>
                <a:ext cx="7229141" cy="474169"/>
              </a:xfrm>
              <a:prstGeom prst="rect">
                <a:avLst/>
              </a:prstGeom>
              <a:blipFill>
                <a:blip r:embed="rId5"/>
                <a:stretch>
                  <a:fillRect l="-1265" t="-10256" b="-28205"/>
                </a:stretch>
              </a:blipFill>
            </p:spPr>
            <p:txBody>
              <a:bodyPr/>
              <a:lstStyle/>
              <a:p>
                <a:r>
                  <a:rPr lang="en-US">
                    <a:noFill/>
                  </a:rPr>
                  <a:t> </a:t>
                </a:r>
              </a:p>
            </p:txBody>
          </p:sp>
        </mc:Fallback>
      </mc:AlternateContent>
    </p:spTree>
    <p:extLst>
      <p:ext uri="{BB962C8B-B14F-4D97-AF65-F5344CB8AC3E}">
        <p14:creationId xmlns:p14="http://schemas.microsoft.com/office/powerpoint/2010/main" val="2333348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F6833B-8B14-F316-EADB-4F03EA15CB22}"/>
              </a:ext>
            </a:extLst>
          </p:cNvPr>
          <p:cNvPicPr>
            <a:picLocks noChangeAspect="1"/>
          </p:cNvPicPr>
          <p:nvPr/>
        </p:nvPicPr>
        <p:blipFill>
          <a:blip r:embed="rId2"/>
          <a:stretch>
            <a:fillRect/>
          </a:stretch>
        </p:blipFill>
        <p:spPr>
          <a:xfrm>
            <a:off x="1768105" y="422151"/>
            <a:ext cx="7967461" cy="5792218"/>
          </a:xfrm>
          <a:prstGeom prst="rect">
            <a:avLst/>
          </a:prstGeom>
        </p:spPr>
      </p:pic>
    </p:spTree>
    <p:extLst>
      <p:ext uri="{BB962C8B-B14F-4D97-AF65-F5344CB8AC3E}">
        <p14:creationId xmlns:p14="http://schemas.microsoft.com/office/powerpoint/2010/main" val="2996617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3FD1C4-DE71-0447-D5D4-C7C985415F2A}"/>
              </a:ext>
            </a:extLst>
          </p:cNvPr>
          <p:cNvPicPr>
            <a:picLocks noChangeAspect="1"/>
          </p:cNvPicPr>
          <p:nvPr/>
        </p:nvPicPr>
        <p:blipFill>
          <a:blip r:embed="rId2"/>
          <a:stretch>
            <a:fillRect/>
          </a:stretch>
        </p:blipFill>
        <p:spPr>
          <a:xfrm>
            <a:off x="2677916" y="90996"/>
            <a:ext cx="5093282" cy="1045346"/>
          </a:xfrm>
          <a:prstGeom prst="rect">
            <a:avLst/>
          </a:prstGeom>
        </p:spPr>
      </p:pic>
      <p:pic>
        <p:nvPicPr>
          <p:cNvPr id="5" name="Picture 4">
            <a:extLst>
              <a:ext uri="{FF2B5EF4-FFF2-40B4-BE49-F238E27FC236}">
                <a16:creationId xmlns:a16="http://schemas.microsoft.com/office/drawing/2014/main" id="{96A8AD1C-89CE-5737-6E6B-694B81FE091F}"/>
              </a:ext>
            </a:extLst>
          </p:cNvPr>
          <p:cNvPicPr>
            <a:picLocks noChangeAspect="1"/>
          </p:cNvPicPr>
          <p:nvPr/>
        </p:nvPicPr>
        <p:blipFill>
          <a:blip r:embed="rId3"/>
          <a:stretch>
            <a:fillRect/>
          </a:stretch>
        </p:blipFill>
        <p:spPr>
          <a:xfrm>
            <a:off x="1978612" y="1136342"/>
            <a:ext cx="7042672" cy="3748134"/>
          </a:xfrm>
          <a:prstGeom prst="rect">
            <a:avLst/>
          </a:prstGeom>
        </p:spPr>
      </p:pic>
      <p:sp>
        <p:nvSpPr>
          <p:cNvPr id="6" name="TextBox 5">
            <a:extLst>
              <a:ext uri="{FF2B5EF4-FFF2-40B4-BE49-F238E27FC236}">
                <a16:creationId xmlns:a16="http://schemas.microsoft.com/office/drawing/2014/main" id="{862DBB28-E5D0-C053-0FFB-3B125FBDDB78}"/>
              </a:ext>
            </a:extLst>
          </p:cNvPr>
          <p:cNvSpPr txBox="1"/>
          <p:nvPr/>
        </p:nvSpPr>
        <p:spPr>
          <a:xfrm>
            <a:off x="3556432" y="4884476"/>
            <a:ext cx="5079136" cy="461665"/>
          </a:xfrm>
          <a:prstGeom prst="rect">
            <a:avLst/>
          </a:prstGeom>
          <a:noFill/>
        </p:spPr>
        <p:txBody>
          <a:bodyPr wrap="square" rtlCol="0">
            <a:spAutoFit/>
          </a:bodyPr>
          <a:lstStyle/>
          <a:p>
            <a:r>
              <a:rPr lang="en-US" sz="2400" dirty="0"/>
              <a:t>This is the general uncertainty relation</a:t>
            </a:r>
          </a:p>
        </p:txBody>
      </p:sp>
    </p:spTree>
    <p:extLst>
      <p:ext uri="{BB962C8B-B14F-4D97-AF65-F5344CB8AC3E}">
        <p14:creationId xmlns:p14="http://schemas.microsoft.com/office/powerpoint/2010/main" val="1481852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124853B-9DA5-B443-2B22-AD154F702494}"/>
                  </a:ext>
                </a:extLst>
              </p:cNvPr>
              <p:cNvSpPr txBox="1"/>
              <p:nvPr/>
            </p:nvSpPr>
            <p:spPr>
              <a:xfrm>
                <a:off x="798991" y="230820"/>
                <a:ext cx="10333606" cy="843501"/>
              </a:xfrm>
              <a:prstGeom prst="rect">
                <a:avLst/>
              </a:prstGeom>
              <a:noFill/>
            </p:spPr>
            <p:txBody>
              <a:bodyPr wrap="square" rtlCol="0">
                <a:spAutoFit/>
              </a:bodyPr>
              <a:lstStyle/>
              <a:p>
                <a:r>
                  <a:rPr lang="en-US" sz="2400" dirty="0"/>
                  <a:t>Now if we choose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𝐴</m:t>
                        </m:r>
                      </m:e>
                    </m:acc>
                  </m:oMath>
                </a14:m>
                <a:r>
                  <a:rPr lang="en-US" sz="2400" dirty="0"/>
                  <a:t> as the position operator and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𝐵</m:t>
                        </m:r>
                      </m:e>
                    </m:acc>
                  </m:oMath>
                </a14:m>
                <a:r>
                  <a:rPr lang="en-US" sz="2400" dirty="0"/>
                  <a:t> as the momentum operator, then the commutation relation is </a:t>
                </a:r>
              </a:p>
            </p:txBody>
          </p:sp>
        </mc:Choice>
        <mc:Fallback xmlns="">
          <p:sp>
            <p:nvSpPr>
              <p:cNvPr id="2" name="TextBox 1">
                <a:extLst>
                  <a:ext uri="{FF2B5EF4-FFF2-40B4-BE49-F238E27FC236}">
                    <a16:creationId xmlns:a16="http://schemas.microsoft.com/office/drawing/2014/main" id="{C124853B-9DA5-B443-2B22-AD154F702494}"/>
                  </a:ext>
                </a:extLst>
              </p:cNvPr>
              <p:cNvSpPr txBox="1">
                <a:spLocks noRot="1" noChangeAspect="1" noMove="1" noResize="1" noEditPoints="1" noAdjustHandles="1" noChangeArrowheads="1" noChangeShapeType="1" noTextEdit="1"/>
              </p:cNvSpPr>
              <p:nvPr/>
            </p:nvSpPr>
            <p:spPr>
              <a:xfrm>
                <a:off x="798991" y="230820"/>
                <a:ext cx="10333606" cy="843501"/>
              </a:xfrm>
              <a:prstGeom prst="rect">
                <a:avLst/>
              </a:prstGeom>
              <a:blipFill>
                <a:blip r:embed="rId2"/>
                <a:stretch>
                  <a:fillRect l="-885" t="-5797" b="-15942"/>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9949F32-E9B9-307C-06FC-7CCE407F6076}"/>
              </a:ext>
            </a:extLst>
          </p:cNvPr>
          <p:cNvPicPr>
            <a:picLocks noChangeAspect="1"/>
          </p:cNvPicPr>
          <p:nvPr/>
        </p:nvPicPr>
        <p:blipFill>
          <a:blip r:embed="rId3"/>
          <a:stretch>
            <a:fillRect/>
          </a:stretch>
        </p:blipFill>
        <p:spPr>
          <a:xfrm>
            <a:off x="2535274" y="1219894"/>
            <a:ext cx="6238130" cy="3343228"/>
          </a:xfrm>
          <a:prstGeom prst="rect">
            <a:avLst/>
          </a:prstGeom>
        </p:spPr>
      </p:pic>
      <p:sp>
        <p:nvSpPr>
          <p:cNvPr id="5" name="TextBox 4">
            <a:extLst>
              <a:ext uri="{FF2B5EF4-FFF2-40B4-BE49-F238E27FC236}">
                <a16:creationId xmlns:a16="http://schemas.microsoft.com/office/drawing/2014/main" id="{4AB9373B-71ED-5F22-2D5B-4FEF508D857C}"/>
              </a:ext>
            </a:extLst>
          </p:cNvPr>
          <p:cNvSpPr txBox="1"/>
          <p:nvPr/>
        </p:nvSpPr>
        <p:spPr>
          <a:xfrm>
            <a:off x="2693636" y="4708695"/>
            <a:ext cx="5921405" cy="461665"/>
          </a:xfrm>
          <a:prstGeom prst="rect">
            <a:avLst/>
          </a:prstGeom>
          <a:noFill/>
        </p:spPr>
        <p:txBody>
          <a:bodyPr wrap="square" rtlCol="0">
            <a:spAutoFit/>
          </a:bodyPr>
          <a:lstStyle/>
          <a:p>
            <a:r>
              <a:rPr lang="en-US" sz="2400" dirty="0"/>
              <a:t>This is the Heisenberg uncertainty principle</a:t>
            </a:r>
          </a:p>
        </p:txBody>
      </p:sp>
    </p:spTree>
    <p:extLst>
      <p:ext uri="{BB962C8B-B14F-4D97-AF65-F5344CB8AC3E}">
        <p14:creationId xmlns:p14="http://schemas.microsoft.com/office/powerpoint/2010/main" val="889388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C1FDB5-EEAE-FDE5-42F6-B4C3C7021E61}"/>
              </a:ext>
            </a:extLst>
          </p:cNvPr>
          <p:cNvSpPr txBox="1"/>
          <p:nvPr/>
        </p:nvSpPr>
        <p:spPr>
          <a:xfrm>
            <a:off x="807868" y="0"/>
            <a:ext cx="11008311" cy="646331"/>
          </a:xfrm>
          <a:prstGeom prst="rect">
            <a:avLst/>
          </a:prstGeom>
          <a:noFill/>
        </p:spPr>
        <p:txBody>
          <a:bodyPr wrap="square" rtlCol="0">
            <a:spAutoFit/>
          </a:bodyPr>
          <a:lstStyle/>
          <a:p>
            <a:r>
              <a:rPr lang="en-US" sz="3600" dirty="0"/>
              <a:t>Time Derivative of the expectation value of an observable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1325263-C3E2-FFDA-F5FF-37D992B6B0E0}"/>
                  </a:ext>
                </a:extLst>
              </p:cNvPr>
              <p:cNvSpPr txBox="1"/>
              <p:nvPr/>
            </p:nvSpPr>
            <p:spPr>
              <a:xfrm>
                <a:off x="727969" y="607237"/>
                <a:ext cx="6090082" cy="461665"/>
              </a:xfrm>
              <a:prstGeom prst="rect">
                <a:avLst/>
              </a:prstGeom>
              <a:noFill/>
            </p:spPr>
            <p:txBody>
              <a:bodyPr wrap="square" rtlCol="0">
                <a:spAutoFit/>
              </a:bodyPr>
              <a:lstStyle/>
              <a:p>
                <a:r>
                  <a:rPr lang="en-US" sz="2400" dirty="0"/>
                  <a:t>Let us consider some observable </a:t>
                </a:r>
                <a14:m>
                  <m:oMath xmlns:m="http://schemas.openxmlformats.org/officeDocument/2006/math">
                    <m:r>
                      <a:rPr lang="en-US" sz="2400" b="0" i="1" smtClean="0">
                        <a:latin typeface="Cambria Math" panose="02040503050406030204" pitchFamily="18" charset="0"/>
                      </a:rPr>
                      <m:t>𝑄</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𝑝</m:t>
                    </m:r>
                    <m:r>
                      <a:rPr lang="en-US" sz="2400" b="0" i="1" smtClean="0">
                        <a:latin typeface="Cambria Math" panose="02040503050406030204" pitchFamily="18" charset="0"/>
                      </a:rPr>
                      <m:t>,</m:t>
                    </m:r>
                    <m:r>
                      <a:rPr lang="en-US" sz="2400" b="0" i="1" smtClean="0">
                        <a:latin typeface="Cambria Math" panose="02040503050406030204" pitchFamily="18" charset="0"/>
                      </a:rPr>
                      <m:t>𝑡</m:t>
                    </m:r>
                    <m:r>
                      <a:rPr lang="en-US" sz="2400" b="0" i="1" smtClean="0">
                        <a:latin typeface="Cambria Math" panose="02040503050406030204" pitchFamily="18" charset="0"/>
                      </a:rPr>
                      <m:t>)</m:t>
                    </m:r>
                  </m:oMath>
                </a14:m>
                <a:endParaRPr lang="en-US" sz="2400" dirty="0"/>
              </a:p>
            </p:txBody>
          </p:sp>
        </mc:Choice>
        <mc:Fallback xmlns="">
          <p:sp>
            <p:nvSpPr>
              <p:cNvPr id="3" name="TextBox 2">
                <a:extLst>
                  <a:ext uri="{FF2B5EF4-FFF2-40B4-BE49-F238E27FC236}">
                    <a16:creationId xmlns:a16="http://schemas.microsoft.com/office/drawing/2014/main" id="{C1325263-C3E2-FFDA-F5FF-37D992B6B0E0}"/>
                  </a:ext>
                </a:extLst>
              </p:cNvPr>
              <p:cNvSpPr txBox="1">
                <a:spLocks noRot="1" noChangeAspect="1" noMove="1" noResize="1" noEditPoints="1" noAdjustHandles="1" noChangeArrowheads="1" noChangeShapeType="1" noTextEdit="1"/>
              </p:cNvSpPr>
              <p:nvPr/>
            </p:nvSpPr>
            <p:spPr>
              <a:xfrm>
                <a:off x="727969" y="607237"/>
                <a:ext cx="6090082" cy="461665"/>
              </a:xfrm>
              <a:prstGeom prst="rect">
                <a:avLst/>
              </a:prstGeom>
              <a:blipFill>
                <a:blip r:embed="rId2"/>
                <a:stretch>
                  <a:fillRect l="-1502" t="-10667" b="-3066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F2AABE2-4206-ABF6-8A4A-D91CFFDB4983}"/>
              </a:ext>
            </a:extLst>
          </p:cNvPr>
          <p:cNvPicPr>
            <a:picLocks noChangeAspect="1"/>
          </p:cNvPicPr>
          <p:nvPr/>
        </p:nvPicPr>
        <p:blipFill>
          <a:blip r:embed="rId3"/>
          <a:stretch>
            <a:fillRect/>
          </a:stretch>
        </p:blipFill>
        <p:spPr>
          <a:xfrm>
            <a:off x="1837678" y="1068902"/>
            <a:ext cx="7322288" cy="5299942"/>
          </a:xfrm>
          <a:prstGeom prst="rect">
            <a:avLst/>
          </a:prstGeom>
        </p:spPr>
      </p:pic>
    </p:spTree>
    <p:extLst>
      <p:ext uri="{BB962C8B-B14F-4D97-AF65-F5344CB8AC3E}">
        <p14:creationId xmlns:p14="http://schemas.microsoft.com/office/powerpoint/2010/main" val="1381544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TotalTime>
  <Words>472</Words>
  <Application>Microsoft Office PowerPoint</Application>
  <PresentationFormat>Widescreen</PresentationFormat>
  <Paragraphs>25</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akabir</dc:creator>
  <cp:lastModifiedBy>Alamgir Kabir</cp:lastModifiedBy>
  <cp:revision>5</cp:revision>
  <dcterms:created xsi:type="dcterms:W3CDTF">2023-05-08T12:42:24Z</dcterms:created>
  <dcterms:modified xsi:type="dcterms:W3CDTF">2026-08-03T15:29:25Z</dcterms:modified>
</cp:coreProperties>
</file>