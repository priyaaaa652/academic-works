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76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4D981-137C-DC15-72E3-6FB196B42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1FFC6-9E7D-DDE0-836E-A32A5B0A5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C3717-C451-2164-BDE2-64AB136E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4C1D-E2FE-9A4C-A996-17BA43A0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F0BFF-3EE2-C864-0539-95CDF7D8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8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1578-3A4F-2BF8-5894-43C85A84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2F13F-46DC-CE56-AF53-C2E6DA1CB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A8942-FD70-2DA9-2F6C-D6F1FB7D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4BB73-BC54-AB9B-0F50-FE12D680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DE2A9-0362-8F53-1602-CF74DD56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5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696F-C78A-38DB-A6D7-14376268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E9D6B-0D06-3B8F-6EFE-65A5FBF3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0C1C-2020-B6C5-38FC-806AD60A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9A5BB-322E-C892-5701-40E282F7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C562-4B0A-C254-925C-08D32943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0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12E6-8CD6-A72E-88A2-B510D561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D1948-72C5-BD1D-E0BB-4AF7F982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6EE77-D441-125D-B2FA-3A7E882C1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9F15-92B1-D3BA-14D1-8694AEAD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15B2-ACEB-3748-8D7A-CAC2C137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6D480-B753-7362-B86F-7465CDC5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5150-1FB4-297E-C081-6EE46E7E2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731B-78C9-293F-523C-2768206F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68F07-1EF8-C2B3-C460-68859E3CD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33782-EB27-89A5-D3C0-EF32D1755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3A4E1-3823-F80A-1504-84BF62E46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16197-D3C0-3772-B335-1F7DB9B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FE3B8-DAB9-8872-7A05-9C84496E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32073A-69F9-EEA8-CA9C-256E92DD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6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813-4A42-3C2A-D7A9-F578DA0F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98118-8AC0-E9ED-E753-30F99609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AFB87-0288-56F9-8728-C431AE4A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63F60-9B3C-49B3-965D-54A48C30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5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9B13E-BED5-928A-CBB8-9578AE4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ACB50-6E04-DB3A-372D-678D7E3C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59959-93C0-7A2B-4ADA-0A8A4718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2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27D3-60C1-8997-356F-05CC7EDD1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1D2EF-BC26-B51E-9802-DD736A534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874D1-61EE-F5C0-D464-DD6CCB1DA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F7D62-3ED3-E1E4-EBDD-4539DB3D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A95AA-81C1-E4A9-58F2-91A84146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F6315-4A0E-7876-4BFC-342CA972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1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67AF-BF24-88D7-6B4D-B07F5F5F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0DFDA-AEAC-8D73-26F7-F4B15F454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924BB-5E1D-ABFF-C9C2-9FA3526C3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61E52-28AC-DA43-D6C2-80F9F940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8CD87-803B-368B-9095-9C45084F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E9A38-3D2B-936F-8D97-C18C8589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4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8CBF-97B4-4F63-C5E4-08EBF9E6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BED9C-3852-2176-5CB8-42E03F1A4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07249-FC99-3F0C-A04D-4E5F23EF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FD98B-F744-52F7-6A6A-FC527643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44362-541C-D005-0D7E-404A1FAD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8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C6BDDF-8590-E2D4-A7F4-A5109315B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2F4D3-8160-44D5-C689-DF20A67E6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D2929-00D8-CFD2-8B2E-3C2C44B6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66F3-247B-B0F7-B085-3B9C3622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3BD04-07A2-1318-271E-D5A1B461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3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738D1-5FAD-2CBF-B463-4DD2B612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C3EB8-8751-9DE8-6016-CEFF505C0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EAC17-FD2C-6002-EF45-2E5D9025E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CBD6B-FD9E-445B-976D-A8A7A969075C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A2AE-6579-3616-9AC4-90525E57B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38648-7FA5-61D5-BB94-1DBC3117B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EA4C8-6508-4010-B89F-82EB349E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3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2B9A91-9366-95FB-A418-2F2DAB509B2A}"/>
              </a:ext>
            </a:extLst>
          </p:cNvPr>
          <p:cNvSpPr txBox="1"/>
          <p:nvPr/>
        </p:nvSpPr>
        <p:spPr>
          <a:xfrm>
            <a:off x="497625" y="16495"/>
            <a:ext cx="11038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generalization of QM mechanics is straightforward. The Schrodinger equation says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FE52B-DA5F-550D-36F9-B73E1FA6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787" y="478160"/>
            <a:ext cx="1526877" cy="633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E3EA20-CAAC-F3A2-D6E2-317525AB88CC}"/>
                  </a:ext>
                </a:extLst>
              </p:cNvPr>
              <p:cNvSpPr txBox="1"/>
              <p:nvPr/>
            </p:nvSpPr>
            <p:spPr>
              <a:xfrm>
                <a:off x="883380" y="1034011"/>
                <a:ext cx="10042072" cy="1155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Hamiltonian operator H is obtained from classical energy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E3EA20-CAAC-F3A2-D6E2-317525AB8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80" y="1034011"/>
                <a:ext cx="10042072" cy="1155573"/>
              </a:xfrm>
              <a:prstGeom prst="rect">
                <a:avLst/>
              </a:prstGeom>
              <a:blipFill>
                <a:blip r:embed="rId3"/>
                <a:stretch>
                  <a:fillRect l="-971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C3D9E8-7BCB-8FB6-01F5-5C5B0EA2358D}"/>
              </a:ext>
            </a:extLst>
          </p:cNvPr>
          <p:cNvSpPr txBox="1"/>
          <p:nvPr/>
        </p:nvSpPr>
        <p:spPr>
          <a:xfrm>
            <a:off x="2688349" y="2425199"/>
            <a:ext cx="849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Now,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96F559-DAE3-739F-2124-86A308CAD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520" y="2257976"/>
            <a:ext cx="4921420" cy="796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63909-8DCB-56CD-A952-4ECF1B9BE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520" y="2979237"/>
            <a:ext cx="4838330" cy="38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9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9399D5-81BB-F9A7-58B1-C3EE0419AE5E}"/>
                  </a:ext>
                </a:extLst>
              </p:cNvPr>
              <p:cNvSpPr txBox="1"/>
              <p:nvPr/>
            </p:nvSpPr>
            <p:spPr>
              <a:xfrm>
                <a:off x="489857" y="310243"/>
                <a:ext cx="112503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potential energy V and the wave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400" dirty="0"/>
                  <a:t> are now functions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400" dirty="0"/>
                  <a:t> and t. The normalization condition is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9399D5-81BB-F9A7-58B1-C3EE0419A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57" y="310243"/>
                <a:ext cx="11250386" cy="830997"/>
              </a:xfrm>
              <a:prstGeom prst="rect">
                <a:avLst/>
              </a:prstGeom>
              <a:blipFill>
                <a:blip r:embed="rId2"/>
                <a:stretch>
                  <a:fillRect l="-813" t="-5882" r="-27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DC31A09-3C82-A5F9-19DD-FE1B9465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626" y="793817"/>
            <a:ext cx="1569391" cy="6948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4B419A-C592-7BD7-D396-34C981624032}"/>
              </a:ext>
            </a:extLst>
          </p:cNvPr>
          <p:cNvSpPr txBox="1"/>
          <p:nvPr/>
        </p:nvSpPr>
        <p:spPr>
          <a:xfrm>
            <a:off x="745671" y="1514036"/>
            <a:ext cx="1077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stationary state solution now looks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7CAFA-C7D7-3946-B66A-37066C09C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7616"/>
            <a:ext cx="3513653" cy="654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0AE1C4-950C-B1C9-E21D-1435EAC515E1}"/>
                  </a:ext>
                </a:extLst>
              </p:cNvPr>
              <p:cNvSpPr txBox="1"/>
              <p:nvPr/>
            </p:nvSpPr>
            <p:spPr>
              <a:xfrm>
                <a:off x="470807" y="2428588"/>
                <a:ext cx="112503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Where the spatial wave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satisfies the time-independent Schrodinger equation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0AE1C4-950C-B1C9-E21D-1435EAC51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07" y="2428588"/>
                <a:ext cx="11250386" cy="461665"/>
              </a:xfrm>
              <a:prstGeom prst="rect">
                <a:avLst/>
              </a:prstGeom>
              <a:blipFill>
                <a:blip r:embed="rId5"/>
                <a:stretch>
                  <a:fillRect l="-813" t="-10526" r="-43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6F7C6A8-15BD-BBEF-0AB6-4DF5D9C89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044" y="3151103"/>
            <a:ext cx="2867912" cy="800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A7188C-035D-E052-881D-1CD8F79AB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507" y="4212640"/>
            <a:ext cx="8951028" cy="1532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8B8788-5936-C8A5-F1BC-0920271B1FA6}"/>
              </a:ext>
            </a:extLst>
          </p:cNvPr>
          <p:cNvSpPr txBox="1"/>
          <p:nvPr/>
        </p:nvSpPr>
        <p:spPr>
          <a:xfrm>
            <a:off x="9241971" y="3314700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79837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9A3A7C-6DDA-5E70-C901-725D7B38A469}"/>
              </a:ext>
            </a:extLst>
          </p:cNvPr>
          <p:cNvSpPr txBox="1"/>
          <p:nvPr/>
        </p:nvSpPr>
        <p:spPr>
          <a:xfrm>
            <a:off x="1273628" y="0"/>
            <a:ext cx="10482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Schrodinger equation in spherical polar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A136FA-55E8-FF79-64CD-980BF8A77D9C}"/>
                  </a:ext>
                </a:extLst>
              </p:cNvPr>
              <p:cNvSpPr txBox="1"/>
              <p:nvPr/>
            </p:nvSpPr>
            <p:spPr>
              <a:xfrm>
                <a:off x="3880758" y="760631"/>
                <a:ext cx="37283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)→(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A136FA-55E8-FF79-64CD-980BF8A77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758" y="760631"/>
                <a:ext cx="3728357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F306A2A-B00D-8EDE-6B94-EB4E86BB3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22" y="1303938"/>
            <a:ext cx="4953884" cy="3823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C06891-3D13-05E4-CA9C-1D6364514DD4}"/>
                  </a:ext>
                </a:extLst>
              </p:cNvPr>
              <p:cNvSpPr txBox="1"/>
              <p:nvPr/>
            </p:nvSpPr>
            <p:spPr>
              <a:xfrm>
                <a:off x="5636908" y="1812471"/>
                <a:ext cx="26301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C06891-3D13-05E4-CA9C-1D6364514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908" y="1812471"/>
                <a:ext cx="2630144" cy="369332"/>
              </a:xfrm>
              <a:prstGeom prst="rect">
                <a:avLst/>
              </a:prstGeom>
              <a:blipFill>
                <a:blip r:embed="rId4"/>
                <a:stretch>
                  <a:fillRect l="-1160" r="-3712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DF0E5A-E379-6579-9B55-7B17AAB2408D}"/>
                  </a:ext>
                </a:extLst>
              </p:cNvPr>
              <p:cNvSpPr txBox="1"/>
              <p:nvPr/>
            </p:nvSpPr>
            <p:spPr>
              <a:xfrm>
                <a:off x="5637550" y="2283179"/>
                <a:ext cx="26233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DF0E5A-E379-6579-9B55-7B17AAB24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550" y="2283179"/>
                <a:ext cx="2623347" cy="369332"/>
              </a:xfrm>
              <a:prstGeom prst="rect">
                <a:avLst/>
              </a:prstGeom>
              <a:blipFill>
                <a:blip r:embed="rId5"/>
                <a:stretch>
                  <a:fillRect l="-2326" r="-3721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28281C-F3F9-3EA7-567D-A664F4BD9759}"/>
                  </a:ext>
                </a:extLst>
              </p:cNvPr>
              <p:cNvSpPr txBox="1"/>
              <p:nvPr/>
            </p:nvSpPr>
            <p:spPr>
              <a:xfrm>
                <a:off x="5724675" y="2771978"/>
                <a:ext cx="17184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28281C-F3F9-3EA7-567D-A664F4BD9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675" y="2771978"/>
                <a:ext cx="1718484" cy="369332"/>
              </a:xfrm>
              <a:prstGeom prst="rect">
                <a:avLst/>
              </a:prstGeom>
              <a:blipFill>
                <a:blip r:embed="rId6"/>
                <a:stretch>
                  <a:fillRect l="-177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06064-D159-353C-5934-3FF617FE462E}"/>
                  </a:ext>
                </a:extLst>
              </p:cNvPr>
              <p:cNvSpPr txBox="1"/>
              <p:nvPr/>
            </p:nvSpPr>
            <p:spPr>
              <a:xfrm>
                <a:off x="5626956" y="3548984"/>
                <a:ext cx="254114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06064-D159-353C-5934-3FF617FE4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56" y="3548984"/>
                <a:ext cx="2541145" cy="4472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3FD093-8482-D04C-E9FB-A44FACEDB7AF}"/>
                  </a:ext>
                </a:extLst>
              </p:cNvPr>
              <p:cNvSpPr txBox="1"/>
              <p:nvPr/>
            </p:nvSpPr>
            <p:spPr>
              <a:xfrm>
                <a:off x="5724675" y="4273170"/>
                <a:ext cx="1926553" cy="627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3FD093-8482-D04C-E9FB-A44FACEDB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675" y="4273170"/>
                <a:ext cx="1926553" cy="6276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758131-0B0A-E264-44D5-210E3B91B882}"/>
                  </a:ext>
                </a:extLst>
              </p:cNvPr>
              <p:cNvSpPr txBox="1"/>
              <p:nvPr/>
            </p:nvSpPr>
            <p:spPr>
              <a:xfrm>
                <a:off x="5833551" y="5177726"/>
                <a:ext cx="1996572" cy="632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758131-0B0A-E264-44D5-210E3B91B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551" y="5177726"/>
                <a:ext cx="1996572" cy="6324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49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E61FD-5B0E-E64C-663E-474A4E9FE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90" y="0"/>
            <a:ext cx="2807845" cy="725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ED45FB-91C6-EB2D-3191-E32B7DFC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67" y="725472"/>
            <a:ext cx="3304623" cy="1757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B8C201-2D7D-64DA-21DD-129D1D401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949" y="725472"/>
            <a:ext cx="6552727" cy="1845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0BD9D3-08F3-504F-7307-E78A6A69D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665" y="2702788"/>
            <a:ext cx="5221028" cy="813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031E5B-9EA2-FD8C-8B0E-DCD2B4DCAC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5769" y="3514354"/>
            <a:ext cx="6252191" cy="6862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9953F8-1DCB-E9FF-201C-CBB5F4D3A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337" y="4681721"/>
            <a:ext cx="7467342" cy="184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2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CCBD4-002B-7E98-CBB1-594124DA553A}"/>
              </a:ext>
            </a:extLst>
          </p:cNvPr>
          <p:cNvSpPr txBox="1"/>
          <p:nvPr/>
        </p:nvSpPr>
        <p:spPr>
          <a:xfrm>
            <a:off x="408214" y="163285"/>
            <a:ext cx="7952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Laplacian in spherical polar coordinates can have the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97B72-0107-D333-A7B0-78633FBEC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822" y="624950"/>
            <a:ext cx="7952015" cy="898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DE07F9-1883-90C9-719B-646A191B14F2}"/>
              </a:ext>
            </a:extLst>
          </p:cNvPr>
          <p:cNvSpPr txBox="1"/>
          <p:nvPr/>
        </p:nvSpPr>
        <p:spPr>
          <a:xfrm>
            <a:off x="685800" y="1754573"/>
            <a:ext cx="6939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time-independent Schrodinger equation reads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67FB72-1B04-80E3-16A0-7C3B37B07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809" y="2379195"/>
            <a:ext cx="8954176" cy="1508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6B4EBD-6091-9A64-7B5C-D0BFAD83D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556" y="4237372"/>
            <a:ext cx="9204064" cy="12237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FDF4FC-C660-6F16-80AC-AB0DD4DB046B}"/>
              </a:ext>
            </a:extLst>
          </p:cNvPr>
          <p:cNvSpPr txBox="1"/>
          <p:nvPr/>
        </p:nvSpPr>
        <p:spPr>
          <a:xfrm>
            <a:off x="10864620" y="2814221"/>
            <a:ext cx="552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98027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D9037-EE91-7FFC-DFDA-A7D25025980E}"/>
              </a:ext>
            </a:extLst>
          </p:cNvPr>
          <p:cNvSpPr txBox="1"/>
          <p:nvPr/>
        </p:nvSpPr>
        <p:spPr>
          <a:xfrm>
            <a:off x="1482571" y="266330"/>
            <a:ext cx="545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 (2) become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E1AB5-5D34-0B88-D012-1349B70D5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06" y="798943"/>
            <a:ext cx="6876508" cy="11630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17EE0F-BEF8-D782-9FD6-E432C813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506" y="2318181"/>
            <a:ext cx="6012588" cy="1898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5DFB46-B037-437B-F8D4-7751F24359DF}"/>
              </a:ext>
            </a:extLst>
          </p:cNvPr>
          <p:cNvSpPr txBox="1"/>
          <p:nvPr/>
        </p:nvSpPr>
        <p:spPr>
          <a:xfrm>
            <a:off x="9738804" y="3009530"/>
            <a:ext cx="612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ED259B-85BD-C431-10EE-B9D5C25978C7}"/>
                  </a:ext>
                </a:extLst>
              </p:cNvPr>
              <p:cNvSpPr txBox="1"/>
              <p:nvPr/>
            </p:nvSpPr>
            <p:spPr>
              <a:xfrm>
                <a:off x="1482571" y="4858728"/>
                <a:ext cx="103779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first term in equation (3) depends only on r and the second term depends only 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/>
                  <a:t>, and each must be equal to a constant. Let us write the separation constant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ED259B-85BD-C431-10EE-B9D5C2597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571" y="4858728"/>
                <a:ext cx="10377996" cy="1200329"/>
              </a:xfrm>
              <a:prstGeom prst="rect">
                <a:avLst/>
              </a:prstGeom>
              <a:blipFill>
                <a:blip r:embed="rId4"/>
                <a:stretch>
                  <a:fillRect l="-881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55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121AB9-5204-20AA-16E9-E22D9AFA6AF6}"/>
              </a:ext>
            </a:extLst>
          </p:cNvPr>
          <p:cNvSpPr txBox="1"/>
          <p:nvPr/>
        </p:nvSpPr>
        <p:spPr>
          <a:xfrm>
            <a:off x="985422" y="186430"/>
            <a:ext cx="377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have from equation (3)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6ADDA-A787-25AC-393E-21762AF9F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06" y="906724"/>
            <a:ext cx="4567259" cy="7178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4BA9E2-AAA9-C30B-1561-0DFA0CABD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706" y="1883242"/>
            <a:ext cx="4632621" cy="717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AF8247-95FD-AD59-9110-6F3E372D4772}"/>
              </a:ext>
            </a:extLst>
          </p:cNvPr>
          <p:cNvSpPr txBox="1"/>
          <p:nvPr/>
        </p:nvSpPr>
        <p:spPr>
          <a:xfrm>
            <a:off x="7590408" y="1136342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6FD87-D9D3-D21C-9F42-A344DAD4295B}"/>
              </a:ext>
            </a:extLst>
          </p:cNvPr>
          <p:cNvSpPr txBox="1"/>
          <p:nvPr/>
        </p:nvSpPr>
        <p:spPr>
          <a:xfrm>
            <a:off x="7590407" y="2011353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0B222-F033-18FB-4A15-3523C3D4BBA3}"/>
              </a:ext>
            </a:extLst>
          </p:cNvPr>
          <p:cNvSpPr txBox="1"/>
          <p:nvPr/>
        </p:nvSpPr>
        <p:spPr>
          <a:xfrm>
            <a:off x="2628264" y="2886364"/>
            <a:ext cx="6496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Solution of the angular equation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E8949F-0D8D-C93C-69D4-A963703EA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925" y="3532696"/>
            <a:ext cx="5465252" cy="848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19BEC5-FBEB-2656-EC80-2CF8B7EFD50A}"/>
                  </a:ext>
                </a:extLst>
              </p:cNvPr>
              <p:cNvSpPr txBox="1"/>
              <p:nvPr/>
            </p:nvSpPr>
            <p:spPr>
              <a:xfrm>
                <a:off x="1893168" y="4381247"/>
                <a:ext cx="3268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Multiplying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19BEC5-FBEB-2656-EC80-2CF8B7EFD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168" y="4381247"/>
                <a:ext cx="3268333" cy="461665"/>
              </a:xfrm>
              <a:prstGeom prst="rect">
                <a:avLst/>
              </a:prstGeom>
              <a:blipFill>
                <a:blip r:embed="rId5"/>
                <a:stretch>
                  <a:fillRect l="-2985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56BBDE3-B642-4E46-A35F-C6B923EEA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002" y="5229798"/>
            <a:ext cx="5666595" cy="8485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F29582-36E7-B118-4568-5DB9E6D91B8F}"/>
              </a:ext>
            </a:extLst>
          </p:cNvPr>
          <p:cNvSpPr txBox="1"/>
          <p:nvPr/>
        </p:nvSpPr>
        <p:spPr>
          <a:xfrm>
            <a:off x="8683517" y="5423240"/>
            <a:ext cx="650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1785533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10D0B-2EC1-A0C0-3B9C-D669CA16760B}"/>
              </a:ext>
            </a:extLst>
          </p:cNvPr>
          <p:cNvSpPr txBox="1"/>
          <p:nvPr/>
        </p:nvSpPr>
        <p:spPr>
          <a:xfrm>
            <a:off x="599607" y="374754"/>
            <a:ext cx="4107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 the separation of variable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B322D-01EF-6BB8-C03F-D6516A6A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50" y="374754"/>
            <a:ext cx="2969383" cy="683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51D65F-4D29-B5B9-A8D2-4E0684DFEA98}"/>
              </a:ext>
            </a:extLst>
          </p:cNvPr>
          <p:cNvSpPr txBox="1"/>
          <p:nvPr/>
        </p:nvSpPr>
        <p:spPr>
          <a:xfrm>
            <a:off x="599607" y="1334125"/>
            <a:ext cx="292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Equation (6) become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CF077-114E-D04C-399E-A388D06DA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828" y="1065002"/>
            <a:ext cx="7205237" cy="999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0BB146-C10F-2D63-9907-E44E68180D79}"/>
              </a:ext>
            </a:extLst>
          </p:cNvPr>
          <p:cNvSpPr txBox="1"/>
          <p:nvPr/>
        </p:nvSpPr>
        <p:spPr>
          <a:xfrm>
            <a:off x="11107711" y="1334125"/>
            <a:ext cx="659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C9EEF4-0607-8652-64C9-2A09AB2B944A}"/>
                  </a:ext>
                </a:extLst>
              </p:cNvPr>
              <p:cNvSpPr txBox="1"/>
              <p:nvPr/>
            </p:nvSpPr>
            <p:spPr>
              <a:xfrm>
                <a:off x="369757" y="2103202"/>
                <a:ext cx="11452485" cy="86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first term in equation (7) is a function of theta only and the 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term is a function of phi, so each must be a constant. This time we call this constant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C9EEF4-0607-8652-64C9-2A09AB2B9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57" y="2103202"/>
                <a:ext cx="11452485" cy="862608"/>
              </a:xfrm>
              <a:prstGeom prst="rect">
                <a:avLst/>
              </a:prstGeom>
              <a:blipFill>
                <a:blip r:embed="rId4"/>
                <a:stretch>
                  <a:fillRect l="-852" t="-5634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98C3A86-1F33-0FDE-8042-FA5E3EBB4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483" y="3238430"/>
            <a:ext cx="7123394" cy="19883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B20FF4-74C8-29B6-5EFA-AD453A24293C}"/>
              </a:ext>
            </a:extLst>
          </p:cNvPr>
          <p:cNvSpPr txBox="1"/>
          <p:nvPr/>
        </p:nvSpPr>
        <p:spPr>
          <a:xfrm>
            <a:off x="9998439" y="3429000"/>
            <a:ext cx="56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(8)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CDE31-F2A1-2BC3-7A5F-22E52A9FB001}"/>
              </a:ext>
            </a:extLst>
          </p:cNvPr>
          <p:cNvSpPr txBox="1"/>
          <p:nvPr/>
        </p:nvSpPr>
        <p:spPr>
          <a:xfrm>
            <a:off x="9998439" y="4353855"/>
            <a:ext cx="56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(9)</a:t>
            </a:r>
          </a:p>
        </p:txBody>
      </p:sp>
    </p:spTree>
    <p:extLst>
      <p:ext uri="{BB962C8B-B14F-4D97-AF65-F5344CB8AC3E}">
        <p14:creationId xmlns:p14="http://schemas.microsoft.com/office/powerpoint/2010/main" val="116943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0D966-6C6F-6182-5549-219F2DC65213}"/>
              </a:ext>
            </a:extLst>
          </p:cNvPr>
          <p:cNvSpPr txBox="1"/>
          <p:nvPr/>
        </p:nvSpPr>
        <p:spPr>
          <a:xfrm>
            <a:off x="329785" y="284813"/>
            <a:ext cx="4475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equation (9) is easy to solve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C970E-A8BF-3398-3466-3281A274D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35" y="881140"/>
            <a:ext cx="3944541" cy="902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35BCFB-DF5C-9B61-1A9D-5CC326D59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18" y="881140"/>
            <a:ext cx="2980317" cy="624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D03ECB-F0AC-6C43-EB8A-1585298C3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201" y="2306143"/>
            <a:ext cx="7997079" cy="426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9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D85B1B-DF8A-5D00-3785-AEFA9D37AA95}"/>
                  </a:ext>
                </a:extLst>
              </p:cNvPr>
              <p:cNvSpPr txBox="1"/>
              <p:nvPr/>
            </p:nvSpPr>
            <p:spPr>
              <a:xfrm>
                <a:off x="389744" y="0"/>
                <a:ext cx="11197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Legendre Polynomial of order l, defined by the Rodrigues formula: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D85B1B-DF8A-5D00-3785-AEFA9D37A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44" y="0"/>
                <a:ext cx="11197653" cy="461665"/>
              </a:xfrm>
              <a:prstGeom prst="rect">
                <a:avLst/>
              </a:prstGeom>
              <a:blipFill>
                <a:blip r:embed="rId2"/>
                <a:stretch>
                  <a:fillRect l="-16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CA61C56-C569-FB19-2C5C-CEC849FC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845" y="461665"/>
            <a:ext cx="3660411" cy="900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2EAE2B-7F83-3FF5-A430-283903405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1766"/>
            <a:ext cx="7332844" cy="2103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5B54E9-B32D-EC96-E23B-71C469862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487" y="3014472"/>
            <a:ext cx="4453612" cy="384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37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52D94-27F2-0B19-4A38-AC24C1B40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18" y="0"/>
            <a:ext cx="9997984" cy="2143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C0C68A-7645-F10E-0C50-D8B8AD04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8" y="2193492"/>
            <a:ext cx="9997984" cy="726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77B794-87C6-C726-AA80-AE702A160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54" y="3267117"/>
            <a:ext cx="4754727" cy="3590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BF2A0C-5B1A-6462-CC45-AD9B223A8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021" y="3118395"/>
            <a:ext cx="3611536" cy="37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08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253726-69D2-981A-7D2F-4A202F9B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40" y="0"/>
            <a:ext cx="7848832" cy="1645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52A843-BB16-45DA-6F0D-B1193377A32C}"/>
              </a:ext>
            </a:extLst>
          </p:cNvPr>
          <p:cNvSpPr txBox="1"/>
          <p:nvPr/>
        </p:nvSpPr>
        <p:spPr>
          <a:xfrm>
            <a:off x="629587" y="1645170"/>
            <a:ext cx="6071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normalization condition becomes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067F74-A9F1-E4BC-63EE-00B9DEAA4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076" y="2106835"/>
            <a:ext cx="8080824" cy="959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EF0997-4105-BAF2-965C-8654586D1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7" y="3290340"/>
            <a:ext cx="8531502" cy="190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4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4EE9E-4A6C-C911-FB13-2DAEBB4F0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53" y="0"/>
            <a:ext cx="9326142" cy="2367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8F9AFE-F759-EBC2-8C2B-7EE78568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682" y="2367041"/>
            <a:ext cx="7073808" cy="472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9CA91E-5C2D-DB82-F615-1546BF0C1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682" y="3175624"/>
            <a:ext cx="8004748" cy="331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6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2F4E7C-05DB-6BB3-3F45-0FD0ED5FD806}"/>
              </a:ext>
            </a:extLst>
          </p:cNvPr>
          <p:cNvSpPr txBox="1"/>
          <p:nvPr/>
        </p:nvSpPr>
        <p:spPr>
          <a:xfrm>
            <a:off x="4079823" y="0"/>
            <a:ext cx="403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Radial Equation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1B49B-29EB-675C-7D15-DA3C5B02E906}"/>
              </a:ext>
            </a:extLst>
          </p:cNvPr>
          <p:cNvSpPr txBox="1"/>
          <p:nvPr/>
        </p:nvSpPr>
        <p:spPr>
          <a:xfrm>
            <a:off x="1034321" y="1034321"/>
            <a:ext cx="992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radial part of the wavefunction is given by equation (4)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2A259-96DD-EEC6-E849-1F069F1B9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14" y="1431948"/>
            <a:ext cx="4566300" cy="7193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89BB6-2F98-A86B-8962-379D38CE4CAB}"/>
              </a:ext>
            </a:extLst>
          </p:cNvPr>
          <p:cNvSpPr txBox="1"/>
          <p:nvPr/>
        </p:nvSpPr>
        <p:spPr>
          <a:xfrm>
            <a:off x="1334125" y="2278505"/>
            <a:ext cx="326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can be written as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CDB543-D7E4-6B5F-C75C-93C943C77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980" y="2666495"/>
            <a:ext cx="4778805" cy="719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5D40D9-A3A9-FE5D-1674-2D9A898A6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804" y="3630650"/>
            <a:ext cx="5855778" cy="904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140AE2-9D6C-377F-D706-8C8CB6C18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102" y="4648727"/>
            <a:ext cx="5855778" cy="4384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816F96-A263-7B8E-1E7D-4230219C9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668" y="5410213"/>
            <a:ext cx="4444428" cy="6300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F64B5D-B302-4518-2D95-6C26DF4ADCF5}"/>
              </a:ext>
            </a:extLst>
          </p:cNvPr>
          <p:cNvSpPr txBox="1"/>
          <p:nvPr/>
        </p:nvSpPr>
        <p:spPr>
          <a:xfrm>
            <a:off x="8754256" y="1457145"/>
            <a:ext cx="76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3203617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ABC8C-A5BA-3F9D-3A62-ECC5CE102892}"/>
              </a:ext>
            </a:extLst>
          </p:cNvPr>
          <p:cNvSpPr txBox="1"/>
          <p:nvPr/>
        </p:nvSpPr>
        <p:spPr>
          <a:xfrm>
            <a:off x="899410" y="119922"/>
            <a:ext cx="519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the equation (4) can be written as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DF4F2-50D5-93E4-209F-E17AEFB7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536" y="714510"/>
            <a:ext cx="4860062" cy="10898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4426BE-DBCD-FE74-F6CC-AF4C94F6BF60}"/>
              </a:ext>
            </a:extLst>
          </p:cNvPr>
          <p:cNvSpPr txBox="1"/>
          <p:nvPr/>
        </p:nvSpPr>
        <p:spPr>
          <a:xfrm>
            <a:off x="9072978" y="1028593"/>
            <a:ext cx="710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(10)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CDA10-345B-84AF-45B4-C110870368BC}"/>
              </a:ext>
            </a:extLst>
          </p:cNvPr>
          <p:cNvSpPr txBox="1"/>
          <p:nvPr/>
        </p:nvSpPr>
        <p:spPr>
          <a:xfrm>
            <a:off x="1048871" y="1949824"/>
            <a:ext cx="9265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called the radial equation, it is identical to the one-dimensional Schrodinger equation with the effective potential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22D57-0040-BCEC-924F-F652A5BB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95" y="2757080"/>
            <a:ext cx="2924678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60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A0A9D7-0D62-A67C-AFD1-2D82D49B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45" y="3329909"/>
            <a:ext cx="7712108" cy="2780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2BA61E-2DCC-126B-D19A-FAD3867ECA7F}"/>
              </a:ext>
            </a:extLst>
          </p:cNvPr>
          <p:cNvSpPr txBox="1"/>
          <p:nvPr/>
        </p:nvSpPr>
        <p:spPr>
          <a:xfrm>
            <a:off x="1519517" y="66295"/>
            <a:ext cx="5553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the infinite square well potential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7C265-3F52-52C8-7B85-85009BE11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757" y="613604"/>
            <a:ext cx="3861856" cy="1383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AB1E5-4462-46EF-05A5-58926C9F97D3}"/>
              </a:ext>
            </a:extLst>
          </p:cNvPr>
          <p:cNvSpPr txBox="1"/>
          <p:nvPr/>
        </p:nvSpPr>
        <p:spPr>
          <a:xfrm>
            <a:off x="1863943" y="2432497"/>
            <a:ext cx="8767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Outside the well, the wavefunction is zero, and inside the well </a:t>
            </a:r>
          </a:p>
        </p:txBody>
      </p:sp>
    </p:spTree>
    <p:extLst>
      <p:ext uri="{BB962C8B-B14F-4D97-AF65-F5344CB8AC3E}">
        <p14:creationId xmlns:p14="http://schemas.microsoft.com/office/powerpoint/2010/main" val="1288158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E6EBD-785B-4C59-DB4C-A541E979F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55" y="155427"/>
            <a:ext cx="10642186" cy="1948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3F509-B388-E473-717F-3B44A6D8D77A}"/>
                  </a:ext>
                </a:extLst>
              </p:cNvPr>
              <p:cNvSpPr txBox="1"/>
              <p:nvPr/>
            </p:nvSpPr>
            <p:spPr>
              <a:xfrm>
                <a:off x="1142999" y="2286000"/>
                <a:ext cx="10548891" cy="1379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But the actual radial wave function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𝑘𝑟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blows up as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, so we must choose B=0. The boundary condition then requires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𝑘𝑎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2400" dirty="0"/>
                  <a:t> 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for some integer n. The allowed energies are evidently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3F509-B388-E473-717F-3B44A6D8D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99" y="2286000"/>
                <a:ext cx="10548891" cy="1379417"/>
              </a:xfrm>
              <a:prstGeom prst="rect">
                <a:avLst/>
              </a:prstGeom>
              <a:blipFill>
                <a:blip r:embed="rId3"/>
                <a:stretch>
                  <a:fillRect l="-867" b="-9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8AB0B9-AAF0-7306-1E5A-C260F8752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396" y="3665417"/>
            <a:ext cx="4317208" cy="7864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B00F59B-3CFF-B383-C8B0-255DACF91221}"/>
              </a:ext>
            </a:extLst>
          </p:cNvPr>
          <p:cNvGrpSpPr/>
          <p:nvPr/>
        </p:nvGrpSpPr>
        <p:grpSpPr>
          <a:xfrm>
            <a:off x="1233996" y="4563122"/>
            <a:ext cx="10312545" cy="539571"/>
            <a:chOff x="1233996" y="4563122"/>
            <a:chExt cx="10312545" cy="539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749ABED-02F8-E279-C5F5-985267F198C1}"/>
                    </a:ext>
                  </a:extLst>
                </p:cNvPr>
                <p:cNvSpPr txBox="1"/>
                <p:nvPr/>
              </p:nvSpPr>
              <p:spPr>
                <a:xfrm>
                  <a:off x="1233996" y="4563122"/>
                  <a:ext cx="9756559" cy="5395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Normalizing u(r) yields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a14:m>
                  <a:r>
                    <a:rPr lang="en-US" sz="2400" dirty="0"/>
                    <a:t> and the angular part for l=0 give 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749ABED-02F8-E279-C5F5-985267F198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996" y="4563122"/>
                  <a:ext cx="9756559" cy="539571"/>
                </a:xfrm>
                <a:prstGeom prst="rect">
                  <a:avLst/>
                </a:prstGeom>
                <a:blipFill>
                  <a:blip r:embed="rId5"/>
                  <a:stretch>
                    <a:fillRect l="-937"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4B4E6B-FACA-BBE9-D680-CC51DDC1E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36709" y="4714044"/>
              <a:ext cx="1909832" cy="31153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A0C05C-31B1-FBA4-0F5D-66AA9E77696B}"/>
              </a:ext>
            </a:extLst>
          </p:cNvPr>
          <p:cNvSpPr txBox="1"/>
          <p:nvPr/>
        </p:nvSpPr>
        <p:spPr>
          <a:xfrm>
            <a:off x="1731146" y="5553700"/>
            <a:ext cx="3124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the final solution is,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A61E2D-AEDE-8B69-1963-E78F59E01A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4848" y="5349528"/>
            <a:ext cx="2827536" cy="87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46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210C0-DEDA-B074-27AB-EB599DF37D8E}"/>
              </a:ext>
            </a:extLst>
          </p:cNvPr>
          <p:cNvSpPr txBox="1"/>
          <p:nvPr/>
        </p:nvSpPr>
        <p:spPr>
          <a:xfrm>
            <a:off x="328474" y="0"/>
            <a:ext cx="884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general solution of equation (10) for arbitrary quantum number is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FC660-421E-6B60-3602-9A38AE23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885" y="551155"/>
            <a:ext cx="3577795" cy="379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53FBBC-AE3C-E57A-CA79-1D0ABEC2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87" y="1187709"/>
            <a:ext cx="9832226" cy="792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F3E24C-34ED-D6A5-0FC3-6481066E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341" y="2186121"/>
            <a:ext cx="8021317" cy="101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169748-F355-5847-DBE2-7AA3FAAF9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743" y="3317380"/>
            <a:ext cx="8023951" cy="336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5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251527-923F-8F1A-5712-739D5098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74" y="0"/>
            <a:ext cx="6027938" cy="566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673313-819C-534B-1DB8-2421C5E3F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078" y="8878"/>
            <a:ext cx="1970313" cy="16068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BF3666-DE4A-3728-26EF-62E039F24CC0}"/>
              </a:ext>
            </a:extLst>
          </p:cNvPr>
          <p:cNvSpPr txBox="1"/>
          <p:nvPr/>
        </p:nvSpPr>
        <p:spPr>
          <a:xfrm>
            <a:off x="426128" y="683581"/>
            <a:ext cx="9561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Hydrogen atom: one negatively charged electron is traveling around one positive charge proton. From Coulomb’s law the potential of the system is: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06EAA9-84C0-B38F-A51C-B8C4BC0B1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111" y="1514578"/>
            <a:ext cx="2524465" cy="956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7D7F2D-6775-DAD9-70E0-1BC22B8A8E19}"/>
              </a:ext>
            </a:extLst>
          </p:cNvPr>
          <p:cNvSpPr txBox="1"/>
          <p:nvPr/>
        </p:nvSpPr>
        <p:spPr>
          <a:xfrm>
            <a:off x="559293" y="2471217"/>
            <a:ext cx="10111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the radial equation (10) becomes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39444A-57DF-D807-288A-1F85B44F4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444" y="2974868"/>
            <a:ext cx="6696263" cy="10855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F30801-176E-39BC-EF0D-F8DE1285E681}"/>
              </a:ext>
            </a:extLst>
          </p:cNvPr>
          <p:cNvSpPr txBox="1"/>
          <p:nvPr/>
        </p:nvSpPr>
        <p:spPr>
          <a:xfrm>
            <a:off x="10726156" y="3320249"/>
            <a:ext cx="93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(11)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B42F77-94B2-12C3-3A52-9CED24558018}"/>
              </a:ext>
            </a:extLst>
          </p:cNvPr>
          <p:cNvSpPr txBox="1"/>
          <p:nvPr/>
        </p:nvSpPr>
        <p:spPr>
          <a:xfrm>
            <a:off x="772357" y="4456590"/>
            <a:ext cx="10564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need to solve the above equation (11) to find the energy level of the electron in the hydrogen atom.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40A39C-5271-A953-5015-12766C77A28C}"/>
              </a:ext>
            </a:extLst>
          </p:cNvPr>
          <p:cNvSpPr txBox="1"/>
          <p:nvPr/>
        </p:nvSpPr>
        <p:spPr>
          <a:xfrm>
            <a:off x="2947386" y="5459767"/>
            <a:ext cx="72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2A8378-A15F-8D12-5338-511C0060F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825" y="5127656"/>
            <a:ext cx="1743862" cy="9128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3C4E1A-B024-86F8-4282-ECD9D217F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381" y="6056462"/>
            <a:ext cx="5341953" cy="45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40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B8964-E424-D828-31D6-228FB1E12FF8}"/>
              </a:ext>
            </a:extLst>
          </p:cNvPr>
          <p:cNvSpPr txBox="1"/>
          <p:nvPr/>
        </p:nvSpPr>
        <p:spPr>
          <a:xfrm>
            <a:off x="594803" y="35484"/>
            <a:ext cx="888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Dividing equation (11) by E and introducing k instead of E we have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5D810-5727-5CF0-69AD-32D9A328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559" y="805060"/>
            <a:ext cx="6420659" cy="1032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588FB-A87F-DF21-9D84-A464C9E7D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539" y="2546479"/>
            <a:ext cx="7716811" cy="304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91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85F44D-331C-A0DC-4629-93F23AAB1842}"/>
                  </a:ext>
                </a:extLst>
              </p:cNvPr>
              <p:cNvSpPr txBox="1"/>
              <p:nvPr/>
            </p:nvSpPr>
            <p:spPr>
              <a:xfrm>
                <a:off x="1371600" y="0"/>
                <a:ext cx="65314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400" dirty="0"/>
                  <a:t> that is large distance from the nucleus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85F44D-331C-A0DC-4629-93F23AAB1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0"/>
                <a:ext cx="6531428" cy="461665"/>
              </a:xfrm>
              <a:prstGeom prst="rect">
                <a:avLst/>
              </a:prstGeom>
              <a:blipFill>
                <a:blip r:embed="rId2"/>
                <a:stretch>
                  <a:fillRect l="-140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F1180F0-6CB2-F2FE-D7B9-AAB2933C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914" y="461665"/>
            <a:ext cx="6669645" cy="32283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62422C-5550-0656-672F-8CE028E10BF0}"/>
                  </a:ext>
                </a:extLst>
              </p:cNvPr>
              <p:cNvSpPr txBox="1"/>
              <p:nvPr/>
            </p:nvSpPr>
            <p:spPr>
              <a:xfrm>
                <a:off x="2195804" y="3814403"/>
                <a:ext cx="65314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 that is very close to nucleus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62422C-5550-0656-672F-8CE028E1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804" y="3814403"/>
                <a:ext cx="6531428" cy="461665"/>
              </a:xfrm>
              <a:prstGeom prst="rect">
                <a:avLst/>
              </a:prstGeom>
              <a:blipFill>
                <a:blip r:embed="rId4"/>
                <a:stretch>
                  <a:fillRect l="-1399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693D0DC-22E1-FC2B-FD15-378FAEA1A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696" y="4615819"/>
            <a:ext cx="2965620" cy="111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95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117C3-2CE6-50E6-4C58-0C2248CBD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762" y="168340"/>
            <a:ext cx="6889332" cy="28827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0B80AF-DD98-E427-EDA6-DD360E8498FD}"/>
                  </a:ext>
                </a:extLst>
              </p:cNvPr>
              <p:cNvSpPr txBox="1"/>
              <p:nvPr/>
            </p:nvSpPr>
            <p:spPr>
              <a:xfrm>
                <a:off x="1767761" y="3198167"/>
                <a:ext cx="99141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Now let us do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intermediate solution, </a:t>
                </a:r>
                <a:r>
                  <a:rPr lang="en-US" sz="2400" dirty="0">
                    <a:solidFill>
                      <a:schemeClr val="tx1"/>
                    </a:solidFill>
                  </a:rPr>
                  <a:t>let us introduce a new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0B80AF-DD98-E427-EDA6-DD360E849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761" y="3198167"/>
                <a:ext cx="9914165" cy="461665"/>
              </a:xfrm>
              <a:prstGeom prst="rect">
                <a:avLst/>
              </a:prstGeom>
              <a:blipFill>
                <a:blip r:embed="rId3"/>
                <a:stretch>
                  <a:fillRect l="-984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6A73A47-5638-9CE6-69AB-B80E9E226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343" y="3659832"/>
            <a:ext cx="2919771" cy="607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86D09C-3F68-9037-FC5B-5655EC20D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534" y="4890310"/>
            <a:ext cx="5134345" cy="11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29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7F7C6-F598-41AF-415F-B586ACBF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79" y="164452"/>
            <a:ext cx="9640852" cy="10517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428A6D-454C-365D-BACF-ACD0FD7A918D}"/>
              </a:ext>
            </a:extLst>
          </p:cNvPr>
          <p:cNvSpPr txBox="1"/>
          <p:nvPr/>
        </p:nvSpPr>
        <p:spPr>
          <a:xfrm>
            <a:off x="998376" y="1520889"/>
            <a:ext cx="541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the radial equation (11) becomes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63171-D5F4-B6D5-9D9C-48D421D79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087" y="2171556"/>
            <a:ext cx="6749826" cy="960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9DC349-68FB-9152-AA45-D401D24ED44E}"/>
              </a:ext>
            </a:extLst>
          </p:cNvPr>
          <p:cNvSpPr txBox="1"/>
          <p:nvPr/>
        </p:nvSpPr>
        <p:spPr>
          <a:xfrm>
            <a:off x="10702212" y="2420999"/>
            <a:ext cx="895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(12)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4D3706-2CF6-699C-8064-26A85AA33DD1}"/>
              </a:ext>
            </a:extLst>
          </p:cNvPr>
          <p:cNvSpPr txBox="1"/>
          <p:nvPr/>
        </p:nvSpPr>
        <p:spPr>
          <a:xfrm>
            <a:off x="1341279" y="3429000"/>
            <a:ext cx="9293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us assume the solution of equation (12) as power series as follows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34389E-0DD5-78C5-93AE-664DBD477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74" y="4195372"/>
            <a:ext cx="2518792" cy="106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80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F841E-0969-E38E-C6C3-9717F8094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720" y="107886"/>
            <a:ext cx="5511797" cy="1153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3D0FA3-4B88-FB6F-E8EE-6B7D1F620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32" y="1312680"/>
            <a:ext cx="10318736" cy="357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44F47E-212C-3B2C-26C2-FAABF60BA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814" y="1865808"/>
            <a:ext cx="4336372" cy="1250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C763B2-4DD9-FF39-D3B7-7DEDB358E342}"/>
              </a:ext>
            </a:extLst>
          </p:cNvPr>
          <p:cNvSpPr txBox="1"/>
          <p:nvPr/>
        </p:nvSpPr>
        <p:spPr>
          <a:xfrm>
            <a:off x="2351316" y="3198167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Inserting this in equation (12) yields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6824E6-E41E-8CD1-5F37-F7474D4A9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387" y="3907405"/>
            <a:ext cx="6244282" cy="25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35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54C541-DA20-1B4E-891D-31CCDE96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64" y="179225"/>
            <a:ext cx="9922072" cy="1509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F43F76-1CB6-9DAD-5B2A-ADCAE517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670" y="1688841"/>
            <a:ext cx="7456964" cy="1340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37DDC9-5441-7B4A-A073-7D472C07164C}"/>
              </a:ext>
            </a:extLst>
          </p:cNvPr>
          <p:cNvSpPr txBox="1"/>
          <p:nvPr/>
        </p:nvSpPr>
        <p:spPr>
          <a:xfrm>
            <a:off x="1609670" y="3029145"/>
            <a:ext cx="3970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Eventually this becomes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4977E3-AA9E-73FF-9840-7C4EEF7FF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688" y="3630483"/>
            <a:ext cx="6163615" cy="29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61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3916B-CB9C-426A-648D-7C5085D1B467}"/>
              </a:ext>
            </a:extLst>
          </p:cNvPr>
          <p:cNvSpPr txBox="1"/>
          <p:nvPr/>
        </p:nvSpPr>
        <p:spPr>
          <a:xfrm>
            <a:off x="1558213" y="149290"/>
            <a:ext cx="3629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the energy E becomes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65C73-FE00-0158-F55C-3DE466AF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25" y="925869"/>
            <a:ext cx="8472751" cy="3282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DAD9D6-2DBE-0125-347E-23F8ED233D84}"/>
              </a:ext>
            </a:extLst>
          </p:cNvPr>
          <p:cNvSpPr txBox="1"/>
          <p:nvPr/>
        </p:nvSpPr>
        <p:spPr>
          <a:xfrm>
            <a:off x="1374710" y="4450702"/>
            <a:ext cx="9442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the famous Bohr formula for the energy level of the hydrogen atom</a:t>
            </a:r>
          </a:p>
        </p:txBody>
      </p:sp>
    </p:spTree>
    <p:extLst>
      <p:ext uri="{BB962C8B-B14F-4D97-AF65-F5344CB8AC3E}">
        <p14:creationId xmlns:p14="http://schemas.microsoft.com/office/powerpoint/2010/main" val="56793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7DB60E-C4DD-F8DD-AECA-BC306FA70B16}"/>
              </a:ext>
            </a:extLst>
          </p:cNvPr>
          <p:cNvSpPr txBox="1"/>
          <p:nvPr/>
        </p:nvSpPr>
        <p:spPr>
          <a:xfrm>
            <a:off x="1306285" y="205273"/>
            <a:ext cx="4789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the ground state energy n=1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BFF47-DAA3-163D-20CA-0C7FB928B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57" y="886311"/>
            <a:ext cx="5642085" cy="12877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966866-CD9C-9D0B-49A4-B9DD7B1BFB73}"/>
              </a:ext>
            </a:extLst>
          </p:cNvPr>
          <p:cNvSpPr txBox="1"/>
          <p:nvPr/>
        </p:nvSpPr>
        <p:spPr>
          <a:xfrm>
            <a:off x="2018521" y="2458624"/>
            <a:ext cx="4789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ground state wave function 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94193-527B-9E5F-5ECB-E23F32304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378" y="2852056"/>
            <a:ext cx="3998392" cy="10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2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678</Words>
  <Application>Microsoft Office PowerPoint</Application>
  <PresentationFormat>Widescreen</PresentationFormat>
  <Paragraphs>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akabir</cp:lastModifiedBy>
  <cp:revision>13</cp:revision>
  <dcterms:created xsi:type="dcterms:W3CDTF">2023-04-12T09:48:30Z</dcterms:created>
  <dcterms:modified xsi:type="dcterms:W3CDTF">2025-01-17T14:40:37Z</dcterms:modified>
</cp:coreProperties>
</file>