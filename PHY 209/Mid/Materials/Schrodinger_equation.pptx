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s/slide56.xml" ContentType="application/vnd.openxmlformats-officedocument.presentationml.slide+xml"/>
  <Override PartName="/ppt/slides/slide5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306" r:id="rId9"/>
    <p:sldId id="263" r:id="rId10"/>
    <p:sldId id="264" r:id="rId11"/>
    <p:sldId id="265" r:id="rId12"/>
    <p:sldId id="274" r:id="rId13"/>
    <p:sldId id="266" r:id="rId14"/>
    <p:sldId id="267" r:id="rId15"/>
    <p:sldId id="268" r:id="rId16"/>
    <p:sldId id="269" r:id="rId17"/>
    <p:sldId id="270" r:id="rId18"/>
    <p:sldId id="271" r:id="rId19"/>
    <p:sldId id="272" r:id="rId20"/>
    <p:sldId id="273" r:id="rId21"/>
    <p:sldId id="288" r:id="rId22"/>
    <p:sldId id="289" r:id="rId23"/>
    <p:sldId id="290" r:id="rId24"/>
    <p:sldId id="291" r:id="rId25"/>
    <p:sldId id="292" r:id="rId26"/>
    <p:sldId id="275" r:id="rId27"/>
    <p:sldId id="276" r:id="rId28"/>
    <p:sldId id="277" r:id="rId29"/>
    <p:sldId id="278" r:id="rId30"/>
    <p:sldId id="279" r:id="rId31"/>
    <p:sldId id="280" r:id="rId32"/>
    <p:sldId id="281" r:id="rId33"/>
    <p:sldId id="293" r:id="rId34"/>
    <p:sldId id="294" r:id="rId35"/>
    <p:sldId id="295" r:id="rId36"/>
    <p:sldId id="296" r:id="rId37"/>
    <p:sldId id="297" r:id="rId38"/>
    <p:sldId id="298" r:id="rId39"/>
    <p:sldId id="299" r:id="rId40"/>
    <p:sldId id="300" r:id="rId41"/>
    <p:sldId id="301" r:id="rId42"/>
    <p:sldId id="302" r:id="rId43"/>
    <p:sldId id="303" r:id="rId44"/>
    <p:sldId id="304" r:id="rId45"/>
    <p:sldId id="305" r:id="rId46"/>
    <p:sldId id="307" r:id="rId47"/>
    <p:sldId id="308" r:id="rId48"/>
    <p:sldId id="309" r:id="rId49"/>
    <p:sldId id="310" r:id="rId50"/>
    <p:sldId id="312" r:id="rId51"/>
    <p:sldId id="313" r:id="rId52"/>
    <p:sldId id="314" r:id="rId53"/>
    <p:sldId id="315" r:id="rId54"/>
    <p:sldId id="316" r:id="rId55"/>
    <p:sldId id="317" r:id="rId56"/>
    <p:sldId id="318" r:id="rId57"/>
    <p:sldId id="319" r:id="rId58"/>
    <p:sldId id="320" r:id="rId59"/>
    <p:sldId id="321" r:id="rId60"/>
    <p:sldId id="322" r:id="rId61"/>
    <p:sldId id="311" r:id="rId62"/>
  </p:sldIdLst>
  <p:sldSz cx="12192000" cy="6858000"/>
  <p:notesSz cx="6742113" cy="98758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napToGrid="0">
      <p:cViewPr varScale="1">
        <p:scale>
          <a:sx n="110" d="100"/>
          <a:sy n="110" d="100"/>
        </p:scale>
        <p:origin x="-558" y="-90"/>
      </p:cViewPr>
      <p:guideLst>
        <p:guide orient="horz" pos="2160"/>
        <p:guide pos="384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2A1E1BE-8EC0-4D1B-27AD-D8722564FAB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xmlns="" id="{4214A2B9-13E1-91E1-7004-B02FFE1B965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xmlns="" id="{29B4429F-99D7-9B3A-96EC-9C643C120F13}"/>
              </a:ext>
            </a:extLst>
          </p:cNvPr>
          <p:cNvSpPr>
            <a:spLocks noGrp="1"/>
          </p:cNvSpPr>
          <p:nvPr>
            <p:ph type="dt" sz="half" idx="10"/>
          </p:nvPr>
        </p:nvSpPr>
        <p:spPr/>
        <p:txBody>
          <a:bodyPr/>
          <a:lstStyle/>
          <a:p>
            <a:fld id="{AB4D53FB-4DE4-4A13-AE06-C65A673D835C}" type="datetimeFigureOut">
              <a:rPr lang="en-US" smtClean="0"/>
              <a:pPr/>
              <a:t>3/7/2026</a:t>
            </a:fld>
            <a:endParaRPr lang="en-US"/>
          </a:p>
        </p:txBody>
      </p:sp>
      <p:sp>
        <p:nvSpPr>
          <p:cNvPr id="5" name="Footer Placeholder 4">
            <a:extLst>
              <a:ext uri="{FF2B5EF4-FFF2-40B4-BE49-F238E27FC236}">
                <a16:creationId xmlns:a16="http://schemas.microsoft.com/office/drawing/2014/main" xmlns="" id="{4AF6F5E2-5C6A-082D-80BA-146C533E07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45920D40-B262-591E-1C52-8FFD9B4E1723}"/>
              </a:ext>
            </a:extLst>
          </p:cNvPr>
          <p:cNvSpPr>
            <a:spLocks noGrp="1"/>
          </p:cNvSpPr>
          <p:nvPr>
            <p:ph type="sldNum" sz="quarter" idx="12"/>
          </p:nvPr>
        </p:nvSpPr>
        <p:spPr/>
        <p:txBody>
          <a:bodyPr/>
          <a:lstStyle/>
          <a:p>
            <a:fld id="{06095435-4D6B-4798-8876-B0B4ACA925B0}" type="slidenum">
              <a:rPr lang="en-US" smtClean="0"/>
              <a:pPr/>
              <a:t>‹#›</a:t>
            </a:fld>
            <a:endParaRPr lang="en-US"/>
          </a:p>
        </p:txBody>
      </p:sp>
    </p:spTree>
    <p:extLst>
      <p:ext uri="{BB962C8B-B14F-4D97-AF65-F5344CB8AC3E}">
        <p14:creationId xmlns:p14="http://schemas.microsoft.com/office/powerpoint/2010/main" xmlns="" val="36599529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A34EFB2-AE35-B773-2229-3B34ACC98CE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D3F3B0AB-210E-E3E5-B94B-7F02770A2D1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1CE2D05E-6D7C-AD04-0409-7138E0FC7B49}"/>
              </a:ext>
            </a:extLst>
          </p:cNvPr>
          <p:cNvSpPr>
            <a:spLocks noGrp="1"/>
          </p:cNvSpPr>
          <p:nvPr>
            <p:ph type="dt" sz="half" idx="10"/>
          </p:nvPr>
        </p:nvSpPr>
        <p:spPr/>
        <p:txBody>
          <a:bodyPr/>
          <a:lstStyle/>
          <a:p>
            <a:fld id="{AB4D53FB-4DE4-4A13-AE06-C65A673D835C}" type="datetimeFigureOut">
              <a:rPr lang="en-US" smtClean="0"/>
              <a:pPr/>
              <a:t>3/7/2026</a:t>
            </a:fld>
            <a:endParaRPr lang="en-US"/>
          </a:p>
        </p:txBody>
      </p:sp>
      <p:sp>
        <p:nvSpPr>
          <p:cNvPr id="5" name="Footer Placeholder 4">
            <a:extLst>
              <a:ext uri="{FF2B5EF4-FFF2-40B4-BE49-F238E27FC236}">
                <a16:creationId xmlns:a16="http://schemas.microsoft.com/office/drawing/2014/main" xmlns="" id="{213A7C7C-3593-C08B-3326-0E379EDB13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EF6CF71E-FDA8-8921-9BEE-466C69D8355A}"/>
              </a:ext>
            </a:extLst>
          </p:cNvPr>
          <p:cNvSpPr>
            <a:spLocks noGrp="1"/>
          </p:cNvSpPr>
          <p:nvPr>
            <p:ph type="sldNum" sz="quarter" idx="12"/>
          </p:nvPr>
        </p:nvSpPr>
        <p:spPr/>
        <p:txBody>
          <a:bodyPr/>
          <a:lstStyle/>
          <a:p>
            <a:fld id="{06095435-4D6B-4798-8876-B0B4ACA925B0}" type="slidenum">
              <a:rPr lang="en-US" smtClean="0"/>
              <a:pPr/>
              <a:t>‹#›</a:t>
            </a:fld>
            <a:endParaRPr lang="en-US"/>
          </a:p>
        </p:txBody>
      </p:sp>
    </p:spTree>
    <p:extLst>
      <p:ext uri="{BB962C8B-B14F-4D97-AF65-F5344CB8AC3E}">
        <p14:creationId xmlns:p14="http://schemas.microsoft.com/office/powerpoint/2010/main" xmlns="" val="11648290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8C2BB9A-D0D7-64D2-A3A5-E7C966914F0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xmlns="" id="{5BEEA013-9B58-AD44-7E26-CCDE01C63A9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242E7B03-9F31-B542-836A-11A0F7512867}"/>
              </a:ext>
            </a:extLst>
          </p:cNvPr>
          <p:cNvSpPr>
            <a:spLocks noGrp="1"/>
          </p:cNvSpPr>
          <p:nvPr>
            <p:ph type="dt" sz="half" idx="10"/>
          </p:nvPr>
        </p:nvSpPr>
        <p:spPr/>
        <p:txBody>
          <a:bodyPr/>
          <a:lstStyle/>
          <a:p>
            <a:fld id="{AB4D53FB-4DE4-4A13-AE06-C65A673D835C}" type="datetimeFigureOut">
              <a:rPr lang="en-US" smtClean="0"/>
              <a:pPr/>
              <a:t>3/7/2026</a:t>
            </a:fld>
            <a:endParaRPr lang="en-US"/>
          </a:p>
        </p:txBody>
      </p:sp>
      <p:sp>
        <p:nvSpPr>
          <p:cNvPr id="5" name="Footer Placeholder 4">
            <a:extLst>
              <a:ext uri="{FF2B5EF4-FFF2-40B4-BE49-F238E27FC236}">
                <a16:creationId xmlns:a16="http://schemas.microsoft.com/office/drawing/2014/main" xmlns="" id="{E9A7EC52-5025-DE92-EED5-3378800A43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A7CEC1D7-55EC-C526-A5AF-C66DB4F1BCF4}"/>
              </a:ext>
            </a:extLst>
          </p:cNvPr>
          <p:cNvSpPr>
            <a:spLocks noGrp="1"/>
          </p:cNvSpPr>
          <p:nvPr>
            <p:ph type="sldNum" sz="quarter" idx="12"/>
          </p:nvPr>
        </p:nvSpPr>
        <p:spPr/>
        <p:txBody>
          <a:bodyPr/>
          <a:lstStyle/>
          <a:p>
            <a:fld id="{06095435-4D6B-4798-8876-B0B4ACA925B0}" type="slidenum">
              <a:rPr lang="en-US" smtClean="0"/>
              <a:pPr/>
              <a:t>‹#›</a:t>
            </a:fld>
            <a:endParaRPr lang="en-US"/>
          </a:p>
        </p:txBody>
      </p:sp>
    </p:spTree>
    <p:extLst>
      <p:ext uri="{BB962C8B-B14F-4D97-AF65-F5344CB8AC3E}">
        <p14:creationId xmlns:p14="http://schemas.microsoft.com/office/powerpoint/2010/main" xmlns="" val="14584542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83765EE-E8B9-4A3A-4097-44DACA5757E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FA4BD380-13D4-A0C7-212B-141A4F27A57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xmlns="" id="{3E9D0754-8FAD-6590-D69D-45E3DC74543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xmlns="" id="{7D74AF16-8DE8-05F8-146B-C3C9528CF4BF}"/>
              </a:ext>
            </a:extLst>
          </p:cNvPr>
          <p:cNvSpPr>
            <a:spLocks noGrp="1"/>
          </p:cNvSpPr>
          <p:nvPr>
            <p:ph type="dt" sz="half" idx="10"/>
          </p:nvPr>
        </p:nvSpPr>
        <p:spPr/>
        <p:txBody>
          <a:bodyPr/>
          <a:lstStyle/>
          <a:p>
            <a:fld id="{AB4D53FB-4DE4-4A13-AE06-C65A673D835C}" type="datetimeFigureOut">
              <a:rPr lang="en-US" smtClean="0"/>
              <a:pPr/>
              <a:t>3/7/2026</a:t>
            </a:fld>
            <a:endParaRPr lang="en-US"/>
          </a:p>
        </p:txBody>
      </p:sp>
      <p:sp>
        <p:nvSpPr>
          <p:cNvPr id="6" name="Footer Placeholder 5">
            <a:extLst>
              <a:ext uri="{FF2B5EF4-FFF2-40B4-BE49-F238E27FC236}">
                <a16:creationId xmlns:a16="http://schemas.microsoft.com/office/drawing/2014/main" xmlns="" id="{9A50AE51-E5FF-17FE-2C80-A635254206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1BD370DC-EA72-03ED-06E4-64E4CA374DD8}"/>
              </a:ext>
            </a:extLst>
          </p:cNvPr>
          <p:cNvSpPr>
            <a:spLocks noGrp="1"/>
          </p:cNvSpPr>
          <p:nvPr>
            <p:ph type="sldNum" sz="quarter" idx="12"/>
          </p:nvPr>
        </p:nvSpPr>
        <p:spPr/>
        <p:txBody>
          <a:bodyPr/>
          <a:lstStyle/>
          <a:p>
            <a:fld id="{06095435-4D6B-4798-8876-B0B4ACA925B0}" type="slidenum">
              <a:rPr lang="en-US" smtClean="0"/>
              <a:pPr/>
              <a:t>‹#›</a:t>
            </a:fld>
            <a:endParaRPr lang="en-US"/>
          </a:p>
        </p:txBody>
      </p:sp>
    </p:spTree>
    <p:extLst>
      <p:ext uri="{BB962C8B-B14F-4D97-AF65-F5344CB8AC3E}">
        <p14:creationId xmlns:p14="http://schemas.microsoft.com/office/powerpoint/2010/main" xmlns="" val="28202177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33631ED-2AE2-72AD-389B-6E6705CF8F6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xmlns="" id="{AAB737B3-111D-9BCC-3CEA-19B59C20D89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87815E0F-73A8-A9B2-C1AB-1FFB28FE7D8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xmlns="" id="{D7FB425C-3B50-09AB-BCC5-ED636AB9419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F53D0EA0-2D77-B9A0-525E-59FB34ECE33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xmlns="" id="{F257B69D-DBF2-7D57-CD43-0078A3F764EB}"/>
              </a:ext>
            </a:extLst>
          </p:cNvPr>
          <p:cNvSpPr>
            <a:spLocks noGrp="1"/>
          </p:cNvSpPr>
          <p:nvPr>
            <p:ph type="dt" sz="half" idx="10"/>
          </p:nvPr>
        </p:nvSpPr>
        <p:spPr/>
        <p:txBody>
          <a:bodyPr/>
          <a:lstStyle/>
          <a:p>
            <a:fld id="{AB4D53FB-4DE4-4A13-AE06-C65A673D835C}" type="datetimeFigureOut">
              <a:rPr lang="en-US" smtClean="0"/>
              <a:pPr/>
              <a:t>3/7/2026</a:t>
            </a:fld>
            <a:endParaRPr lang="en-US"/>
          </a:p>
        </p:txBody>
      </p:sp>
      <p:sp>
        <p:nvSpPr>
          <p:cNvPr id="8" name="Footer Placeholder 7">
            <a:extLst>
              <a:ext uri="{FF2B5EF4-FFF2-40B4-BE49-F238E27FC236}">
                <a16:creationId xmlns:a16="http://schemas.microsoft.com/office/drawing/2014/main" xmlns="" id="{36FB6570-D270-8CB7-99B8-114A25D4A99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xmlns="" id="{6F8ADA64-FFBD-5AD2-B494-2F7E4A3E1B19}"/>
              </a:ext>
            </a:extLst>
          </p:cNvPr>
          <p:cNvSpPr>
            <a:spLocks noGrp="1"/>
          </p:cNvSpPr>
          <p:nvPr>
            <p:ph type="sldNum" sz="quarter" idx="12"/>
          </p:nvPr>
        </p:nvSpPr>
        <p:spPr/>
        <p:txBody>
          <a:bodyPr/>
          <a:lstStyle/>
          <a:p>
            <a:fld id="{06095435-4D6B-4798-8876-B0B4ACA925B0}" type="slidenum">
              <a:rPr lang="en-US" smtClean="0"/>
              <a:pPr/>
              <a:t>‹#›</a:t>
            </a:fld>
            <a:endParaRPr lang="en-US"/>
          </a:p>
        </p:txBody>
      </p:sp>
    </p:spTree>
    <p:extLst>
      <p:ext uri="{BB962C8B-B14F-4D97-AF65-F5344CB8AC3E}">
        <p14:creationId xmlns:p14="http://schemas.microsoft.com/office/powerpoint/2010/main" xmlns="" val="10375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774C372-870C-55FE-BCFF-CE28BC452FE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xmlns="" id="{5027E4FA-6C6E-2902-1A1D-CFEEB5D54B82}"/>
              </a:ext>
            </a:extLst>
          </p:cNvPr>
          <p:cNvSpPr>
            <a:spLocks noGrp="1"/>
          </p:cNvSpPr>
          <p:nvPr>
            <p:ph type="dt" sz="half" idx="10"/>
          </p:nvPr>
        </p:nvSpPr>
        <p:spPr/>
        <p:txBody>
          <a:bodyPr/>
          <a:lstStyle/>
          <a:p>
            <a:fld id="{AB4D53FB-4DE4-4A13-AE06-C65A673D835C}" type="datetimeFigureOut">
              <a:rPr lang="en-US" smtClean="0"/>
              <a:pPr/>
              <a:t>3/7/2026</a:t>
            </a:fld>
            <a:endParaRPr lang="en-US"/>
          </a:p>
        </p:txBody>
      </p:sp>
      <p:sp>
        <p:nvSpPr>
          <p:cNvPr id="4" name="Footer Placeholder 3">
            <a:extLst>
              <a:ext uri="{FF2B5EF4-FFF2-40B4-BE49-F238E27FC236}">
                <a16:creationId xmlns:a16="http://schemas.microsoft.com/office/drawing/2014/main" xmlns="" id="{D31BF5A5-8325-A1DF-CE62-1C71798DC03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xmlns="" id="{F2C58FD6-BCF1-A582-11DC-A4B8A9025163}"/>
              </a:ext>
            </a:extLst>
          </p:cNvPr>
          <p:cNvSpPr>
            <a:spLocks noGrp="1"/>
          </p:cNvSpPr>
          <p:nvPr>
            <p:ph type="sldNum" sz="quarter" idx="12"/>
          </p:nvPr>
        </p:nvSpPr>
        <p:spPr/>
        <p:txBody>
          <a:bodyPr/>
          <a:lstStyle/>
          <a:p>
            <a:fld id="{06095435-4D6B-4798-8876-B0B4ACA925B0}" type="slidenum">
              <a:rPr lang="en-US" smtClean="0"/>
              <a:pPr/>
              <a:t>‹#›</a:t>
            </a:fld>
            <a:endParaRPr lang="en-US"/>
          </a:p>
        </p:txBody>
      </p:sp>
    </p:spTree>
    <p:extLst>
      <p:ext uri="{BB962C8B-B14F-4D97-AF65-F5344CB8AC3E}">
        <p14:creationId xmlns:p14="http://schemas.microsoft.com/office/powerpoint/2010/main" xmlns="" val="33934869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C02A3764-E224-5C5D-D689-ED95D304C40B}"/>
              </a:ext>
            </a:extLst>
          </p:cNvPr>
          <p:cNvSpPr>
            <a:spLocks noGrp="1"/>
          </p:cNvSpPr>
          <p:nvPr>
            <p:ph type="dt" sz="half" idx="10"/>
          </p:nvPr>
        </p:nvSpPr>
        <p:spPr/>
        <p:txBody>
          <a:bodyPr/>
          <a:lstStyle/>
          <a:p>
            <a:fld id="{AB4D53FB-4DE4-4A13-AE06-C65A673D835C}" type="datetimeFigureOut">
              <a:rPr lang="en-US" smtClean="0"/>
              <a:pPr/>
              <a:t>3/7/2026</a:t>
            </a:fld>
            <a:endParaRPr lang="en-US"/>
          </a:p>
        </p:txBody>
      </p:sp>
      <p:sp>
        <p:nvSpPr>
          <p:cNvPr id="3" name="Footer Placeholder 2">
            <a:extLst>
              <a:ext uri="{FF2B5EF4-FFF2-40B4-BE49-F238E27FC236}">
                <a16:creationId xmlns:a16="http://schemas.microsoft.com/office/drawing/2014/main" xmlns="" id="{88DE607A-A625-BB6B-4599-71A2ADCF22E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xmlns="" id="{FC667415-E219-6ADE-2D3C-EB7DC1CEB395}"/>
              </a:ext>
            </a:extLst>
          </p:cNvPr>
          <p:cNvSpPr>
            <a:spLocks noGrp="1"/>
          </p:cNvSpPr>
          <p:nvPr>
            <p:ph type="sldNum" sz="quarter" idx="12"/>
          </p:nvPr>
        </p:nvSpPr>
        <p:spPr/>
        <p:txBody>
          <a:bodyPr/>
          <a:lstStyle/>
          <a:p>
            <a:fld id="{06095435-4D6B-4798-8876-B0B4ACA925B0}" type="slidenum">
              <a:rPr lang="en-US" smtClean="0"/>
              <a:pPr/>
              <a:t>‹#›</a:t>
            </a:fld>
            <a:endParaRPr lang="en-US"/>
          </a:p>
        </p:txBody>
      </p:sp>
    </p:spTree>
    <p:extLst>
      <p:ext uri="{BB962C8B-B14F-4D97-AF65-F5344CB8AC3E}">
        <p14:creationId xmlns:p14="http://schemas.microsoft.com/office/powerpoint/2010/main" xmlns="" val="32075744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CD1BD93-787A-3631-34E5-5CB56C68654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xmlns="" id="{98C743AA-63A2-78B2-EEF6-06198A4373F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xmlns="" id="{EEEC2C41-004A-68FF-D161-CDE71C7BEA1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B30176C0-3C66-32A0-4B48-DC77EBF2C626}"/>
              </a:ext>
            </a:extLst>
          </p:cNvPr>
          <p:cNvSpPr>
            <a:spLocks noGrp="1"/>
          </p:cNvSpPr>
          <p:nvPr>
            <p:ph type="dt" sz="half" idx="10"/>
          </p:nvPr>
        </p:nvSpPr>
        <p:spPr/>
        <p:txBody>
          <a:bodyPr/>
          <a:lstStyle/>
          <a:p>
            <a:fld id="{AB4D53FB-4DE4-4A13-AE06-C65A673D835C}" type="datetimeFigureOut">
              <a:rPr lang="en-US" smtClean="0"/>
              <a:pPr/>
              <a:t>3/7/2026</a:t>
            </a:fld>
            <a:endParaRPr lang="en-US"/>
          </a:p>
        </p:txBody>
      </p:sp>
      <p:sp>
        <p:nvSpPr>
          <p:cNvPr id="6" name="Footer Placeholder 5">
            <a:extLst>
              <a:ext uri="{FF2B5EF4-FFF2-40B4-BE49-F238E27FC236}">
                <a16:creationId xmlns:a16="http://schemas.microsoft.com/office/drawing/2014/main" xmlns="" id="{48F9D8CC-ED3B-DB2A-5148-C8D98140282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450AB83D-8468-F12B-3F6D-C6DEB7FBE5DA}"/>
              </a:ext>
            </a:extLst>
          </p:cNvPr>
          <p:cNvSpPr>
            <a:spLocks noGrp="1"/>
          </p:cNvSpPr>
          <p:nvPr>
            <p:ph type="sldNum" sz="quarter" idx="12"/>
          </p:nvPr>
        </p:nvSpPr>
        <p:spPr/>
        <p:txBody>
          <a:bodyPr/>
          <a:lstStyle/>
          <a:p>
            <a:fld id="{06095435-4D6B-4798-8876-B0B4ACA925B0}" type="slidenum">
              <a:rPr lang="en-US" smtClean="0"/>
              <a:pPr/>
              <a:t>‹#›</a:t>
            </a:fld>
            <a:endParaRPr lang="en-US"/>
          </a:p>
        </p:txBody>
      </p:sp>
    </p:spTree>
    <p:extLst>
      <p:ext uri="{BB962C8B-B14F-4D97-AF65-F5344CB8AC3E}">
        <p14:creationId xmlns:p14="http://schemas.microsoft.com/office/powerpoint/2010/main" xmlns="" val="38481631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5075428-F03D-1643-EE3D-370D79E532E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xmlns="" id="{1022AB89-F877-635D-D5B5-7C925224A4E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xmlns="" id="{03A2F33E-7265-6D61-491B-D0C8F7CBAB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567EE985-7C7D-99C1-FD26-C6F7B91F1A47}"/>
              </a:ext>
            </a:extLst>
          </p:cNvPr>
          <p:cNvSpPr>
            <a:spLocks noGrp="1"/>
          </p:cNvSpPr>
          <p:nvPr>
            <p:ph type="dt" sz="half" idx="10"/>
          </p:nvPr>
        </p:nvSpPr>
        <p:spPr/>
        <p:txBody>
          <a:bodyPr/>
          <a:lstStyle/>
          <a:p>
            <a:fld id="{AB4D53FB-4DE4-4A13-AE06-C65A673D835C}" type="datetimeFigureOut">
              <a:rPr lang="en-US" smtClean="0"/>
              <a:pPr/>
              <a:t>3/7/2026</a:t>
            </a:fld>
            <a:endParaRPr lang="en-US"/>
          </a:p>
        </p:txBody>
      </p:sp>
      <p:sp>
        <p:nvSpPr>
          <p:cNvPr id="6" name="Footer Placeholder 5">
            <a:extLst>
              <a:ext uri="{FF2B5EF4-FFF2-40B4-BE49-F238E27FC236}">
                <a16:creationId xmlns:a16="http://schemas.microsoft.com/office/drawing/2014/main" xmlns="" id="{1AF969C1-565D-8630-8D53-B193AADA089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D4012EDC-80DF-794A-086A-C7A356DB66AC}"/>
              </a:ext>
            </a:extLst>
          </p:cNvPr>
          <p:cNvSpPr>
            <a:spLocks noGrp="1"/>
          </p:cNvSpPr>
          <p:nvPr>
            <p:ph type="sldNum" sz="quarter" idx="12"/>
          </p:nvPr>
        </p:nvSpPr>
        <p:spPr/>
        <p:txBody>
          <a:bodyPr/>
          <a:lstStyle/>
          <a:p>
            <a:fld id="{06095435-4D6B-4798-8876-B0B4ACA925B0}" type="slidenum">
              <a:rPr lang="en-US" smtClean="0"/>
              <a:pPr/>
              <a:t>‹#›</a:t>
            </a:fld>
            <a:endParaRPr lang="en-US"/>
          </a:p>
        </p:txBody>
      </p:sp>
    </p:spTree>
    <p:extLst>
      <p:ext uri="{BB962C8B-B14F-4D97-AF65-F5344CB8AC3E}">
        <p14:creationId xmlns:p14="http://schemas.microsoft.com/office/powerpoint/2010/main" xmlns="" val="22688025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BB8D849-BFC1-B860-8A27-101E9BAC7C8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xmlns="" id="{FFC0C307-098E-964F-ABAC-39BD514EC36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372A6413-B061-04ED-C566-A0FBFACDADB7}"/>
              </a:ext>
            </a:extLst>
          </p:cNvPr>
          <p:cNvSpPr>
            <a:spLocks noGrp="1"/>
          </p:cNvSpPr>
          <p:nvPr>
            <p:ph type="dt" sz="half" idx="10"/>
          </p:nvPr>
        </p:nvSpPr>
        <p:spPr/>
        <p:txBody>
          <a:bodyPr/>
          <a:lstStyle/>
          <a:p>
            <a:fld id="{AB4D53FB-4DE4-4A13-AE06-C65A673D835C}" type="datetimeFigureOut">
              <a:rPr lang="en-US" smtClean="0"/>
              <a:pPr/>
              <a:t>3/7/2026</a:t>
            </a:fld>
            <a:endParaRPr lang="en-US"/>
          </a:p>
        </p:txBody>
      </p:sp>
      <p:sp>
        <p:nvSpPr>
          <p:cNvPr id="5" name="Footer Placeholder 4">
            <a:extLst>
              <a:ext uri="{FF2B5EF4-FFF2-40B4-BE49-F238E27FC236}">
                <a16:creationId xmlns:a16="http://schemas.microsoft.com/office/drawing/2014/main" xmlns="" id="{8C583B62-2768-0E2C-4120-7C16B9EF34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8B08BCEB-C890-41D4-75FD-A63FFA9274C1}"/>
              </a:ext>
            </a:extLst>
          </p:cNvPr>
          <p:cNvSpPr>
            <a:spLocks noGrp="1"/>
          </p:cNvSpPr>
          <p:nvPr>
            <p:ph type="sldNum" sz="quarter" idx="12"/>
          </p:nvPr>
        </p:nvSpPr>
        <p:spPr/>
        <p:txBody>
          <a:bodyPr/>
          <a:lstStyle/>
          <a:p>
            <a:fld id="{06095435-4D6B-4798-8876-B0B4ACA925B0}" type="slidenum">
              <a:rPr lang="en-US" smtClean="0"/>
              <a:pPr/>
              <a:t>‹#›</a:t>
            </a:fld>
            <a:endParaRPr lang="en-US"/>
          </a:p>
        </p:txBody>
      </p:sp>
    </p:spTree>
    <p:extLst>
      <p:ext uri="{BB962C8B-B14F-4D97-AF65-F5344CB8AC3E}">
        <p14:creationId xmlns:p14="http://schemas.microsoft.com/office/powerpoint/2010/main" xmlns="" val="33271103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09A844BF-F96D-8CC5-287D-2E032C9ED75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xmlns="" id="{D1F06A59-EEA7-CEF8-9CEC-9C524E348DC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8B540AE1-58E2-B08A-BFC7-063EC7E86B6F}"/>
              </a:ext>
            </a:extLst>
          </p:cNvPr>
          <p:cNvSpPr>
            <a:spLocks noGrp="1"/>
          </p:cNvSpPr>
          <p:nvPr>
            <p:ph type="dt" sz="half" idx="10"/>
          </p:nvPr>
        </p:nvSpPr>
        <p:spPr/>
        <p:txBody>
          <a:bodyPr/>
          <a:lstStyle/>
          <a:p>
            <a:fld id="{AB4D53FB-4DE4-4A13-AE06-C65A673D835C}" type="datetimeFigureOut">
              <a:rPr lang="en-US" smtClean="0"/>
              <a:pPr/>
              <a:t>3/7/2026</a:t>
            </a:fld>
            <a:endParaRPr lang="en-US"/>
          </a:p>
        </p:txBody>
      </p:sp>
      <p:sp>
        <p:nvSpPr>
          <p:cNvPr id="5" name="Footer Placeholder 4">
            <a:extLst>
              <a:ext uri="{FF2B5EF4-FFF2-40B4-BE49-F238E27FC236}">
                <a16:creationId xmlns:a16="http://schemas.microsoft.com/office/drawing/2014/main" xmlns="" id="{8245BB71-C802-45FD-56A7-2EBCA251733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2E4A3920-1BC4-971F-A665-EECB21F05056}"/>
              </a:ext>
            </a:extLst>
          </p:cNvPr>
          <p:cNvSpPr>
            <a:spLocks noGrp="1"/>
          </p:cNvSpPr>
          <p:nvPr>
            <p:ph type="sldNum" sz="quarter" idx="12"/>
          </p:nvPr>
        </p:nvSpPr>
        <p:spPr/>
        <p:txBody>
          <a:bodyPr/>
          <a:lstStyle/>
          <a:p>
            <a:fld id="{06095435-4D6B-4798-8876-B0B4ACA925B0}" type="slidenum">
              <a:rPr lang="en-US" smtClean="0"/>
              <a:pPr/>
              <a:t>‹#›</a:t>
            </a:fld>
            <a:endParaRPr lang="en-US"/>
          </a:p>
        </p:txBody>
      </p:sp>
    </p:spTree>
    <p:extLst>
      <p:ext uri="{BB962C8B-B14F-4D97-AF65-F5344CB8AC3E}">
        <p14:creationId xmlns:p14="http://schemas.microsoft.com/office/powerpoint/2010/main" xmlns="" val="15986758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25B06D5B-1642-B935-D013-B5E1DFE5EF0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xmlns="" id="{F6B4CCA2-C68D-609A-9A7F-334F2423FAA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A1490607-C201-7D03-F8D5-2B4806CFE69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B4D53FB-4DE4-4A13-AE06-C65A673D835C}" type="datetimeFigureOut">
              <a:rPr lang="en-US" smtClean="0"/>
              <a:pPr/>
              <a:t>3/7/2026</a:t>
            </a:fld>
            <a:endParaRPr lang="en-US"/>
          </a:p>
        </p:txBody>
      </p:sp>
      <p:sp>
        <p:nvSpPr>
          <p:cNvPr id="5" name="Footer Placeholder 4">
            <a:extLst>
              <a:ext uri="{FF2B5EF4-FFF2-40B4-BE49-F238E27FC236}">
                <a16:creationId xmlns:a16="http://schemas.microsoft.com/office/drawing/2014/main" xmlns="" id="{92B61954-A934-9BBB-E454-EC9289E04CF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xmlns="" id="{137FA15C-789D-E257-B449-3FFDAF91D46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6095435-4D6B-4798-8876-B0B4ACA925B0}" type="slidenum">
              <a:rPr lang="en-US" smtClean="0"/>
              <a:pPr/>
              <a:t>‹#›</a:t>
            </a:fld>
            <a:endParaRPr lang="en-US"/>
          </a:p>
        </p:txBody>
      </p:sp>
    </p:spTree>
    <p:extLst>
      <p:ext uri="{BB962C8B-B14F-4D97-AF65-F5344CB8AC3E}">
        <p14:creationId xmlns:p14="http://schemas.microsoft.com/office/powerpoint/2010/main" xmlns="" val="23260782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 Id="rId5" Type="http://schemas.openxmlformats.org/officeDocument/2006/relationships/image" Target="../media/image30.png"/><Relationship Id="rId4" Type="http://schemas.openxmlformats.org/officeDocument/2006/relationships/image" Target="../media/image29.png"/></Relationships>
</file>

<file path=ppt/slides/_rels/slide1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 Id="rId4" Type="http://schemas.openxmlformats.org/officeDocument/2006/relationships/image" Target="../media/image33.png"/></Relationships>
</file>

<file path=ppt/slides/_rels/slide1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7.xml"/><Relationship Id="rId5" Type="http://schemas.openxmlformats.org/officeDocument/2006/relationships/image" Target="../media/image39.png"/><Relationship Id="rId4" Type="http://schemas.openxmlformats.org/officeDocument/2006/relationships/image" Target="../media/image38.png"/></Relationships>
</file>

<file path=ppt/slides/_rels/slide1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7.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1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7.xml"/><Relationship Id="rId5" Type="http://schemas.openxmlformats.org/officeDocument/2006/relationships/image" Target="../media/image48.png"/><Relationship Id="rId4" Type="http://schemas.openxmlformats.org/officeDocument/2006/relationships/image" Target="../media/image47.png"/></Relationships>
</file>

<file path=ppt/slides/_rels/slide1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7.xml"/><Relationship Id="rId4" Type="http://schemas.openxmlformats.org/officeDocument/2006/relationships/image" Target="../media/image51.png"/></Relationships>
</file>

<file path=ppt/slides/_rels/slide17.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7.xml"/><Relationship Id="rId5" Type="http://schemas.openxmlformats.org/officeDocument/2006/relationships/image" Target="../media/image55.png"/><Relationship Id="rId4" Type="http://schemas.openxmlformats.org/officeDocument/2006/relationships/image" Target="../media/image54.png"/></Relationships>
</file>

<file path=ppt/slides/_rels/slide18.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7.xml"/><Relationship Id="rId5" Type="http://schemas.openxmlformats.org/officeDocument/2006/relationships/image" Target="../media/image59.png"/><Relationship Id="rId4" Type="http://schemas.openxmlformats.org/officeDocument/2006/relationships/image" Target="../media/image58.png"/></Relationships>
</file>

<file path=ppt/slides/_rels/slide19.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7.xml"/><Relationship Id="rId5" Type="http://schemas.openxmlformats.org/officeDocument/2006/relationships/image" Target="../media/image63.png"/><Relationship Id="rId4" Type="http://schemas.openxmlformats.org/officeDocument/2006/relationships/image" Target="../media/image62.png"/></Relationships>
</file>

<file path=ppt/slides/_rels/slide20.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7.xml"/><Relationship Id="rId4" Type="http://schemas.openxmlformats.org/officeDocument/2006/relationships/image" Target="../media/image66.png"/></Relationships>
</file>

<file path=ppt/slides/_rels/slide21.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7.xml"/><Relationship Id="rId5" Type="http://schemas.openxmlformats.org/officeDocument/2006/relationships/image" Target="../media/image70.png"/><Relationship Id="rId4" Type="http://schemas.openxmlformats.org/officeDocument/2006/relationships/image" Target="../media/image69.png"/></Relationships>
</file>

<file path=ppt/slides/_rels/slide22.xml.rels><?xml version="1.0" encoding="UTF-8" standalone="yes"?>
<Relationships xmlns="http://schemas.openxmlformats.org/package/2006/relationships"><Relationship Id="rId3" Type="http://schemas.openxmlformats.org/officeDocument/2006/relationships/image" Target="../media/image72.png"/><Relationship Id="rId7" Type="http://schemas.openxmlformats.org/officeDocument/2006/relationships/image" Target="../media/image76.png"/><Relationship Id="rId2" Type="http://schemas.openxmlformats.org/officeDocument/2006/relationships/image" Target="../media/image71.png"/><Relationship Id="rId1" Type="http://schemas.openxmlformats.org/officeDocument/2006/relationships/slideLayout" Target="../slideLayouts/slideLayout7.xml"/><Relationship Id="rId6" Type="http://schemas.openxmlformats.org/officeDocument/2006/relationships/image" Target="../media/image75.png"/><Relationship Id="rId5" Type="http://schemas.openxmlformats.org/officeDocument/2006/relationships/image" Target="../media/image74.png"/><Relationship Id="rId4" Type="http://schemas.openxmlformats.org/officeDocument/2006/relationships/image" Target="../media/image73.png"/></Relationships>
</file>

<file path=ppt/slides/_rels/slide23.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7.xml"/><Relationship Id="rId4" Type="http://schemas.openxmlformats.org/officeDocument/2006/relationships/image" Target="../media/image79.png"/></Relationships>
</file>

<file path=ppt/slides/_rels/slide24.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7.xml"/><Relationship Id="rId5" Type="http://schemas.openxmlformats.org/officeDocument/2006/relationships/image" Target="../media/image83.png"/><Relationship Id="rId4" Type="http://schemas.openxmlformats.org/officeDocument/2006/relationships/image" Target="../media/image82.png"/></Relationships>
</file>

<file path=ppt/slides/_rels/slide25.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6.png"/><Relationship Id="rId1" Type="http://schemas.openxmlformats.org/officeDocument/2006/relationships/slideLayout" Target="../slideLayouts/slideLayout7.xml"/><Relationship Id="rId5" Type="http://schemas.openxmlformats.org/officeDocument/2006/relationships/image" Target="../media/image89.png"/><Relationship Id="rId4" Type="http://schemas.openxmlformats.org/officeDocument/2006/relationships/image" Target="../media/image88.png"/></Relationships>
</file>

<file path=ppt/slides/_rels/slide27.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90.png"/><Relationship Id="rId1" Type="http://schemas.openxmlformats.org/officeDocument/2006/relationships/slideLayout" Target="../slideLayouts/slideLayout7.xml"/><Relationship Id="rId6" Type="http://schemas.openxmlformats.org/officeDocument/2006/relationships/image" Target="../media/image94.png"/><Relationship Id="rId5" Type="http://schemas.openxmlformats.org/officeDocument/2006/relationships/image" Target="../media/image93.png"/><Relationship Id="rId4" Type="http://schemas.openxmlformats.org/officeDocument/2006/relationships/image" Target="../media/image92.png"/></Relationships>
</file>

<file path=ppt/slides/_rels/slide28.xml.rels><?xml version="1.0" encoding="UTF-8" standalone="yes"?>
<Relationships xmlns="http://schemas.openxmlformats.org/package/2006/relationships"><Relationship Id="rId8" Type="http://schemas.openxmlformats.org/officeDocument/2006/relationships/image" Target="../media/image101.png"/><Relationship Id="rId3" Type="http://schemas.openxmlformats.org/officeDocument/2006/relationships/image" Target="../media/image96.png"/><Relationship Id="rId7" Type="http://schemas.openxmlformats.org/officeDocument/2006/relationships/image" Target="../media/image100.png"/><Relationship Id="rId2" Type="http://schemas.openxmlformats.org/officeDocument/2006/relationships/image" Target="../media/image95.png"/><Relationship Id="rId1" Type="http://schemas.openxmlformats.org/officeDocument/2006/relationships/slideLayout" Target="../slideLayouts/slideLayout7.xml"/><Relationship Id="rId6" Type="http://schemas.openxmlformats.org/officeDocument/2006/relationships/image" Target="../media/image99.png"/><Relationship Id="rId5" Type="http://schemas.openxmlformats.org/officeDocument/2006/relationships/image" Target="../media/image98.png"/><Relationship Id="rId4" Type="http://schemas.openxmlformats.org/officeDocument/2006/relationships/image" Target="../media/image97.png"/></Relationships>
</file>

<file path=ppt/slides/_rels/slide29.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image" Target="../media/image102.png"/><Relationship Id="rId1" Type="http://schemas.openxmlformats.org/officeDocument/2006/relationships/slideLayout" Target="../slideLayouts/slideLayout7.xml"/><Relationship Id="rId5" Type="http://schemas.openxmlformats.org/officeDocument/2006/relationships/image" Target="../media/image105.png"/><Relationship Id="rId4" Type="http://schemas.openxmlformats.org/officeDocument/2006/relationships/image" Target="../media/image104.png"/></Relationships>
</file>

<file path=ppt/slides/_rels/slide30.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image" Target="../media/image106.png"/><Relationship Id="rId1" Type="http://schemas.openxmlformats.org/officeDocument/2006/relationships/slideLayout" Target="../slideLayouts/slideLayout7.xml"/><Relationship Id="rId6" Type="http://schemas.openxmlformats.org/officeDocument/2006/relationships/image" Target="../media/image110.png"/><Relationship Id="rId5" Type="http://schemas.openxmlformats.org/officeDocument/2006/relationships/image" Target="../media/image109.png"/><Relationship Id="rId4" Type="http://schemas.openxmlformats.org/officeDocument/2006/relationships/image" Target="../media/image108.png"/></Relationships>
</file>

<file path=ppt/slides/_rels/slide31.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image" Target="../media/image111.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image" Target="../media/image113.png"/><Relationship Id="rId1" Type="http://schemas.openxmlformats.org/officeDocument/2006/relationships/slideLayout" Target="../slideLayouts/slideLayout7.xml"/><Relationship Id="rId4" Type="http://schemas.openxmlformats.org/officeDocument/2006/relationships/image" Target="../media/image115.png"/></Relationships>
</file>

<file path=ppt/slides/_rels/slide33.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image" Target="../media/image116.png"/><Relationship Id="rId1" Type="http://schemas.openxmlformats.org/officeDocument/2006/relationships/slideLayout" Target="../slideLayouts/slideLayout7.xml"/><Relationship Id="rId6" Type="http://schemas.openxmlformats.org/officeDocument/2006/relationships/image" Target="../media/image120.png"/><Relationship Id="rId5" Type="http://schemas.openxmlformats.org/officeDocument/2006/relationships/image" Target="../media/image119.png"/><Relationship Id="rId4" Type="http://schemas.openxmlformats.org/officeDocument/2006/relationships/image" Target="../media/image118.png"/></Relationships>
</file>

<file path=ppt/slides/_rels/slide34.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image" Target="../media/image121.png"/><Relationship Id="rId1" Type="http://schemas.openxmlformats.org/officeDocument/2006/relationships/slideLayout" Target="../slideLayouts/slideLayout7.xml"/><Relationship Id="rId4" Type="http://schemas.openxmlformats.org/officeDocument/2006/relationships/image" Target="../media/image123.png"/></Relationships>
</file>

<file path=ppt/slides/_rels/slide35.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image" Target="../media/image124.png"/><Relationship Id="rId1" Type="http://schemas.openxmlformats.org/officeDocument/2006/relationships/slideLayout" Target="../slideLayouts/slideLayout7.xml"/><Relationship Id="rId5" Type="http://schemas.openxmlformats.org/officeDocument/2006/relationships/image" Target="../media/image127.png"/><Relationship Id="rId4" Type="http://schemas.openxmlformats.org/officeDocument/2006/relationships/image" Target="../media/image126.png"/></Relationships>
</file>

<file path=ppt/slides/_rels/slide36.xml.rels><?xml version="1.0" encoding="UTF-8" standalone="yes"?>
<Relationships xmlns="http://schemas.openxmlformats.org/package/2006/relationships"><Relationship Id="rId3" Type="http://schemas.openxmlformats.org/officeDocument/2006/relationships/image" Target="../media/image129.png"/><Relationship Id="rId2" Type="http://schemas.openxmlformats.org/officeDocument/2006/relationships/image" Target="../media/image128.png"/><Relationship Id="rId1" Type="http://schemas.openxmlformats.org/officeDocument/2006/relationships/slideLayout" Target="../slideLayouts/slideLayout7.xml"/><Relationship Id="rId4" Type="http://schemas.openxmlformats.org/officeDocument/2006/relationships/image" Target="../media/image130.png"/></Relationships>
</file>

<file path=ppt/slides/_rels/slide37.xml.rels><?xml version="1.0" encoding="UTF-8" standalone="yes"?>
<Relationships xmlns="http://schemas.openxmlformats.org/package/2006/relationships"><Relationship Id="rId3" Type="http://schemas.openxmlformats.org/officeDocument/2006/relationships/image" Target="../media/image132.png"/><Relationship Id="rId2" Type="http://schemas.openxmlformats.org/officeDocument/2006/relationships/image" Target="../media/image131.png"/><Relationship Id="rId1" Type="http://schemas.openxmlformats.org/officeDocument/2006/relationships/slideLayout" Target="../slideLayouts/slideLayout7.xml"/><Relationship Id="rId5" Type="http://schemas.openxmlformats.org/officeDocument/2006/relationships/image" Target="../media/image134.png"/><Relationship Id="rId4" Type="http://schemas.openxmlformats.org/officeDocument/2006/relationships/image" Target="../media/image133.png"/></Relationships>
</file>

<file path=ppt/slides/_rels/slide38.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image" Target="../media/image135.png"/><Relationship Id="rId1" Type="http://schemas.openxmlformats.org/officeDocument/2006/relationships/slideLayout" Target="../slideLayouts/slideLayout7.xml"/><Relationship Id="rId4" Type="http://schemas.openxmlformats.org/officeDocument/2006/relationships/image" Target="../media/image137.png"/></Relationships>
</file>

<file path=ppt/slides/_rels/slide39.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image" Target="../media/image138.png"/><Relationship Id="rId1" Type="http://schemas.openxmlformats.org/officeDocument/2006/relationships/slideLayout" Target="../slideLayouts/slideLayout7.xml"/><Relationship Id="rId4" Type="http://schemas.openxmlformats.org/officeDocument/2006/relationships/image" Target="../media/image140.png"/></Relationships>
</file>

<file path=ppt/slides/_rels/slide40.xml.rels><?xml version="1.0" encoding="UTF-8" standalone="yes"?>
<Relationships xmlns="http://schemas.openxmlformats.org/package/2006/relationships"><Relationship Id="rId3" Type="http://schemas.openxmlformats.org/officeDocument/2006/relationships/image" Target="../media/image142.png"/><Relationship Id="rId2" Type="http://schemas.openxmlformats.org/officeDocument/2006/relationships/image" Target="../media/image141.png"/><Relationship Id="rId1" Type="http://schemas.openxmlformats.org/officeDocument/2006/relationships/slideLayout" Target="../slideLayouts/slideLayout7.xml"/><Relationship Id="rId5" Type="http://schemas.openxmlformats.org/officeDocument/2006/relationships/image" Target="../media/image144.png"/><Relationship Id="rId4" Type="http://schemas.openxmlformats.org/officeDocument/2006/relationships/image" Target="../media/image143.png"/></Relationships>
</file>

<file path=ppt/slides/_rels/slide41.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image" Target="../media/image145.png"/><Relationship Id="rId1" Type="http://schemas.openxmlformats.org/officeDocument/2006/relationships/slideLayout" Target="../slideLayouts/slideLayout7.xml"/><Relationship Id="rId4" Type="http://schemas.openxmlformats.org/officeDocument/2006/relationships/image" Target="../media/image147.png"/></Relationships>
</file>

<file path=ppt/slides/_rels/slide42.xml.rels><?xml version="1.0" encoding="UTF-8" standalone="yes"?>
<Relationships xmlns="http://schemas.openxmlformats.org/package/2006/relationships"><Relationship Id="rId3" Type="http://schemas.openxmlformats.org/officeDocument/2006/relationships/image" Target="../media/image149.png"/><Relationship Id="rId2" Type="http://schemas.openxmlformats.org/officeDocument/2006/relationships/image" Target="../media/image148.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151.png"/><Relationship Id="rId2" Type="http://schemas.openxmlformats.org/officeDocument/2006/relationships/image" Target="../media/image150.png"/><Relationship Id="rId1" Type="http://schemas.openxmlformats.org/officeDocument/2006/relationships/slideLayout" Target="../slideLayouts/slideLayout7.xml"/><Relationship Id="rId5" Type="http://schemas.openxmlformats.org/officeDocument/2006/relationships/image" Target="../media/image153.png"/><Relationship Id="rId4" Type="http://schemas.openxmlformats.org/officeDocument/2006/relationships/image" Target="../media/image152.png"/></Relationships>
</file>

<file path=ppt/slides/_rels/slide44.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image" Target="../media/image154.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157.png"/><Relationship Id="rId2" Type="http://schemas.openxmlformats.org/officeDocument/2006/relationships/image" Target="../media/image156.png"/><Relationship Id="rId1" Type="http://schemas.openxmlformats.org/officeDocument/2006/relationships/slideLayout" Target="../slideLayouts/slideLayout7.xml"/><Relationship Id="rId6" Type="http://schemas.openxmlformats.org/officeDocument/2006/relationships/image" Target="../media/image160.png"/><Relationship Id="rId5" Type="http://schemas.openxmlformats.org/officeDocument/2006/relationships/image" Target="../media/image159.png"/><Relationship Id="rId4" Type="http://schemas.openxmlformats.org/officeDocument/2006/relationships/image" Target="../media/image158.png"/></Relationships>
</file>

<file path=ppt/slides/_rels/slide46.xml.rels><?xml version="1.0" encoding="UTF-8" standalone="yes"?>
<Relationships xmlns="http://schemas.openxmlformats.org/package/2006/relationships"><Relationship Id="rId2" Type="http://schemas.openxmlformats.org/officeDocument/2006/relationships/image" Target="../media/image161.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163.png"/><Relationship Id="rId2" Type="http://schemas.openxmlformats.org/officeDocument/2006/relationships/image" Target="../media/image162.png"/><Relationship Id="rId1" Type="http://schemas.openxmlformats.org/officeDocument/2006/relationships/slideLayout" Target="../slideLayouts/slideLayout7.xml"/><Relationship Id="rId6" Type="http://schemas.openxmlformats.org/officeDocument/2006/relationships/image" Target="../media/image166.png"/><Relationship Id="rId5" Type="http://schemas.openxmlformats.org/officeDocument/2006/relationships/image" Target="../media/image165.png"/><Relationship Id="rId4" Type="http://schemas.openxmlformats.org/officeDocument/2006/relationships/image" Target="../media/image164.png"/></Relationships>
</file>

<file path=ppt/slides/_rels/slide48.xml.rels><?xml version="1.0" encoding="UTF-8" standalone="yes"?>
<Relationships xmlns="http://schemas.openxmlformats.org/package/2006/relationships"><Relationship Id="rId8" Type="http://schemas.openxmlformats.org/officeDocument/2006/relationships/image" Target="../media/image173.png"/><Relationship Id="rId3" Type="http://schemas.openxmlformats.org/officeDocument/2006/relationships/image" Target="../media/image168.png"/><Relationship Id="rId7" Type="http://schemas.openxmlformats.org/officeDocument/2006/relationships/image" Target="../media/image172.png"/><Relationship Id="rId2" Type="http://schemas.openxmlformats.org/officeDocument/2006/relationships/image" Target="../media/image167.png"/><Relationship Id="rId1" Type="http://schemas.openxmlformats.org/officeDocument/2006/relationships/slideLayout" Target="../slideLayouts/slideLayout7.xml"/><Relationship Id="rId6" Type="http://schemas.openxmlformats.org/officeDocument/2006/relationships/image" Target="../media/image171.png"/><Relationship Id="rId5" Type="http://schemas.openxmlformats.org/officeDocument/2006/relationships/image" Target="../media/image170.png"/><Relationship Id="rId4" Type="http://schemas.openxmlformats.org/officeDocument/2006/relationships/image" Target="../media/image169.png"/><Relationship Id="rId9" Type="http://schemas.openxmlformats.org/officeDocument/2006/relationships/image" Target="../media/image174.png"/></Relationships>
</file>

<file path=ppt/slides/_rels/slide49.xml.rels><?xml version="1.0" encoding="UTF-8" standalone="yes"?>
<Relationships xmlns="http://schemas.openxmlformats.org/package/2006/relationships"><Relationship Id="rId8" Type="http://schemas.openxmlformats.org/officeDocument/2006/relationships/image" Target="../media/image181.png"/><Relationship Id="rId3" Type="http://schemas.openxmlformats.org/officeDocument/2006/relationships/image" Target="../media/image176.png"/><Relationship Id="rId7" Type="http://schemas.openxmlformats.org/officeDocument/2006/relationships/image" Target="../media/image180.png"/><Relationship Id="rId2" Type="http://schemas.openxmlformats.org/officeDocument/2006/relationships/image" Target="../media/image175.png"/><Relationship Id="rId1" Type="http://schemas.openxmlformats.org/officeDocument/2006/relationships/slideLayout" Target="../slideLayouts/slideLayout7.xml"/><Relationship Id="rId6" Type="http://schemas.openxmlformats.org/officeDocument/2006/relationships/image" Target="../media/image179.png"/><Relationship Id="rId5" Type="http://schemas.openxmlformats.org/officeDocument/2006/relationships/image" Target="../media/image178.png"/><Relationship Id="rId4" Type="http://schemas.openxmlformats.org/officeDocument/2006/relationships/image" Target="../media/image177.png"/><Relationship Id="rId9" Type="http://schemas.openxmlformats.org/officeDocument/2006/relationships/image" Target="../media/image182.png"/></Relationships>
</file>

<file path=ppt/slides/_rels/slide50.xml.rels><?xml version="1.0" encoding="UTF-8" standalone="yes"?>
<Relationships xmlns="http://schemas.openxmlformats.org/package/2006/relationships"><Relationship Id="rId8" Type="http://schemas.openxmlformats.org/officeDocument/2006/relationships/image" Target="../media/image189.png"/><Relationship Id="rId3" Type="http://schemas.openxmlformats.org/officeDocument/2006/relationships/image" Target="../media/image184.png"/><Relationship Id="rId7" Type="http://schemas.openxmlformats.org/officeDocument/2006/relationships/image" Target="../media/image188.png"/><Relationship Id="rId2" Type="http://schemas.openxmlformats.org/officeDocument/2006/relationships/image" Target="../media/image183.png"/><Relationship Id="rId1" Type="http://schemas.openxmlformats.org/officeDocument/2006/relationships/slideLayout" Target="../slideLayouts/slideLayout7.xml"/><Relationship Id="rId6" Type="http://schemas.openxmlformats.org/officeDocument/2006/relationships/image" Target="../media/image187.png"/><Relationship Id="rId5" Type="http://schemas.openxmlformats.org/officeDocument/2006/relationships/image" Target="../media/image186.png"/><Relationship Id="rId4" Type="http://schemas.openxmlformats.org/officeDocument/2006/relationships/image" Target="../media/image185.png"/><Relationship Id="rId9" Type="http://schemas.openxmlformats.org/officeDocument/2006/relationships/image" Target="../media/image190.png"/></Relationships>
</file>

<file path=ppt/slides/_rels/slide51.xml.rels><?xml version="1.0" encoding="UTF-8" standalone="yes"?>
<Relationships xmlns="http://schemas.openxmlformats.org/package/2006/relationships"><Relationship Id="rId3" Type="http://schemas.openxmlformats.org/officeDocument/2006/relationships/image" Target="../media/image192.png"/><Relationship Id="rId2" Type="http://schemas.openxmlformats.org/officeDocument/2006/relationships/image" Target="../media/image191.png"/><Relationship Id="rId1" Type="http://schemas.openxmlformats.org/officeDocument/2006/relationships/slideLayout" Target="../slideLayouts/slideLayout7.xml"/><Relationship Id="rId6" Type="http://schemas.openxmlformats.org/officeDocument/2006/relationships/image" Target="../media/image195.png"/><Relationship Id="rId5" Type="http://schemas.openxmlformats.org/officeDocument/2006/relationships/image" Target="../media/image194.png"/><Relationship Id="rId4" Type="http://schemas.openxmlformats.org/officeDocument/2006/relationships/image" Target="../media/image193.png"/></Relationships>
</file>

<file path=ppt/slides/_rels/slide52.xml.rels><?xml version="1.0" encoding="UTF-8" standalone="yes"?>
<Relationships xmlns="http://schemas.openxmlformats.org/package/2006/relationships"><Relationship Id="rId8" Type="http://schemas.openxmlformats.org/officeDocument/2006/relationships/image" Target="../media/image202.png"/><Relationship Id="rId3" Type="http://schemas.openxmlformats.org/officeDocument/2006/relationships/image" Target="../media/image197.png"/><Relationship Id="rId7" Type="http://schemas.openxmlformats.org/officeDocument/2006/relationships/image" Target="../media/image201.png"/><Relationship Id="rId2" Type="http://schemas.openxmlformats.org/officeDocument/2006/relationships/image" Target="../media/image196.png"/><Relationship Id="rId1" Type="http://schemas.openxmlformats.org/officeDocument/2006/relationships/slideLayout" Target="../slideLayouts/slideLayout7.xml"/><Relationship Id="rId6" Type="http://schemas.openxmlformats.org/officeDocument/2006/relationships/image" Target="../media/image200.png"/><Relationship Id="rId5" Type="http://schemas.openxmlformats.org/officeDocument/2006/relationships/image" Target="../media/image199.png"/><Relationship Id="rId4" Type="http://schemas.openxmlformats.org/officeDocument/2006/relationships/image" Target="../media/image198.png"/></Relationships>
</file>

<file path=ppt/slides/_rels/slide53.xml.rels><?xml version="1.0" encoding="UTF-8" standalone="yes"?>
<Relationships xmlns="http://schemas.openxmlformats.org/package/2006/relationships"><Relationship Id="rId8" Type="http://schemas.openxmlformats.org/officeDocument/2006/relationships/image" Target="../media/image209.png"/><Relationship Id="rId3" Type="http://schemas.openxmlformats.org/officeDocument/2006/relationships/image" Target="../media/image204.png"/><Relationship Id="rId7" Type="http://schemas.openxmlformats.org/officeDocument/2006/relationships/image" Target="../media/image208.png"/><Relationship Id="rId2" Type="http://schemas.openxmlformats.org/officeDocument/2006/relationships/image" Target="../media/image203.png"/><Relationship Id="rId1" Type="http://schemas.openxmlformats.org/officeDocument/2006/relationships/slideLayout" Target="../slideLayouts/slideLayout7.xml"/><Relationship Id="rId6" Type="http://schemas.openxmlformats.org/officeDocument/2006/relationships/image" Target="../media/image207.png"/><Relationship Id="rId5" Type="http://schemas.openxmlformats.org/officeDocument/2006/relationships/image" Target="../media/image206.png"/><Relationship Id="rId4" Type="http://schemas.openxmlformats.org/officeDocument/2006/relationships/image" Target="../media/image205.png"/></Relationships>
</file>

<file path=ppt/slides/_rels/slide54.xml.rels><?xml version="1.0" encoding="UTF-8" standalone="yes"?>
<Relationships xmlns="http://schemas.openxmlformats.org/package/2006/relationships"><Relationship Id="rId3" Type="http://schemas.openxmlformats.org/officeDocument/2006/relationships/image" Target="../media/image211.png"/><Relationship Id="rId7" Type="http://schemas.openxmlformats.org/officeDocument/2006/relationships/image" Target="../media/image215.png"/><Relationship Id="rId2" Type="http://schemas.openxmlformats.org/officeDocument/2006/relationships/image" Target="../media/image210.png"/><Relationship Id="rId1" Type="http://schemas.openxmlformats.org/officeDocument/2006/relationships/slideLayout" Target="../slideLayouts/slideLayout7.xml"/><Relationship Id="rId6" Type="http://schemas.openxmlformats.org/officeDocument/2006/relationships/image" Target="../media/image214.png"/><Relationship Id="rId5" Type="http://schemas.openxmlformats.org/officeDocument/2006/relationships/image" Target="../media/image213.png"/><Relationship Id="rId4" Type="http://schemas.openxmlformats.org/officeDocument/2006/relationships/image" Target="../media/image212.png"/></Relationships>
</file>

<file path=ppt/slides/_rels/slide55.xml.rels><?xml version="1.0" encoding="UTF-8" standalone="yes"?>
<Relationships xmlns="http://schemas.openxmlformats.org/package/2006/relationships"><Relationship Id="rId3" Type="http://schemas.openxmlformats.org/officeDocument/2006/relationships/image" Target="../media/image217.png"/><Relationship Id="rId2" Type="http://schemas.openxmlformats.org/officeDocument/2006/relationships/image" Target="../media/image216.png"/><Relationship Id="rId1" Type="http://schemas.openxmlformats.org/officeDocument/2006/relationships/slideLayout" Target="../slideLayouts/slideLayout7.xml"/><Relationship Id="rId5" Type="http://schemas.openxmlformats.org/officeDocument/2006/relationships/image" Target="../media/image219.png"/><Relationship Id="rId4" Type="http://schemas.openxmlformats.org/officeDocument/2006/relationships/image" Target="../media/image218.png"/></Relationships>
</file>

<file path=ppt/slides/_rels/slide56.xml.rels><?xml version="1.0" encoding="UTF-8" standalone="yes"?>
<Relationships xmlns="http://schemas.openxmlformats.org/package/2006/relationships"><Relationship Id="rId8" Type="http://schemas.openxmlformats.org/officeDocument/2006/relationships/image" Target="../media/image226.png"/><Relationship Id="rId13" Type="http://schemas.openxmlformats.org/officeDocument/2006/relationships/image" Target="../media/image231.png"/><Relationship Id="rId3" Type="http://schemas.openxmlformats.org/officeDocument/2006/relationships/image" Target="../media/image221.png"/><Relationship Id="rId7" Type="http://schemas.openxmlformats.org/officeDocument/2006/relationships/image" Target="../media/image225.png"/><Relationship Id="rId12" Type="http://schemas.openxmlformats.org/officeDocument/2006/relationships/image" Target="../media/image230.png"/><Relationship Id="rId2" Type="http://schemas.openxmlformats.org/officeDocument/2006/relationships/image" Target="../media/image220.png"/><Relationship Id="rId1" Type="http://schemas.openxmlformats.org/officeDocument/2006/relationships/slideLayout" Target="../slideLayouts/slideLayout7.xml"/><Relationship Id="rId6" Type="http://schemas.openxmlformats.org/officeDocument/2006/relationships/image" Target="../media/image224.png"/><Relationship Id="rId11" Type="http://schemas.openxmlformats.org/officeDocument/2006/relationships/image" Target="../media/image229.png"/><Relationship Id="rId5" Type="http://schemas.openxmlformats.org/officeDocument/2006/relationships/image" Target="../media/image223.png"/><Relationship Id="rId10" Type="http://schemas.openxmlformats.org/officeDocument/2006/relationships/image" Target="../media/image228.png"/><Relationship Id="rId4" Type="http://schemas.openxmlformats.org/officeDocument/2006/relationships/image" Target="../media/image222.png"/><Relationship Id="rId9" Type="http://schemas.openxmlformats.org/officeDocument/2006/relationships/image" Target="../media/image227.png"/></Relationships>
</file>

<file path=ppt/slides/_rels/slide57.xml.rels><?xml version="1.0" encoding="UTF-8" standalone="yes"?>
<Relationships xmlns="http://schemas.openxmlformats.org/package/2006/relationships"><Relationship Id="rId8" Type="http://schemas.openxmlformats.org/officeDocument/2006/relationships/image" Target="../media/image238.png"/><Relationship Id="rId3" Type="http://schemas.openxmlformats.org/officeDocument/2006/relationships/image" Target="../media/image233.png"/><Relationship Id="rId7" Type="http://schemas.openxmlformats.org/officeDocument/2006/relationships/image" Target="../media/image237.png"/><Relationship Id="rId2" Type="http://schemas.openxmlformats.org/officeDocument/2006/relationships/image" Target="../media/image232.png"/><Relationship Id="rId1" Type="http://schemas.openxmlformats.org/officeDocument/2006/relationships/slideLayout" Target="../slideLayouts/slideLayout7.xml"/><Relationship Id="rId6" Type="http://schemas.openxmlformats.org/officeDocument/2006/relationships/image" Target="../media/image236.png"/><Relationship Id="rId5" Type="http://schemas.openxmlformats.org/officeDocument/2006/relationships/image" Target="../media/image235.png"/><Relationship Id="rId10" Type="http://schemas.openxmlformats.org/officeDocument/2006/relationships/image" Target="../media/image240.png"/><Relationship Id="rId4" Type="http://schemas.openxmlformats.org/officeDocument/2006/relationships/image" Target="../media/image234.png"/><Relationship Id="rId9" Type="http://schemas.openxmlformats.org/officeDocument/2006/relationships/image" Target="../media/image239.png"/></Relationships>
</file>

<file path=ppt/slides/_rels/slide58.xml.rels><?xml version="1.0" encoding="UTF-8" standalone="yes"?>
<Relationships xmlns="http://schemas.openxmlformats.org/package/2006/relationships"><Relationship Id="rId3" Type="http://schemas.openxmlformats.org/officeDocument/2006/relationships/image" Target="../media/image242.png"/><Relationship Id="rId2" Type="http://schemas.openxmlformats.org/officeDocument/2006/relationships/image" Target="../media/image241.png"/><Relationship Id="rId1" Type="http://schemas.openxmlformats.org/officeDocument/2006/relationships/slideLayout" Target="../slideLayouts/slideLayout7.xml"/><Relationship Id="rId6" Type="http://schemas.openxmlformats.org/officeDocument/2006/relationships/image" Target="../media/image245.png"/><Relationship Id="rId5" Type="http://schemas.openxmlformats.org/officeDocument/2006/relationships/image" Target="../media/image244.png"/><Relationship Id="rId4" Type="http://schemas.openxmlformats.org/officeDocument/2006/relationships/image" Target="../media/image243.png"/></Relationships>
</file>

<file path=ppt/slides/_rels/slide59.xml.rels><?xml version="1.0" encoding="UTF-8" standalone="yes"?>
<Relationships xmlns="http://schemas.openxmlformats.org/package/2006/relationships"><Relationship Id="rId3" Type="http://schemas.openxmlformats.org/officeDocument/2006/relationships/image" Target="../media/image247.png"/><Relationship Id="rId2" Type="http://schemas.openxmlformats.org/officeDocument/2006/relationships/image" Target="../media/image246.png"/><Relationship Id="rId1" Type="http://schemas.openxmlformats.org/officeDocument/2006/relationships/slideLayout" Target="../slideLayouts/slideLayout7.xml"/><Relationship Id="rId5" Type="http://schemas.openxmlformats.org/officeDocument/2006/relationships/image" Target="../media/image249.png"/><Relationship Id="rId4" Type="http://schemas.openxmlformats.org/officeDocument/2006/relationships/image" Target="../media/image248.png"/></Relationships>
</file>

<file path=ppt/slides/_rels/slide60.xml.rels><?xml version="1.0" encoding="UTF-8" standalone="yes"?>
<Relationships xmlns="http://schemas.openxmlformats.org/package/2006/relationships"><Relationship Id="rId3" Type="http://schemas.openxmlformats.org/officeDocument/2006/relationships/image" Target="../media/image251.png"/><Relationship Id="rId2" Type="http://schemas.openxmlformats.org/officeDocument/2006/relationships/image" Target="../media/image250.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xmlns="" id="{A45EFEB3-1CFD-E231-8CD4-334783C159E3}"/>
              </a:ext>
            </a:extLst>
          </p:cNvPr>
          <p:cNvSpPr txBox="1"/>
          <p:nvPr/>
        </p:nvSpPr>
        <p:spPr>
          <a:xfrm>
            <a:off x="5045529" y="0"/>
            <a:ext cx="2432957" cy="646331"/>
          </a:xfrm>
          <a:prstGeom prst="rect">
            <a:avLst/>
          </a:prstGeom>
          <a:noFill/>
        </p:spPr>
        <p:txBody>
          <a:bodyPr wrap="square" rtlCol="0">
            <a:spAutoFit/>
          </a:bodyPr>
          <a:lstStyle/>
          <a:p>
            <a:r>
              <a:rPr lang="en-US" sz="3600" dirty="0"/>
              <a:t>Probability</a:t>
            </a:r>
          </a:p>
        </p:txBody>
      </p:sp>
      <mc:AlternateContent xmlns:mc="http://schemas.openxmlformats.org/markup-compatibility/2006">
        <mc:Choice xmlns:a14="http://schemas.microsoft.com/office/drawing/2010/main" xmlns="" Requires="a14">
          <p:sp>
            <p:nvSpPr>
              <p:cNvPr id="5" name="TextBox 4">
                <a:extLst>
                  <a:ext uri="{FF2B5EF4-FFF2-40B4-BE49-F238E27FC236}">
                    <a16:creationId xmlns:a16="http://schemas.microsoft.com/office/drawing/2014/main" id="{338FE0BC-C70F-D6BF-FED8-4D27A48B02B9}"/>
                  </a:ext>
                </a:extLst>
              </p:cNvPr>
              <p:cNvSpPr txBox="1"/>
              <p:nvPr/>
            </p:nvSpPr>
            <p:spPr>
              <a:xfrm>
                <a:off x="1583871" y="1534886"/>
                <a:ext cx="9780814" cy="4009624"/>
              </a:xfrm>
              <a:prstGeom prst="rect">
                <a:avLst/>
              </a:prstGeom>
              <a:noFill/>
            </p:spPr>
            <p:txBody>
              <a:bodyPr wrap="square" rtlCol="0">
                <a:spAutoFit/>
              </a:bodyPr>
              <a:lstStyle/>
              <a:p>
                <a:r>
                  <a:rPr lang="en-US" sz="2400" dirty="0"/>
                  <a:t>The probability of an event j, is the number of occurrences of j, N(j) divided by the total number of event N in the sample.</a:t>
                </a:r>
              </a:p>
              <a:p>
                <a14:m>
                  <m:oMath xmlns:m="http://schemas.openxmlformats.org/officeDocument/2006/math">
                    <m:r>
                      <a:rPr lang="en-US" sz="2400" b="0" i="1" smtClean="0">
                        <a:latin typeface="Cambria Math" panose="02040503050406030204" pitchFamily="18" charset="0"/>
                      </a:rPr>
                      <m:t>𝑃</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𝑗</m:t>
                        </m:r>
                      </m:e>
                    </m:d>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𝑁</m:t>
                        </m:r>
                        <m:r>
                          <a:rPr lang="en-US" sz="2400" b="0" i="1" smtClean="0">
                            <a:latin typeface="Cambria Math" panose="02040503050406030204" pitchFamily="18" charset="0"/>
                          </a:rPr>
                          <m:t>(</m:t>
                        </m:r>
                        <m:r>
                          <a:rPr lang="en-US" sz="2400" b="0" i="1" smtClean="0">
                            <a:latin typeface="Cambria Math" panose="02040503050406030204" pitchFamily="18" charset="0"/>
                          </a:rPr>
                          <m:t>𝑗</m:t>
                        </m:r>
                        <m:r>
                          <a:rPr lang="en-US" sz="2400" b="0" i="1" smtClean="0">
                            <a:latin typeface="Cambria Math" panose="02040503050406030204" pitchFamily="18" charset="0"/>
                          </a:rPr>
                          <m:t>)</m:t>
                        </m:r>
                      </m:num>
                      <m:den>
                        <m:r>
                          <a:rPr lang="en-US" sz="2400" b="0" i="1" smtClean="0">
                            <a:latin typeface="Cambria Math" panose="02040503050406030204" pitchFamily="18" charset="0"/>
                          </a:rPr>
                          <m:t>𝑁</m:t>
                        </m:r>
                      </m:den>
                    </m:f>
                  </m:oMath>
                </a14:m>
                <a:r>
                  <a:rPr lang="en-US" sz="2400" dirty="0"/>
                  <a:t> , where </a:t>
                </a:r>
                <a14:m>
                  <m:oMath xmlns:m="http://schemas.openxmlformats.org/officeDocument/2006/math">
                    <m:r>
                      <a:rPr lang="en-US" sz="2400" b="0" i="1" smtClean="0">
                        <a:latin typeface="Cambria Math" panose="02040503050406030204" pitchFamily="18" charset="0"/>
                      </a:rPr>
                      <m:t>𝑁</m:t>
                    </m:r>
                    <m:r>
                      <a:rPr lang="en-US" sz="2400" b="0" i="1" smtClean="0">
                        <a:latin typeface="Cambria Math" panose="02040503050406030204" pitchFamily="18" charset="0"/>
                      </a:rPr>
                      <m:t>=</m:t>
                    </m:r>
                    <m:nary>
                      <m:naryPr>
                        <m:chr m:val="∑"/>
                        <m:ctrlPr>
                          <a:rPr lang="en-US" sz="2400" b="0" i="1" smtClean="0">
                            <a:latin typeface="Cambria Math" panose="02040503050406030204" pitchFamily="18" charset="0"/>
                          </a:rPr>
                        </m:ctrlPr>
                      </m:naryPr>
                      <m:sub>
                        <m:r>
                          <m:rPr>
                            <m:brk m:alnAt="23"/>
                          </m:rPr>
                          <a:rPr lang="en-US" sz="2400" b="0" i="1" smtClean="0">
                            <a:latin typeface="Cambria Math" panose="02040503050406030204" pitchFamily="18" charset="0"/>
                          </a:rPr>
                          <m:t>𝑗</m:t>
                        </m:r>
                        <m:r>
                          <a:rPr lang="en-US" sz="2400" b="0" i="1" smtClean="0">
                            <a:latin typeface="Cambria Math" panose="02040503050406030204" pitchFamily="18" charset="0"/>
                          </a:rPr>
                          <m:t>=0</m:t>
                        </m:r>
                      </m:sub>
                      <m:sup>
                        <m:r>
                          <a:rPr lang="en-US" sz="2400" b="0" i="1" smtClean="0">
                            <a:latin typeface="Cambria Math" panose="02040503050406030204" pitchFamily="18" charset="0"/>
                            <a:ea typeface="Cambria Math" panose="02040503050406030204" pitchFamily="18" charset="0"/>
                          </a:rPr>
                          <m:t>∞</m:t>
                        </m:r>
                      </m:sup>
                      <m:e>
                        <m:r>
                          <a:rPr lang="en-US" sz="2400" b="0" i="1" smtClean="0">
                            <a:latin typeface="Cambria Math" panose="02040503050406030204" pitchFamily="18" charset="0"/>
                          </a:rPr>
                          <m:t>𝑁</m:t>
                        </m:r>
                        <m:r>
                          <a:rPr lang="en-US" sz="2400" b="0" i="1" smtClean="0">
                            <a:latin typeface="Cambria Math" panose="02040503050406030204" pitchFamily="18" charset="0"/>
                          </a:rPr>
                          <m:t>(</m:t>
                        </m:r>
                        <m:r>
                          <a:rPr lang="en-US" sz="2400" b="0" i="1" smtClean="0">
                            <a:latin typeface="Cambria Math" panose="02040503050406030204" pitchFamily="18" charset="0"/>
                          </a:rPr>
                          <m:t>𝑗</m:t>
                        </m:r>
                        <m:r>
                          <a:rPr lang="en-US" sz="2400" b="0" i="1" smtClean="0">
                            <a:latin typeface="Cambria Math" panose="02040503050406030204" pitchFamily="18" charset="0"/>
                          </a:rPr>
                          <m:t>)</m:t>
                        </m:r>
                      </m:e>
                    </m:nary>
                  </m:oMath>
                </a14:m>
                <a:endParaRPr lang="en-US" sz="2400" dirty="0"/>
              </a:p>
              <a:p>
                <a:endParaRPr lang="en-US" sz="2400" dirty="0"/>
              </a:p>
              <a:p>
                <a:r>
                  <a:rPr lang="en-US" sz="2400" dirty="0"/>
                  <a:t>The average value/expectation value of j is </a:t>
                </a:r>
                <a14:m>
                  <m:oMath xmlns:m="http://schemas.openxmlformats.org/officeDocument/2006/math">
                    <m:r>
                      <a:rPr lang="en-US" sz="2400" i="1" smtClean="0">
                        <a:latin typeface="Cambria Math" panose="02040503050406030204" pitchFamily="18" charset="0"/>
                        <a:ea typeface="Cambria Math" panose="02040503050406030204" pitchFamily="18" charset="0"/>
                      </a:rPr>
                      <m:t>&lt;</m:t>
                    </m:r>
                    <m:r>
                      <a:rPr lang="en-US" sz="2400" b="0" i="1" smtClean="0">
                        <a:latin typeface="Cambria Math" panose="02040503050406030204" pitchFamily="18" charset="0"/>
                        <a:ea typeface="Cambria Math" panose="02040503050406030204" pitchFamily="18" charset="0"/>
                      </a:rPr>
                      <m:t>𝑗</m:t>
                    </m:r>
                    <m:r>
                      <a:rPr lang="en-US" sz="2400" b="0" i="1" smtClean="0">
                        <a:latin typeface="Cambria Math" panose="02040503050406030204" pitchFamily="18" charset="0"/>
                        <a:ea typeface="Cambria Math" panose="02040503050406030204" pitchFamily="18" charset="0"/>
                      </a:rPr>
                      <m:t>&gt; =</m:t>
                    </m:r>
                    <m:f>
                      <m:fPr>
                        <m:ctrlPr>
                          <a:rPr lang="en-US" sz="2400" b="0" i="1" smtClean="0">
                            <a:latin typeface="Cambria Math" panose="02040503050406030204" pitchFamily="18" charset="0"/>
                            <a:ea typeface="Cambria Math" panose="02040503050406030204" pitchFamily="18" charset="0"/>
                          </a:rPr>
                        </m:ctrlPr>
                      </m:fPr>
                      <m:num>
                        <m:nary>
                          <m:naryPr>
                            <m:chr m:val="∑"/>
                            <m:subHide m:val="on"/>
                            <m:supHide m:val="on"/>
                            <m:ctrlPr>
                              <a:rPr lang="en-US" sz="2400" b="0" i="1" smtClean="0">
                                <a:latin typeface="Cambria Math" panose="02040503050406030204" pitchFamily="18" charset="0"/>
                                <a:ea typeface="Cambria Math" panose="02040503050406030204" pitchFamily="18" charset="0"/>
                              </a:rPr>
                            </m:ctrlPr>
                          </m:naryPr>
                          <m:sub/>
                          <m:sup/>
                          <m:e>
                            <m:r>
                              <a:rPr lang="en-US" sz="2400" b="0" i="1" smtClean="0">
                                <a:latin typeface="Cambria Math" panose="02040503050406030204" pitchFamily="18" charset="0"/>
                                <a:ea typeface="Cambria Math" panose="02040503050406030204" pitchFamily="18" charset="0"/>
                              </a:rPr>
                              <m:t>𝑗𝑁</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𝑗</m:t>
                            </m:r>
                            <m:r>
                              <a:rPr lang="en-US" sz="2400" b="0" i="1" smtClean="0">
                                <a:latin typeface="Cambria Math" panose="02040503050406030204" pitchFamily="18" charset="0"/>
                                <a:ea typeface="Cambria Math" panose="02040503050406030204" pitchFamily="18" charset="0"/>
                              </a:rPr>
                              <m:t>)</m:t>
                            </m:r>
                          </m:e>
                        </m:nary>
                      </m:num>
                      <m:den>
                        <m:r>
                          <a:rPr lang="en-US" sz="2400" b="0" i="1" smtClean="0">
                            <a:latin typeface="Cambria Math" panose="02040503050406030204" pitchFamily="18" charset="0"/>
                            <a:ea typeface="Cambria Math" panose="02040503050406030204" pitchFamily="18" charset="0"/>
                          </a:rPr>
                          <m:t>𝑁</m:t>
                        </m:r>
                      </m:den>
                    </m:f>
                    <m:r>
                      <a:rPr lang="en-US" sz="2400" b="0" i="1" smtClean="0">
                        <a:latin typeface="Cambria Math" panose="02040503050406030204" pitchFamily="18" charset="0"/>
                        <a:ea typeface="Cambria Math" panose="02040503050406030204" pitchFamily="18" charset="0"/>
                      </a:rPr>
                      <m:t>=</m:t>
                    </m:r>
                    <m:nary>
                      <m:naryPr>
                        <m:chr m:val="∑"/>
                        <m:ctrlPr>
                          <a:rPr lang="en-US" sz="2400" b="0" i="1" smtClean="0">
                            <a:latin typeface="Cambria Math" panose="02040503050406030204" pitchFamily="18" charset="0"/>
                            <a:ea typeface="Cambria Math" panose="02040503050406030204" pitchFamily="18" charset="0"/>
                          </a:rPr>
                        </m:ctrlPr>
                      </m:naryPr>
                      <m:sub>
                        <m:r>
                          <m:rPr>
                            <m:brk m:alnAt="23"/>
                          </m:rPr>
                          <a:rPr lang="en-US" sz="2400" b="0" i="1" smtClean="0">
                            <a:latin typeface="Cambria Math" panose="02040503050406030204" pitchFamily="18" charset="0"/>
                            <a:ea typeface="Cambria Math" panose="02040503050406030204" pitchFamily="18" charset="0"/>
                          </a:rPr>
                          <m:t>𝑗</m:t>
                        </m:r>
                        <m:r>
                          <a:rPr lang="en-US" sz="2400" b="0" i="1" smtClean="0">
                            <a:latin typeface="Cambria Math" panose="02040503050406030204" pitchFamily="18" charset="0"/>
                            <a:ea typeface="Cambria Math" panose="02040503050406030204" pitchFamily="18" charset="0"/>
                          </a:rPr>
                          <m:t>=0</m:t>
                        </m:r>
                      </m:sub>
                      <m:sup>
                        <m:r>
                          <a:rPr lang="en-US" sz="2400" b="0" i="1" smtClean="0">
                            <a:latin typeface="Cambria Math" panose="02040503050406030204" pitchFamily="18" charset="0"/>
                            <a:ea typeface="Cambria Math" panose="02040503050406030204" pitchFamily="18" charset="0"/>
                          </a:rPr>
                          <m:t>∞</m:t>
                        </m:r>
                      </m:sup>
                      <m:e>
                        <m:r>
                          <a:rPr lang="en-US" sz="2400" b="0" i="1" smtClean="0">
                            <a:latin typeface="Cambria Math" panose="02040503050406030204" pitchFamily="18" charset="0"/>
                            <a:ea typeface="Cambria Math" panose="02040503050406030204" pitchFamily="18" charset="0"/>
                          </a:rPr>
                          <m:t>𝑗𝑃</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𝑗</m:t>
                        </m:r>
                        <m:r>
                          <a:rPr lang="en-US" sz="2400" b="0" i="1" smtClean="0">
                            <a:latin typeface="Cambria Math" panose="02040503050406030204" pitchFamily="18" charset="0"/>
                            <a:ea typeface="Cambria Math" panose="02040503050406030204" pitchFamily="18" charset="0"/>
                          </a:rPr>
                          <m:t>)</m:t>
                        </m:r>
                      </m:e>
                    </m:nary>
                  </m:oMath>
                </a14:m>
                <a:endParaRPr lang="en-US" sz="2400" dirty="0"/>
              </a:p>
              <a:p>
                <a:endParaRPr lang="en-US" sz="2400" dirty="0"/>
              </a:p>
              <a:p>
                <a:r>
                  <a:rPr lang="en-US" sz="2400" dirty="0"/>
                  <a:t>The average value of j</a:t>
                </a:r>
                <a:r>
                  <a:rPr lang="en-US" sz="2400" baseline="30000" dirty="0"/>
                  <a:t>2</a:t>
                </a:r>
                <a:r>
                  <a:rPr lang="en-US" sz="2400" dirty="0"/>
                  <a:t> is </a:t>
                </a:r>
                <a14:m>
                  <m:oMath xmlns:m="http://schemas.openxmlformats.org/officeDocument/2006/math">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&lt;</m:t>
                    </m:r>
                    <m:sSup>
                      <m:sSup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ctrlPr>
                      </m:sSup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𝑗</m:t>
                        </m:r>
                      </m:e>
                      <m:sup>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2</m:t>
                        </m:r>
                      </m:sup>
                    </m:sSup>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&gt; =</m:t>
                    </m:r>
                    <m:f>
                      <m:f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ctrlPr>
                      </m:fPr>
                      <m:num>
                        <m:nary>
                          <m:naryPr>
                            <m:chr m:val="∑"/>
                            <m:subHide m:val="on"/>
                            <m:supHide m:val="on"/>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ctrlPr>
                          </m:naryPr>
                          <m:sub/>
                          <m:sup/>
                          <m:e>
                            <m:sSup>
                              <m:sSup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ctrlPr>
                              </m:sSup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𝑗</m:t>
                                </m:r>
                              </m:e>
                              <m:sup>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2</m:t>
                                </m:r>
                              </m:sup>
                            </m:sSup>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𝑁</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𝑗</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e>
                        </m:nary>
                      </m:num>
                      <m:den>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𝑁</m:t>
                        </m:r>
                      </m:den>
                    </m:f>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nary>
                      <m:naryPr>
                        <m:chr m:val="∑"/>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ctrlPr>
                      </m:naryPr>
                      <m:sub>
                        <m:r>
                          <m:rPr>
                            <m:brk m:alnAt="23"/>
                          </m:r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𝑗</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=0</m:t>
                        </m:r>
                      </m:sub>
                      <m:sup>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sup>
                      <m:e>
                        <m:sSup>
                          <m:sSup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ctrlPr>
                          </m:sSup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𝑗</m:t>
                            </m:r>
                          </m:e>
                          <m:sup>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2</m:t>
                            </m:r>
                          </m:sup>
                        </m:sSup>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𝑃</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𝑗</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e>
                    </m:nary>
                  </m:oMath>
                </a14:m>
                <a:endParaRPr lang="en-US" sz="2400" dirty="0"/>
              </a:p>
              <a:p>
                <a:endParaRPr lang="en-US" sz="2400" dirty="0"/>
              </a:p>
              <a:p>
                <a:r>
                  <a:rPr lang="en-US" sz="2400" dirty="0"/>
                  <a:t>The average value of some function of j is </a:t>
                </a:r>
                <a14:m>
                  <m:oMath xmlns:m="http://schemas.openxmlformats.org/officeDocument/2006/math">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&lt;</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𝑓</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𝑗</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)&gt; =</m:t>
                    </m:r>
                    <m:nary>
                      <m:naryPr>
                        <m:chr m:val="∑"/>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ctrlPr>
                      </m:naryPr>
                      <m:sub>
                        <m:r>
                          <m:rPr>
                            <m:brk m:alnAt="23"/>
                          </m:r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𝑗</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=0</m:t>
                        </m:r>
                      </m:sub>
                      <m:sup>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sup>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𝑓</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𝑗</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𝑃</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𝑗</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e>
                    </m:nary>
                  </m:oMath>
                </a14:m>
                <a:endParaRPr lang="en-US" sz="2400" dirty="0"/>
              </a:p>
            </p:txBody>
          </p:sp>
        </mc:Choice>
        <mc:Fallback>
          <p:sp>
            <p:nvSpPr>
              <p:cNvPr id="5" name="TextBox 4">
                <a:extLst>
                  <a:ext uri="{FF2B5EF4-FFF2-40B4-BE49-F238E27FC236}">
                    <a16:creationId xmlns:a16="http://schemas.microsoft.com/office/drawing/2014/main" xmlns="" xmlns:a14="http://schemas.microsoft.com/office/drawing/2010/main" id="{338FE0BC-C70F-D6BF-FED8-4D27A48B02B9}"/>
                  </a:ext>
                </a:extLst>
              </p:cNvPr>
              <p:cNvSpPr txBox="1">
                <a:spLocks noRot="1" noChangeAspect="1" noMove="1" noResize="1" noEditPoints="1" noAdjustHandles="1" noChangeArrowheads="1" noChangeShapeType="1" noTextEdit="1"/>
              </p:cNvSpPr>
              <p:nvPr/>
            </p:nvSpPr>
            <p:spPr>
              <a:xfrm>
                <a:off x="1583871" y="1534886"/>
                <a:ext cx="9780814" cy="4009624"/>
              </a:xfrm>
              <a:prstGeom prst="rect">
                <a:avLst/>
              </a:prstGeom>
              <a:blipFill>
                <a:blip r:embed="rId2"/>
                <a:stretch>
                  <a:fillRect l="-998" t="-1216" b="-20669"/>
                </a:stretch>
              </a:blipFill>
            </p:spPr>
            <p:txBody>
              <a:bodyPr/>
              <a:lstStyle/>
              <a:p>
                <a:r>
                  <a:rPr lang="en-US">
                    <a:noFill/>
                  </a:rPr>
                  <a:t> </a:t>
                </a:r>
              </a:p>
            </p:txBody>
          </p:sp>
        </mc:Fallback>
      </mc:AlternateContent>
    </p:spTree>
    <p:extLst>
      <p:ext uri="{BB962C8B-B14F-4D97-AF65-F5344CB8AC3E}">
        <p14:creationId xmlns:p14="http://schemas.microsoft.com/office/powerpoint/2010/main" xmlns="" val="13821011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xmlns="" Requires="a14">
          <p:sp>
            <p:nvSpPr>
              <p:cNvPr id="2" name="TextBox 1">
                <a:extLst>
                  <a:ext uri="{FF2B5EF4-FFF2-40B4-BE49-F238E27FC236}">
                    <a16:creationId xmlns:a16="http://schemas.microsoft.com/office/drawing/2014/main" id="{A99A6B2E-55B1-3795-426A-1A352E318F7B}"/>
                  </a:ext>
                </a:extLst>
              </p:cNvPr>
              <p:cNvSpPr txBox="1"/>
              <p:nvPr/>
            </p:nvSpPr>
            <p:spPr>
              <a:xfrm>
                <a:off x="1218143" y="648863"/>
                <a:ext cx="10662557" cy="461665"/>
              </a:xfrm>
              <a:prstGeom prst="rect">
                <a:avLst/>
              </a:prstGeom>
              <a:noFill/>
            </p:spPr>
            <p:txBody>
              <a:bodyPr wrap="square" rtlCol="0">
                <a:spAutoFit/>
              </a:bodyPr>
              <a:lstStyle/>
              <a:p>
                <a:r>
                  <a:rPr lang="en-US" sz="2400" dirty="0"/>
                  <a:t>The deviation of j from the mean value </a:t>
                </a:r>
                <a14:m>
                  <m:oMath xmlns:m="http://schemas.openxmlformats.org/officeDocument/2006/math">
                    <m:r>
                      <a:rPr lang="en-US" sz="2400" b="0" i="1" smtClean="0">
                        <a:latin typeface="Cambria Math" panose="02040503050406030204" pitchFamily="18" charset="0"/>
                      </a:rPr>
                      <m:t>&lt;</m:t>
                    </m:r>
                    <m:r>
                      <a:rPr lang="en-US" sz="2400" b="0" i="1" smtClean="0">
                        <a:latin typeface="Cambria Math" panose="02040503050406030204" pitchFamily="18" charset="0"/>
                      </a:rPr>
                      <m:t>𝑗</m:t>
                    </m:r>
                    <m:r>
                      <a:rPr lang="en-US" sz="2400" b="0" i="1" smtClean="0">
                        <a:latin typeface="Cambria Math" panose="02040503050406030204" pitchFamily="18" charset="0"/>
                      </a:rPr>
                      <m:t>&gt;</m:t>
                    </m:r>
                  </m:oMath>
                </a14:m>
                <a:r>
                  <a:rPr lang="en-US" sz="2400" dirty="0"/>
                  <a:t> is  </a:t>
                </a:r>
                <a14:m>
                  <m:oMath xmlns:m="http://schemas.openxmlformats.org/officeDocument/2006/math">
                    <m:r>
                      <a:rPr lang="en-US" sz="240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𝑗</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𝑗</m:t>
                    </m:r>
                    <m:r>
                      <a:rPr lang="en-US" sz="2400" b="0" i="1" smtClean="0">
                        <a:latin typeface="Cambria Math" panose="02040503050406030204" pitchFamily="18" charset="0"/>
                        <a:ea typeface="Cambria Math" panose="02040503050406030204" pitchFamily="18" charset="0"/>
                      </a:rPr>
                      <m:t>− &lt;</m:t>
                    </m:r>
                    <m:r>
                      <a:rPr lang="en-US" sz="2400" b="0" i="1" smtClean="0">
                        <a:latin typeface="Cambria Math" panose="02040503050406030204" pitchFamily="18" charset="0"/>
                        <a:ea typeface="Cambria Math" panose="02040503050406030204" pitchFamily="18" charset="0"/>
                      </a:rPr>
                      <m:t>𝑗</m:t>
                    </m:r>
                    <m:r>
                      <a:rPr lang="en-US" sz="2400" b="0" i="1" smtClean="0">
                        <a:latin typeface="Cambria Math" panose="02040503050406030204" pitchFamily="18" charset="0"/>
                        <a:ea typeface="Cambria Math" panose="02040503050406030204" pitchFamily="18" charset="0"/>
                      </a:rPr>
                      <m:t>&gt;</m:t>
                    </m:r>
                  </m:oMath>
                </a14:m>
                <a:endParaRPr lang="en-US" sz="2400" dirty="0"/>
              </a:p>
            </p:txBody>
          </p:sp>
        </mc:Choice>
        <mc:Fallback>
          <p:sp>
            <p:nvSpPr>
              <p:cNvPr id="2" name="TextBox 1">
                <a:extLst>
                  <a:ext uri="{FF2B5EF4-FFF2-40B4-BE49-F238E27FC236}">
                    <a16:creationId xmlns:a16="http://schemas.microsoft.com/office/drawing/2014/main" xmlns="" xmlns:a14="http://schemas.microsoft.com/office/drawing/2010/main" id="{A99A6B2E-55B1-3795-426A-1A352E318F7B}"/>
                  </a:ext>
                </a:extLst>
              </p:cNvPr>
              <p:cNvSpPr txBox="1">
                <a:spLocks noRot="1" noChangeAspect="1" noMove="1" noResize="1" noEditPoints="1" noAdjustHandles="1" noChangeArrowheads="1" noChangeShapeType="1" noTextEdit="1"/>
              </p:cNvSpPr>
              <p:nvPr/>
            </p:nvSpPr>
            <p:spPr>
              <a:xfrm>
                <a:off x="1218143" y="648863"/>
                <a:ext cx="10662557" cy="461665"/>
              </a:xfrm>
              <a:prstGeom prst="rect">
                <a:avLst/>
              </a:prstGeom>
              <a:blipFill>
                <a:blip r:embed="rId2"/>
                <a:stretch>
                  <a:fillRect l="-915" t="-10526" b="-28947"/>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xmlns="" id="{1A49C4F2-68F6-259F-B050-E86E449D4B39}"/>
              </a:ext>
            </a:extLst>
          </p:cNvPr>
          <p:cNvPicPr>
            <a:picLocks noChangeAspect="1"/>
          </p:cNvPicPr>
          <p:nvPr/>
        </p:nvPicPr>
        <p:blipFill>
          <a:blip r:embed="rId3"/>
          <a:stretch>
            <a:fillRect/>
          </a:stretch>
        </p:blipFill>
        <p:spPr>
          <a:xfrm>
            <a:off x="2631233" y="1174097"/>
            <a:ext cx="6442378" cy="1184805"/>
          </a:xfrm>
          <a:prstGeom prst="rect">
            <a:avLst/>
          </a:prstGeom>
        </p:spPr>
      </p:pic>
      <mc:AlternateContent xmlns:mc="http://schemas.openxmlformats.org/markup-compatibility/2006">
        <mc:Choice xmlns:a14="http://schemas.microsoft.com/office/drawing/2010/main" xmlns="" Requires="a14">
          <p:sp>
            <p:nvSpPr>
              <p:cNvPr id="5" name="TextBox 4">
                <a:extLst>
                  <a:ext uri="{FF2B5EF4-FFF2-40B4-BE49-F238E27FC236}">
                    <a16:creationId xmlns:a16="http://schemas.microsoft.com/office/drawing/2014/main" id="{251FAA1F-D4E8-3087-E909-A7D3C93D38BF}"/>
                  </a:ext>
                </a:extLst>
              </p:cNvPr>
              <p:cNvSpPr txBox="1"/>
              <p:nvPr/>
            </p:nvSpPr>
            <p:spPr>
              <a:xfrm>
                <a:off x="1645686" y="2368233"/>
                <a:ext cx="7294127" cy="461665"/>
              </a:xfrm>
              <a:prstGeom prst="rect">
                <a:avLst/>
              </a:prstGeom>
              <a:noFill/>
            </p:spPr>
            <p:txBody>
              <a:bodyPr wrap="square" rtlCol="0">
                <a:spAutoFit/>
              </a:bodyPr>
              <a:lstStyle/>
              <a:p>
                <a:r>
                  <a:rPr lang="en-US" sz="2400" dirty="0"/>
                  <a:t>The standard deviation </a:t>
                </a:r>
                <a14:m>
                  <m:oMath xmlns:m="http://schemas.openxmlformats.org/officeDocument/2006/math">
                    <m:r>
                      <a:rPr lang="en-US" sz="2400" i="1" smtClean="0">
                        <a:latin typeface="Cambria Math" panose="02040503050406030204" pitchFamily="18" charset="0"/>
                        <a:ea typeface="Cambria Math" panose="02040503050406030204" pitchFamily="18" charset="0"/>
                      </a:rPr>
                      <m:t>𝜎</m:t>
                    </m:r>
                  </m:oMath>
                </a14:m>
                <a:r>
                  <a:rPr lang="en-US" sz="2400" dirty="0"/>
                  <a:t> can be defined as</a:t>
                </a:r>
              </a:p>
            </p:txBody>
          </p:sp>
        </mc:Choice>
        <mc:Fallback>
          <p:sp>
            <p:nvSpPr>
              <p:cNvPr id="5" name="TextBox 4">
                <a:extLst>
                  <a:ext uri="{FF2B5EF4-FFF2-40B4-BE49-F238E27FC236}">
                    <a16:creationId xmlns:a16="http://schemas.microsoft.com/office/drawing/2014/main" xmlns="" xmlns:a14="http://schemas.microsoft.com/office/drawing/2010/main" id="{251FAA1F-D4E8-3087-E909-A7D3C93D38BF}"/>
                  </a:ext>
                </a:extLst>
              </p:cNvPr>
              <p:cNvSpPr txBox="1">
                <a:spLocks noRot="1" noChangeAspect="1" noMove="1" noResize="1" noEditPoints="1" noAdjustHandles="1" noChangeArrowheads="1" noChangeShapeType="1" noTextEdit="1"/>
              </p:cNvSpPr>
              <p:nvPr/>
            </p:nvSpPr>
            <p:spPr>
              <a:xfrm>
                <a:off x="1645686" y="2368233"/>
                <a:ext cx="7294127" cy="461665"/>
              </a:xfrm>
              <a:prstGeom prst="rect">
                <a:avLst/>
              </a:prstGeom>
              <a:blipFill>
                <a:blip r:embed="rId4"/>
                <a:stretch>
                  <a:fillRect l="-1337" t="-10526" b="-28947"/>
                </a:stretch>
              </a:blipFill>
            </p:spPr>
            <p:txBody>
              <a:bodyPr/>
              <a:lstStyle/>
              <a:p>
                <a:r>
                  <a:rPr lang="en-US">
                    <a:noFill/>
                  </a:rPr>
                  <a:t> </a:t>
                </a:r>
              </a:p>
            </p:txBody>
          </p:sp>
        </mc:Fallback>
      </mc:AlternateContent>
      <p:pic>
        <p:nvPicPr>
          <p:cNvPr id="7" name="Picture 6">
            <a:extLst>
              <a:ext uri="{FF2B5EF4-FFF2-40B4-BE49-F238E27FC236}">
                <a16:creationId xmlns:a16="http://schemas.microsoft.com/office/drawing/2014/main" xmlns="" id="{D1E1EEB3-A55A-A058-AC47-C5AA7AAEAAA0}"/>
              </a:ext>
            </a:extLst>
          </p:cNvPr>
          <p:cNvPicPr>
            <a:picLocks noChangeAspect="1"/>
          </p:cNvPicPr>
          <p:nvPr/>
        </p:nvPicPr>
        <p:blipFill>
          <a:blip r:embed="rId5"/>
          <a:stretch>
            <a:fillRect/>
          </a:stretch>
        </p:blipFill>
        <p:spPr>
          <a:xfrm>
            <a:off x="7463162" y="2313094"/>
            <a:ext cx="1995438" cy="571941"/>
          </a:xfrm>
          <a:prstGeom prst="rect">
            <a:avLst/>
          </a:prstGeom>
        </p:spPr>
      </p:pic>
      <p:pic>
        <p:nvPicPr>
          <p:cNvPr id="9" name="Picture 8">
            <a:extLst>
              <a:ext uri="{FF2B5EF4-FFF2-40B4-BE49-F238E27FC236}">
                <a16:creationId xmlns:a16="http://schemas.microsoft.com/office/drawing/2014/main" xmlns="" id="{85825C3F-8BB5-473B-92C0-2F88D13D5E35}"/>
              </a:ext>
            </a:extLst>
          </p:cNvPr>
          <p:cNvPicPr>
            <a:picLocks noChangeAspect="1"/>
          </p:cNvPicPr>
          <p:nvPr/>
        </p:nvPicPr>
        <p:blipFill>
          <a:blip r:embed="rId6"/>
          <a:stretch>
            <a:fillRect/>
          </a:stretch>
        </p:blipFill>
        <p:spPr>
          <a:xfrm>
            <a:off x="3038936" y="3182987"/>
            <a:ext cx="5135918" cy="2037083"/>
          </a:xfrm>
          <a:prstGeom prst="rect">
            <a:avLst/>
          </a:prstGeom>
        </p:spPr>
      </p:pic>
    </p:spTree>
    <p:extLst>
      <p:ext uri="{BB962C8B-B14F-4D97-AF65-F5344CB8AC3E}">
        <p14:creationId xmlns:p14="http://schemas.microsoft.com/office/powerpoint/2010/main" xmlns="" val="16390462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xmlns="" Requires="a14">
          <p:sp>
            <p:nvSpPr>
              <p:cNvPr id="2" name="TextBox 1">
                <a:extLst>
                  <a:ext uri="{FF2B5EF4-FFF2-40B4-BE49-F238E27FC236}">
                    <a16:creationId xmlns:a16="http://schemas.microsoft.com/office/drawing/2014/main" id="{CCC04090-CBB8-C367-2D66-9E7B1759B990}"/>
                  </a:ext>
                </a:extLst>
              </p:cNvPr>
              <p:cNvSpPr txBox="1"/>
              <p:nvPr/>
            </p:nvSpPr>
            <p:spPr>
              <a:xfrm>
                <a:off x="489856" y="170284"/>
                <a:ext cx="11212286" cy="1732334"/>
              </a:xfrm>
              <a:prstGeom prst="rect">
                <a:avLst/>
              </a:prstGeom>
              <a:noFill/>
            </p:spPr>
            <p:txBody>
              <a:bodyPr wrap="square" rtlCol="0">
                <a:spAutoFit/>
              </a:bodyPr>
              <a:lstStyle/>
              <a:p>
                <a:r>
                  <a:rPr lang="en-US" sz="2400" dirty="0"/>
                  <a:t>For continuous variable or continuous function we can not have discrete average rather we use integration.</a:t>
                </a:r>
              </a:p>
              <a:p>
                <a:r>
                  <a:rPr lang="en-US" sz="2400" dirty="0"/>
                  <a:t>The probability of an event lies between x and </a:t>
                </a:r>
                <a:r>
                  <a:rPr lang="en-US" sz="2400" dirty="0" err="1"/>
                  <a:t>x+dx</a:t>
                </a:r>
                <a:r>
                  <a:rPr lang="en-US" sz="2400" dirty="0"/>
                  <a:t> is </a:t>
                </a:r>
                <a14:m>
                  <m:oMath xmlns:m="http://schemas.openxmlformats.org/officeDocument/2006/math">
                    <m:r>
                      <a:rPr lang="en-US" sz="2400" i="1" smtClean="0">
                        <a:latin typeface="Cambria Math" panose="02040503050406030204" pitchFamily="18" charset="0"/>
                        <a:ea typeface="Cambria Math" panose="02040503050406030204" pitchFamily="18" charset="0"/>
                      </a:rPr>
                      <m:t>𝜌</m:t>
                    </m:r>
                    <m:d>
                      <m:dPr>
                        <m:ctrlPr>
                          <a:rPr lang="en-US" sz="2400" b="0" i="1" smtClean="0">
                            <a:latin typeface="Cambria Math" panose="02040503050406030204" pitchFamily="18" charset="0"/>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𝑥</m:t>
                        </m:r>
                      </m:e>
                    </m:d>
                    <m:r>
                      <a:rPr lang="en-US" sz="2400" b="0" i="1" smtClean="0">
                        <a:latin typeface="Cambria Math" panose="02040503050406030204" pitchFamily="18" charset="0"/>
                        <a:ea typeface="Cambria Math" panose="02040503050406030204" pitchFamily="18" charset="0"/>
                      </a:rPr>
                      <m:t>𝑑𝑥</m:t>
                    </m:r>
                  </m:oMath>
                </a14:m>
                <a:r>
                  <a:rPr lang="en-US" sz="2400" dirty="0"/>
                  <a:t/>
                </a:r>
              </a:p>
              <a:p>
                <a:r>
                  <a:rPr lang="en-US" sz="2400" dirty="0"/>
                  <a:t>The probability of x lies between a and b is </a:t>
                </a:r>
                <a14:m>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𝑃</m:t>
                        </m:r>
                      </m:e>
                      <m:sub>
                        <m:r>
                          <a:rPr lang="en-US" sz="2400" b="0" i="1" smtClean="0">
                            <a:latin typeface="Cambria Math" panose="02040503050406030204" pitchFamily="18" charset="0"/>
                          </a:rPr>
                          <m:t>𝑎𝑏</m:t>
                        </m:r>
                      </m:sub>
                    </m:sSub>
                    <m:r>
                      <a:rPr lang="en-US" sz="2400" b="0" i="1" smtClean="0">
                        <a:latin typeface="Cambria Math" panose="02040503050406030204" pitchFamily="18" charset="0"/>
                      </a:rPr>
                      <m:t>=</m:t>
                    </m:r>
                    <m:nary>
                      <m:naryPr>
                        <m:limLoc m:val="undOvr"/>
                        <m:ctrlPr>
                          <a:rPr lang="en-US" sz="2400" b="0" i="1" smtClean="0">
                            <a:latin typeface="Cambria Math" panose="02040503050406030204" pitchFamily="18" charset="0"/>
                          </a:rPr>
                        </m:ctrlPr>
                      </m:naryPr>
                      <m:sub>
                        <m:r>
                          <m:rPr>
                            <m:brk m:alnAt="24"/>
                          </m:rPr>
                          <a:rPr lang="en-US" sz="2400" b="0" i="1" smtClean="0">
                            <a:latin typeface="Cambria Math" panose="02040503050406030204" pitchFamily="18" charset="0"/>
                          </a:rPr>
                          <m:t>𝑎</m:t>
                        </m:r>
                      </m:sub>
                      <m:sup>
                        <m:r>
                          <a:rPr lang="en-US" sz="2400" b="0" i="1" smtClean="0">
                            <a:latin typeface="Cambria Math" panose="02040503050406030204" pitchFamily="18" charset="0"/>
                          </a:rPr>
                          <m:t>𝑏</m:t>
                        </m:r>
                      </m:sup>
                      <m:e>
                        <m:r>
                          <a:rPr lang="en-US" sz="2400" b="0" i="1" smtClean="0">
                            <a:latin typeface="Cambria Math" panose="02040503050406030204" pitchFamily="18" charset="0"/>
                            <a:ea typeface="Cambria Math" panose="02040503050406030204" pitchFamily="18" charset="0"/>
                          </a:rPr>
                          <m:t>𝜌</m:t>
                        </m:r>
                        <m:d>
                          <m:dPr>
                            <m:ctrlPr>
                              <a:rPr lang="en-US" sz="2400" b="0" i="1" smtClean="0">
                                <a:latin typeface="Cambria Math" panose="02040503050406030204" pitchFamily="18" charset="0"/>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𝑥</m:t>
                            </m:r>
                          </m:e>
                        </m:d>
                        <m:r>
                          <a:rPr lang="en-US" sz="2400" b="0" i="1" smtClean="0">
                            <a:latin typeface="Cambria Math" panose="02040503050406030204" pitchFamily="18" charset="0"/>
                            <a:ea typeface="Cambria Math" panose="02040503050406030204" pitchFamily="18" charset="0"/>
                          </a:rPr>
                          <m:t>𝑑𝑥</m:t>
                        </m:r>
                      </m:e>
                    </m:nary>
                  </m:oMath>
                </a14:m>
                <a:endParaRPr lang="en-US" sz="2400" dirty="0"/>
              </a:p>
            </p:txBody>
          </p:sp>
        </mc:Choice>
        <mc:Fallback>
          <p:sp>
            <p:nvSpPr>
              <p:cNvPr id="2" name="TextBox 1">
                <a:extLst>
                  <a:ext uri="{FF2B5EF4-FFF2-40B4-BE49-F238E27FC236}">
                    <a16:creationId xmlns:a16="http://schemas.microsoft.com/office/drawing/2014/main" xmlns="" xmlns:a14="http://schemas.microsoft.com/office/drawing/2010/main" id="{CCC04090-CBB8-C367-2D66-9E7B1759B990}"/>
                  </a:ext>
                </a:extLst>
              </p:cNvPr>
              <p:cNvSpPr txBox="1">
                <a:spLocks noRot="1" noChangeAspect="1" noMove="1" noResize="1" noEditPoints="1" noAdjustHandles="1" noChangeArrowheads="1" noChangeShapeType="1" noTextEdit="1"/>
              </p:cNvSpPr>
              <p:nvPr/>
            </p:nvSpPr>
            <p:spPr>
              <a:xfrm>
                <a:off x="489856" y="170284"/>
                <a:ext cx="11212286" cy="1732334"/>
              </a:xfrm>
              <a:prstGeom prst="rect">
                <a:avLst/>
              </a:prstGeom>
              <a:blipFill>
                <a:blip r:embed="rId2"/>
                <a:stretch>
                  <a:fillRect l="-815" t="-2817" b="-3169"/>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xmlns="" id="{B8FACAD6-3034-5FD3-0529-E1D93ECE0819}"/>
              </a:ext>
            </a:extLst>
          </p:cNvPr>
          <p:cNvPicPr>
            <a:picLocks noChangeAspect="1"/>
          </p:cNvPicPr>
          <p:nvPr/>
        </p:nvPicPr>
        <p:blipFill>
          <a:blip r:embed="rId3"/>
          <a:stretch>
            <a:fillRect/>
          </a:stretch>
        </p:blipFill>
        <p:spPr>
          <a:xfrm>
            <a:off x="3891544" y="1902618"/>
            <a:ext cx="5093835" cy="4692570"/>
          </a:xfrm>
          <a:prstGeom prst="rect">
            <a:avLst/>
          </a:prstGeom>
        </p:spPr>
      </p:pic>
    </p:spTree>
    <p:extLst>
      <p:ext uri="{BB962C8B-B14F-4D97-AF65-F5344CB8AC3E}">
        <p14:creationId xmlns:p14="http://schemas.microsoft.com/office/powerpoint/2010/main" xmlns="" val="1732501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8E3332FC-C6C8-F86F-02A1-15EC69844DDC}"/>
              </a:ext>
            </a:extLst>
          </p:cNvPr>
          <p:cNvSpPr txBox="1"/>
          <p:nvPr/>
        </p:nvSpPr>
        <p:spPr>
          <a:xfrm>
            <a:off x="4711959" y="0"/>
            <a:ext cx="2883159" cy="646331"/>
          </a:xfrm>
          <a:prstGeom prst="rect">
            <a:avLst/>
          </a:prstGeom>
          <a:noFill/>
        </p:spPr>
        <p:txBody>
          <a:bodyPr wrap="square" rtlCol="0">
            <a:spAutoFit/>
          </a:bodyPr>
          <a:lstStyle/>
          <a:p>
            <a:r>
              <a:rPr lang="en-US" sz="3600" dirty="0"/>
              <a:t>Normalization</a:t>
            </a:r>
          </a:p>
        </p:txBody>
      </p:sp>
      <mc:AlternateContent xmlns:mc="http://schemas.openxmlformats.org/markup-compatibility/2006">
        <mc:Choice xmlns:a14="http://schemas.microsoft.com/office/drawing/2010/main" xmlns="" Requires="a14">
          <p:sp>
            <p:nvSpPr>
              <p:cNvPr id="3" name="TextBox 2">
                <a:extLst>
                  <a:ext uri="{FF2B5EF4-FFF2-40B4-BE49-F238E27FC236}">
                    <a16:creationId xmlns:a16="http://schemas.microsoft.com/office/drawing/2014/main" id="{E8361EAB-BEEF-58A2-4C35-8CDF36A45B24}"/>
                  </a:ext>
                </a:extLst>
              </p:cNvPr>
              <p:cNvSpPr txBox="1"/>
              <p:nvPr/>
            </p:nvSpPr>
            <p:spPr>
              <a:xfrm>
                <a:off x="550415" y="737481"/>
                <a:ext cx="11212497" cy="830997"/>
              </a:xfrm>
              <a:prstGeom prst="rect">
                <a:avLst/>
              </a:prstGeom>
              <a:noFill/>
            </p:spPr>
            <p:txBody>
              <a:bodyPr wrap="square" rtlCol="0">
                <a:spAutoFit/>
              </a:bodyPr>
              <a:lstStyle/>
              <a:p>
                <a:r>
                  <a:rPr lang="en-US" sz="2400" dirty="0"/>
                  <a:t>The total probability of to find a particle from </a:t>
                </a:r>
                <a14:m>
                  <m:oMath xmlns:m="http://schemas.openxmlformats.org/officeDocument/2006/math">
                    <m:r>
                      <a:rPr lang="en-US" sz="2400" b="0" i="1" smtClean="0">
                        <a:latin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m:t>
                    </m:r>
                  </m:oMath>
                </a14:m>
                <a:r>
                  <a:rPr lang="en-US" sz="2400" dirty="0"/>
                  <a:t> to </a:t>
                </a:r>
                <a14:m>
                  <m:oMath xmlns:m="http://schemas.openxmlformats.org/officeDocument/2006/math">
                    <m:r>
                      <a:rPr lang="en-US" sz="2400" i="1" dirty="0" smtClean="0">
                        <a:solidFill>
                          <a:prstClr val="black"/>
                        </a:solidFill>
                        <a:latin typeface="Cambria Math" panose="02040503050406030204" pitchFamily="18" charset="0"/>
                      </a:rPr>
                      <m:t>+</m:t>
                    </m:r>
                    <m:r>
                      <a:rPr lang="en-US" sz="2400" i="1">
                        <a:solidFill>
                          <a:prstClr val="black"/>
                        </a:solidFill>
                        <a:latin typeface="Cambria Math" panose="02040503050406030204" pitchFamily="18" charset="0"/>
                        <a:ea typeface="Cambria Math" panose="02040503050406030204" pitchFamily="18" charset="0"/>
                      </a:rPr>
                      <m:t>∞</m:t>
                    </m:r>
                  </m:oMath>
                </a14:m>
                <a:r>
                  <a:rPr lang="en-US" sz="2400" dirty="0"/>
                  <a:t> should be one. This is the normalization condition: </a:t>
                </a:r>
              </a:p>
            </p:txBody>
          </p:sp>
        </mc:Choice>
        <mc:Fallback>
          <p:sp>
            <p:nvSpPr>
              <p:cNvPr id="3" name="TextBox 2">
                <a:extLst>
                  <a:ext uri="{FF2B5EF4-FFF2-40B4-BE49-F238E27FC236}">
                    <a16:creationId xmlns:a16="http://schemas.microsoft.com/office/drawing/2014/main" xmlns="" xmlns:a14="http://schemas.microsoft.com/office/drawing/2010/main" id="{E8361EAB-BEEF-58A2-4C35-8CDF36A45B24}"/>
                  </a:ext>
                </a:extLst>
              </p:cNvPr>
              <p:cNvSpPr txBox="1">
                <a:spLocks noRot="1" noChangeAspect="1" noMove="1" noResize="1" noEditPoints="1" noAdjustHandles="1" noChangeArrowheads="1" noChangeShapeType="1" noTextEdit="1"/>
              </p:cNvSpPr>
              <p:nvPr/>
            </p:nvSpPr>
            <p:spPr>
              <a:xfrm>
                <a:off x="550415" y="737481"/>
                <a:ext cx="11212497" cy="830997"/>
              </a:xfrm>
              <a:prstGeom prst="rect">
                <a:avLst/>
              </a:prstGeom>
              <a:blipFill>
                <a:blip r:embed="rId2"/>
                <a:stretch>
                  <a:fillRect l="-815" t="-5882" b="-16176"/>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xmlns="" id="{A355A2C2-C0CC-996A-C922-51482EB987B4}"/>
              </a:ext>
            </a:extLst>
          </p:cNvPr>
          <p:cNvPicPr>
            <a:picLocks noChangeAspect="1"/>
          </p:cNvPicPr>
          <p:nvPr/>
        </p:nvPicPr>
        <p:blipFill>
          <a:blip r:embed="rId3"/>
          <a:stretch>
            <a:fillRect/>
          </a:stretch>
        </p:blipFill>
        <p:spPr>
          <a:xfrm>
            <a:off x="3783460" y="1343949"/>
            <a:ext cx="3524250" cy="1009650"/>
          </a:xfrm>
          <a:prstGeom prst="rect">
            <a:avLst/>
          </a:prstGeom>
        </p:spPr>
      </p:pic>
      <p:sp>
        <p:nvSpPr>
          <p:cNvPr id="6" name="TextBox 5">
            <a:extLst>
              <a:ext uri="{FF2B5EF4-FFF2-40B4-BE49-F238E27FC236}">
                <a16:creationId xmlns:a16="http://schemas.microsoft.com/office/drawing/2014/main" xmlns="" id="{44B8B164-AEC5-84D3-67CD-396571F451F1}"/>
              </a:ext>
            </a:extLst>
          </p:cNvPr>
          <p:cNvSpPr txBox="1"/>
          <p:nvPr/>
        </p:nvSpPr>
        <p:spPr>
          <a:xfrm>
            <a:off x="709126" y="2479741"/>
            <a:ext cx="10739535" cy="461665"/>
          </a:xfrm>
          <a:prstGeom prst="rect">
            <a:avLst/>
          </a:prstGeom>
          <a:noFill/>
        </p:spPr>
        <p:txBody>
          <a:bodyPr wrap="square" rtlCol="0">
            <a:spAutoFit/>
          </a:bodyPr>
          <a:lstStyle/>
          <a:p>
            <a:r>
              <a:rPr lang="en-US" sz="2400" b="1" dirty="0">
                <a:solidFill>
                  <a:srgbClr val="FF0000"/>
                </a:solidFill>
              </a:rPr>
              <a:t>If a wavefunction is </a:t>
            </a:r>
            <a:r>
              <a:rPr lang="en-US" sz="2400" b="1" dirty="0" err="1">
                <a:solidFill>
                  <a:srgbClr val="FF0000"/>
                </a:solidFill>
              </a:rPr>
              <a:t>normalizable</a:t>
            </a:r>
            <a:r>
              <a:rPr lang="en-US" sz="2400" b="1" dirty="0">
                <a:solidFill>
                  <a:srgbClr val="FF0000"/>
                </a:solidFill>
              </a:rPr>
              <a:t> at t=0, it will be </a:t>
            </a:r>
            <a:r>
              <a:rPr lang="en-US" sz="2400" b="1" dirty="0" err="1">
                <a:solidFill>
                  <a:srgbClr val="FF0000"/>
                </a:solidFill>
              </a:rPr>
              <a:t>normalizable</a:t>
            </a:r>
            <a:r>
              <a:rPr lang="en-US" sz="2400" b="1" dirty="0">
                <a:solidFill>
                  <a:srgbClr val="FF0000"/>
                </a:solidFill>
              </a:rPr>
              <a:t> at any other time</a:t>
            </a:r>
          </a:p>
        </p:txBody>
      </p:sp>
      <p:sp>
        <p:nvSpPr>
          <p:cNvPr id="7" name="TextBox 6">
            <a:extLst>
              <a:ext uri="{FF2B5EF4-FFF2-40B4-BE49-F238E27FC236}">
                <a16:creationId xmlns:a16="http://schemas.microsoft.com/office/drawing/2014/main" xmlns="" id="{AA88A8F0-4EAC-5E05-A21A-3953CA058E97}"/>
              </a:ext>
            </a:extLst>
          </p:cNvPr>
          <p:cNvSpPr txBox="1"/>
          <p:nvPr/>
        </p:nvSpPr>
        <p:spPr>
          <a:xfrm>
            <a:off x="825623" y="2963913"/>
            <a:ext cx="1606859" cy="646331"/>
          </a:xfrm>
          <a:prstGeom prst="rect">
            <a:avLst/>
          </a:prstGeom>
          <a:noFill/>
        </p:spPr>
        <p:txBody>
          <a:bodyPr wrap="square" rtlCol="0">
            <a:spAutoFit/>
          </a:bodyPr>
          <a:lstStyle/>
          <a:p>
            <a:r>
              <a:rPr lang="en-US" sz="3600" dirty="0"/>
              <a:t>PROOF:</a:t>
            </a:r>
          </a:p>
        </p:txBody>
      </p:sp>
      <p:pic>
        <p:nvPicPr>
          <p:cNvPr id="9" name="Picture 8">
            <a:extLst>
              <a:ext uri="{FF2B5EF4-FFF2-40B4-BE49-F238E27FC236}">
                <a16:creationId xmlns:a16="http://schemas.microsoft.com/office/drawing/2014/main" xmlns="" id="{C32818F3-85E9-609E-37DA-2772477C72C1}"/>
              </a:ext>
            </a:extLst>
          </p:cNvPr>
          <p:cNvPicPr>
            <a:picLocks noChangeAspect="1"/>
          </p:cNvPicPr>
          <p:nvPr/>
        </p:nvPicPr>
        <p:blipFill>
          <a:blip r:embed="rId4"/>
          <a:stretch>
            <a:fillRect/>
          </a:stretch>
        </p:blipFill>
        <p:spPr>
          <a:xfrm>
            <a:off x="2906022" y="4070724"/>
            <a:ext cx="7134225" cy="1152525"/>
          </a:xfrm>
          <a:prstGeom prst="rect">
            <a:avLst/>
          </a:prstGeom>
        </p:spPr>
      </p:pic>
      <p:pic>
        <p:nvPicPr>
          <p:cNvPr id="11" name="Picture 10">
            <a:extLst>
              <a:ext uri="{FF2B5EF4-FFF2-40B4-BE49-F238E27FC236}">
                <a16:creationId xmlns:a16="http://schemas.microsoft.com/office/drawing/2014/main" xmlns="" id="{F09E89DC-3FB2-A12C-493C-DC2404F20BAF}"/>
              </a:ext>
            </a:extLst>
          </p:cNvPr>
          <p:cNvPicPr>
            <a:picLocks noChangeAspect="1"/>
          </p:cNvPicPr>
          <p:nvPr/>
        </p:nvPicPr>
        <p:blipFill>
          <a:blip r:embed="rId5"/>
          <a:stretch>
            <a:fillRect/>
          </a:stretch>
        </p:blipFill>
        <p:spPr>
          <a:xfrm>
            <a:off x="3000375" y="2895600"/>
            <a:ext cx="6191250" cy="1066800"/>
          </a:xfrm>
          <a:prstGeom prst="rect">
            <a:avLst/>
          </a:prstGeom>
        </p:spPr>
      </p:pic>
    </p:spTree>
    <p:extLst>
      <p:ext uri="{BB962C8B-B14F-4D97-AF65-F5344CB8AC3E}">
        <p14:creationId xmlns:p14="http://schemas.microsoft.com/office/powerpoint/2010/main" xmlns="" val="21785163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xmlns="" id="{09CA308F-7164-5BDA-6A0B-18BAEDF8DA57}"/>
              </a:ext>
            </a:extLst>
          </p:cNvPr>
          <p:cNvPicPr>
            <a:picLocks noChangeAspect="1"/>
          </p:cNvPicPr>
          <p:nvPr/>
        </p:nvPicPr>
        <p:blipFill>
          <a:blip r:embed="rId2"/>
          <a:stretch>
            <a:fillRect/>
          </a:stretch>
        </p:blipFill>
        <p:spPr>
          <a:xfrm>
            <a:off x="518871" y="224680"/>
            <a:ext cx="8726616" cy="1884038"/>
          </a:xfrm>
          <a:prstGeom prst="rect">
            <a:avLst/>
          </a:prstGeom>
        </p:spPr>
      </p:pic>
      <p:pic>
        <p:nvPicPr>
          <p:cNvPr id="5" name="Picture 4">
            <a:extLst>
              <a:ext uri="{FF2B5EF4-FFF2-40B4-BE49-F238E27FC236}">
                <a16:creationId xmlns:a16="http://schemas.microsoft.com/office/drawing/2014/main" xmlns="" id="{A9AFA41B-C9BE-429E-D1A6-480F1BAB55B9}"/>
              </a:ext>
            </a:extLst>
          </p:cNvPr>
          <p:cNvPicPr>
            <a:picLocks noChangeAspect="1"/>
          </p:cNvPicPr>
          <p:nvPr/>
        </p:nvPicPr>
        <p:blipFill>
          <a:blip r:embed="rId3"/>
          <a:stretch>
            <a:fillRect/>
          </a:stretch>
        </p:blipFill>
        <p:spPr>
          <a:xfrm>
            <a:off x="4882179" y="2247479"/>
            <a:ext cx="4619625" cy="1057275"/>
          </a:xfrm>
          <a:prstGeom prst="rect">
            <a:avLst/>
          </a:prstGeom>
        </p:spPr>
      </p:pic>
      <p:pic>
        <p:nvPicPr>
          <p:cNvPr id="7" name="Picture 6">
            <a:extLst>
              <a:ext uri="{FF2B5EF4-FFF2-40B4-BE49-F238E27FC236}">
                <a16:creationId xmlns:a16="http://schemas.microsoft.com/office/drawing/2014/main" xmlns="" id="{6607EB54-1EFA-262F-73B0-9D1A20BDA025}"/>
              </a:ext>
            </a:extLst>
          </p:cNvPr>
          <p:cNvPicPr>
            <a:picLocks noChangeAspect="1"/>
          </p:cNvPicPr>
          <p:nvPr/>
        </p:nvPicPr>
        <p:blipFill>
          <a:blip r:embed="rId4"/>
          <a:stretch>
            <a:fillRect/>
          </a:stretch>
        </p:blipFill>
        <p:spPr>
          <a:xfrm>
            <a:off x="735749" y="3429000"/>
            <a:ext cx="11216766" cy="1115536"/>
          </a:xfrm>
          <a:prstGeom prst="rect">
            <a:avLst/>
          </a:prstGeom>
        </p:spPr>
      </p:pic>
      <p:pic>
        <p:nvPicPr>
          <p:cNvPr id="9" name="Picture 8">
            <a:extLst>
              <a:ext uri="{FF2B5EF4-FFF2-40B4-BE49-F238E27FC236}">
                <a16:creationId xmlns:a16="http://schemas.microsoft.com/office/drawing/2014/main" xmlns="" id="{297C1AEB-7C6E-367F-FBB7-3EAAD4067B8D}"/>
              </a:ext>
            </a:extLst>
          </p:cNvPr>
          <p:cNvPicPr>
            <a:picLocks noChangeAspect="1"/>
          </p:cNvPicPr>
          <p:nvPr/>
        </p:nvPicPr>
        <p:blipFill>
          <a:blip r:embed="rId5"/>
          <a:stretch>
            <a:fillRect/>
          </a:stretch>
        </p:blipFill>
        <p:spPr>
          <a:xfrm>
            <a:off x="2454597" y="4821928"/>
            <a:ext cx="8852648" cy="1115536"/>
          </a:xfrm>
          <a:prstGeom prst="rect">
            <a:avLst/>
          </a:prstGeom>
        </p:spPr>
      </p:pic>
    </p:spTree>
    <p:extLst>
      <p:ext uri="{BB962C8B-B14F-4D97-AF65-F5344CB8AC3E}">
        <p14:creationId xmlns:p14="http://schemas.microsoft.com/office/powerpoint/2010/main" xmlns="" val="40739136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xmlns="" id="{00F3FEF4-BCEB-17E2-B035-1AD1F8CCD5AF}"/>
              </a:ext>
            </a:extLst>
          </p:cNvPr>
          <p:cNvPicPr>
            <a:picLocks noChangeAspect="1"/>
          </p:cNvPicPr>
          <p:nvPr/>
        </p:nvPicPr>
        <p:blipFill>
          <a:blip r:embed="rId2"/>
          <a:stretch>
            <a:fillRect/>
          </a:stretch>
        </p:blipFill>
        <p:spPr>
          <a:xfrm>
            <a:off x="1137158" y="121104"/>
            <a:ext cx="9282220" cy="578692"/>
          </a:xfrm>
          <a:prstGeom prst="rect">
            <a:avLst/>
          </a:prstGeom>
        </p:spPr>
      </p:pic>
      <p:pic>
        <p:nvPicPr>
          <p:cNvPr id="5" name="Picture 4">
            <a:extLst>
              <a:ext uri="{FF2B5EF4-FFF2-40B4-BE49-F238E27FC236}">
                <a16:creationId xmlns:a16="http://schemas.microsoft.com/office/drawing/2014/main" xmlns="" id="{494B4F9E-8B70-7AFF-5017-85AB3A80123C}"/>
              </a:ext>
            </a:extLst>
          </p:cNvPr>
          <p:cNvPicPr>
            <a:picLocks noChangeAspect="1"/>
          </p:cNvPicPr>
          <p:nvPr/>
        </p:nvPicPr>
        <p:blipFill>
          <a:blip r:embed="rId3"/>
          <a:stretch>
            <a:fillRect/>
          </a:stretch>
        </p:blipFill>
        <p:spPr>
          <a:xfrm>
            <a:off x="3272450" y="915954"/>
            <a:ext cx="4732049" cy="1172159"/>
          </a:xfrm>
          <a:prstGeom prst="rect">
            <a:avLst/>
          </a:prstGeom>
        </p:spPr>
      </p:pic>
      <p:pic>
        <p:nvPicPr>
          <p:cNvPr id="7" name="Picture 6">
            <a:extLst>
              <a:ext uri="{FF2B5EF4-FFF2-40B4-BE49-F238E27FC236}">
                <a16:creationId xmlns:a16="http://schemas.microsoft.com/office/drawing/2014/main" xmlns="" id="{61E60750-11E6-F4DE-90AF-26F770156016}"/>
              </a:ext>
            </a:extLst>
          </p:cNvPr>
          <p:cNvPicPr>
            <a:picLocks noChangeAspect="1"/>
          </p:cNvPicPr>
          <p:nvPr/>
        </p:nvPicPr>
        <p:blipFill>
          <a:blip r:embed="rId4"/>
          <a:stretch>
            <a:fillRect/>
          </a:stretch>
        </p:blipFill>
        <p:spPr>
          <a:xfrm>
            <a:off x="0" y="2452202"/>
            <a:ext cx="11835008" cy="771525"/>
          </a:xfrm>
          <a:prstGeom prst="rect">
            <a:avLst/>
          </a:prstGeom>
        </p:spPr>
      </p:pic>
    </p:spTree>
    <p:extLst>
      <p:ext uri="{BB962C8B-B14F-4D97-AF65-F5344CB8AC3E}">
        <p14:creationId xmlns:p14="http://schemas.microsoft.com/office/powerpoint/2010/main" xmlns="" val="22692296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xmlns="" id="{B3C4D8FC-1924-FF99-5EB6-BEF8BA533ED8}"/>
              </a:ext>
            </a:extLst>
          </p:cNvPr>
          <p:cNvPicPr>
            <a:picLocks noChangeAspect="1"/>
          </p:cNvPicPr>
          <p:nvPr/>
        </p:nvPicPr>
        <p:blipFill>
          <a:blip r:embed="rId2"/>
          <a:stretch>
            <a:fillRect/>
          </a:stretch>
        </p:blipFill>
        <p:spPr>
          <a:xfrm>
            <a:off x="1145577" y="233266"/>
            <a:ext cx="9810991" cy="6074228"/>
          </a:xfrm>
          <a:prstGeom prst="rect">
            <a:avLst/>
          </a:prstGeom>
        </p:spPr>
      </p:pic>
    </p:spTree>
    <p:extLst>
      <p:ext uri="{BB962C8B-B14F-4D97-AF65-F5344CB8AC3E}">
        <p14:creationId xmlns:p14="http://schemas.microsoft.com/office/powerpoint/2010/main" xmlns="" val="12879605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xmlns="" id="{34712FB9-7DE8-A9F9-11AC-8A941336D672}"/>
              </a:ext>
            </a:extLst>
          </p:cNvPr>
          <p:cNvPicPr>
            <a:picLocks noChangeAspect="1"/>
          </p:cNvPicPr>
          <p:nvPr/>
        </p:nvPicPr>
        <p:blipFill>
          <a:blip r:embed="rId2"/>
          <a:stretch>
            <a:fillRect/>
          </a:stretch>
        </p:blipFill>
        <p:spPr>
          <a:xfrm>
            <a:off x="1845417" y="0"/>
            <a:ext cx="7113818" cy="6671388"/>
          </a:xfrm>
          <a:prstGeom prst="rect">
            <a:avLst/>
          </a:prstGeom>
        </p:spPr>
      </p:pic>
    </p:spTree>
    <p:extLst>
      <p:ext uri="{BB962C8B-B14F-4D97-AF65-F5344CB8AC3E}">
        <p14:creationId xmlns:p14="http://schemas.microsoft.com/office/powerpoint/2010/main" xmlns="" val="19957104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60722FAA-2246-8933-4CD4-6401A1C1A8B6}"/>
              </a:ext>
            </a:extLst>
          </p:cNvPr>
          <p:cNvSpPr txBox="1"/>
          <p:nvPr/>
        </p:nvSpPr>
        <p:spPr>
          <a:xfrm>
            <a:off x="4845698" y="-65315"/>
            <a:ext cx="2500604" cy="646331"/>
          </a:xfrm>
          <a:prstGeom prst="rect">
            <a:avLst/>
          </a:prstGeom>
          <a:noFill/>
        </p:spPr>
        <p:txBody>
          <a:bodyPr wrap="square" rtlCol="0">
            <a:spAutoFit/>
          </a:bodyPr>
          <a:lstStyle/>
          <a:p>
            <a:r>
              <a:rPr lang="en-US" sz="3600" dirty="0"/>
              <a:t>Momentum</a:t>
            </a:r>
          </a:p>
        </p:txBody>
      </p:sp>
      <p:pic>
        <p:nvPicPr>
          <p:cNvPr id="4" name="Picture 3">
            <a:extLst>
              <a:ext uri="{FF2B5EF4-FFF2-40B4-BE49-F238E27FC236}">
                <a16:creationId xmlns:a16="http://schemas.microsoft.com/office/drawing/2014/main" xmlns="" id="{4A029DCD-2275-3DCF-A15F-F53B6A746091}"/>
              </a:ext>
            </a:extLst>
          </p:cNvPr>
          <p:cNvPicPr>
            <a:picLocks noChangeAspect="1"/>
          </p:cNvPicPr>
          <p:nvPr/>
        </p:nvPicPr>
        <p:blipFill>
          <a:blip r:embed="rId2"/>
          <a:stretch>
            <a:fillRect/>
          </a:stretch>
        </p:blipFill>
        <p:spPr>
          <a:xfrm>
            <a:off x="1628193" y="581016"/>
            <a:ext cx="8010487" cy="2199945"/>
          </a:xfrm>
          <a:prstGeom prst="rect">
            <a:avLst/>
          </a:prstGeom>
        </p:spPr>
      </p:pic>
      <mc:AlternateContent xmlns:mc="http://schemas.openxmlformats.org/markup-compatibility/2006">
        <mc:Choice xmlns:a14="http://schemas.microsoft.com/office/drawing/2010/main" xmlns="" Requires="a14">
          <p:sp>
            <p:nvSpPr>
              <p:cNvPr id="6" name="TextBox 5">
                <a:extLst>
                  <a:ext uri="{FF2B5EF4-FFF2-40B4-BE49-F238E27FC236}">
                    <a16:creationId xmlns:a16="http://schemas.microsoft.com/office/drawing/2014/main" id="{B4C04417-A8FE-65AE-E646-4C2277C82E51}"/>
                  </a:ext>
                </a:extLst>
              </p:cNvPr>
              <p:cNvSpPr txBox="1"/>
              <p:nvPr/>
            </p:nvSpPr>
            <p:spPr>
              <a:xfrm>
                <a:off x="559294" y="2936787"/>
                <a:ext cx="11390050" cy="830997"/>
              </a:xfrm>
              <a:prstGeom prst="rect">
                <a:avLst/>
              </a:prstGeom>
              <a:noFill/>
            </p:spPr>
            <p:txBody>
              <a:bodyPr wrap="square" rtlCol="0">
                <a:spAutoFit/>
              </a:bodyPr>
              <a:lstStyle/>
              <a:p>
                <a:r>
                  <a:rPr lang="en-US" sz="2400" dirty="0"/>
                  <a:t>As the time goes on the expectation value of x, </a:t>
                </a:r>
                <a14:m>
                  <m:oMath xmlns:m="http://schemas.openxmlformats.org/officeDocument/2006/math">
                    <m:r>
                      <a:rPr lang="en-US" sz="2400" b="0" i="1" smtClean="0">
                        <a:latin typeface="Cambria Math" panose="02040503050406030204" pitchFamily="18" charset="0"/>
                      </a:rPr>
                      <m:t>&lt;</m:t>
                    </m:r>
                    <m:r>
                      <a:rPr lang="en-US" sz="2400" b="0" i="1" smtClean="0">
                        <a:latin typeface="Cambria Math" panose="02040503050406030204" pitchFamily="18" charset="0"/>
                      </a:rPr>
                      <m:t>𝑥</m:t>
                    </m:r>
                    <m:r>
                      <a:rPr lang="en-US" sz="2400" b="0" i="1" smtClean="0">
                        <a:latin typeface="Cambria Math" panose="02040503050406030204" pitchFamily="18" charset="0"/>
                      </a:rPr>
                      <m:t>&gt;</m:t>
                    </m:r>
                  </m:oMath>
                </a14:m>
                <a:r>
                  <a:rPr lang="en-US" sz="2400" dirty="0"/>
                  <a:t> will change, since </a:t>
                </a:r>
                <a14:m>
                  <m:oMath xmlns:m="http://schemas.openxmlformats.org/officeDocument/2006/math">
                    <m:r>
                      <m:rPr>
                        <m:sty m:val="p"/>
                      </m:rPr>
                      <a:rPr lang="el-GR" sz="2400" i="1" smtClean="0">
                        <a:latin typeface="Cambria Math" panose="02040503050406030204" pitchFamily="18" charset="0"/>
                        <a:ea typeface="Cambria Math" panose="02040503050406030204" pitchFamily="18" charset="0"/>
                      </a:rPr>
                      <m:t>Ψ</m:t>
                    </m:r>
                    <m:d>
                      <m:dPr>
                        <m:ctrlPr>
                          <a:rPr lang="en-US" sz="2400" b="0" i="1" smtClean="0">
                            <a:latin typeface="Cambria Math" panose="02040503050406030204" pitchFamily="18" charset="0"/>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𝑥</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𝑡</m:t>
                        </m:r>
                      </m:e>
                    </m:d>
                  </m:oMath>
                </a14:m>
                <a:r>
                  <a:rPr lang="en-US" sz="2400" dirty="0"/>
                  <a:t> changes with time</a:t>
                </a:r>
              </a:p>
            </p:txBody>
          </p:sp>
        </mc:Choice>
        <mc:Fallback>
          <p:sp>
            <p:nvSpPr>
              <p:cNvPr id="6" name="TextBox 5">
                <a:extLst>
                  <a:ext uri="{FF2B5EF4-FFF2-40B4-BE49-F238E27FC236}">
                    <a16:creationId xmlns:a16="http://schemas.microsoft.com/office/drawing/2014/main" xmlns="" xmlns:a14="http://schemas.microsoft.com/office/drawing/2010/main" id="{B4C04417-A8FE-65AE-E646-4C2277C82E51}"/>
                  </a:ext>
                </a:extLst>
              </p:cNvPr>
              <p:cNvSpPr txBox="1">
                <a:spLocks noRot="1" noChangeAspect="1" noMove="1" noResize="1" noEditPoints="1" noAdjustHandles="1" noChangeArrowheads="1" noChangeShapeType="1" noTextEdit="1"/>
              </p:cNvSpPr>
              <p:nvPr/>
            </p:nvSpPr>
            <p:spPr>
              <a:xfrm>
                <a:off x="559294" y="2936787"/>
                <a:ext cx="11390050" cy="830997"/>
              </a:xfrm>
              <a:prstGeom prst="rect">
                <a:avLst/>
              </a:prstGeom>
              <a:blipFill>
                <a:blip r:embed="rId3"/>
                <a:stretch>
                  <a:fillRect l="-857" t="-5882" b="-16176"/>
                </a:stretch>
              </a:blipFill>
            </p:spPr>
            <p:txBody>
              <a:bodyPr/>
              <a:lstStyle/>
              <a:p>
                <a:r>
                  <a:rPr lang="en-US">
                    <a:noFill/>
                  </a:rPr>
                  <a:t> </a:t>
                </a:r>
              </a:p>
            </p:txBody>
          </p:sp>
        </mc:Fallback>
      </mc:AlternateContent>
      <p:pic>
        <p:nvPicPr>
          <p:cNvPr id="8" name="Picture 7">
            <a:extLst>
              <a:ext uri="{FF2B5EF4-FFF2-40B4-BE49-F238E27FC236}">
                <a16:creationId xmlns:a16="http://schemas.microsoft.com/office/drawing/2014/main" xmlns="" id="{DC7AB1D1-3139-1203-AE7A-05A103056FEC}"/>
              </a:ext>
            </a:extLst>
          </p:cNvPr>
          <p:cNvPicPr>
            <a:picLocks noChangeAspect="1"/>
          </p:cNvPicPr>
          <p:nvPr/>
        </p:nvPicPr>
        <p:blipFill>
          <a:blip r:embed="rId4"/>
          <a:stretch>
            <a:fillRect/>
          </a:stretch>
        </p:blipFill>
        <p:spPr>
          <a:xfrm>
            <a:off x="2041031" y="3427292"/>
            <a:ext cx="9591675" cy="1057275"/>
          </a:xfrm>
          <a:prstGeom prst="rect">
            <a:avLst/>
          </a:prstGeom>
        </p:spPr>
      </p:pic>
      <p:pic>
        <p:nvPicPr>
          <p:cNvPr id="10" name="Picture 9">
            <a:extLst>
              <a:ext uri="{FF2B5EF4-FFF2-40B4-BE49-F238E27FC236}">
                <a16:creationId xmlns:a16="http://schemas.microsoft.com/office/drawing/2014/main" xmlns="" id="{DB6CD629-4ADA-F7D9-7A17-8AC1057592F0}"/>
              </a:ext>
            </a:extLst>
          </p:cNvPr>
          <p:cNvPicPr>
            <a:picLocks noChangeAspect="1"/>
          </p:cNvPicPr>
          <p:nvPr/>
        </p:nvPicPr>
        <p:blipFill>
          <a:blip r:embed="rId5"/>
          <a:stretch>
            <a:fillRect/>
          </a:stretch>
        </p:blipFill>
        <p:spPr>
          <a:xfrm>
            <a:off x="1941481" y="4527397"/>
            <a:ext cx="9267825" cy="447675"/>
          </a:xfrm>
          <a:prstGeom prst="rect">
            <a:avLst/>
          </a:prstGeom>
        </p:spPr>
      </p:pic>
      <p:pic>
        <p:nvPicPr>
          <p:cNvPr id="12" name="Picture 11">
            <a:extLst>
              <a:ext uri="{FF2B5EF4-FFF2-40B4-BE49-F238E27FC236}">
                <a16:creationId xmlns:a16="http://schemas.microsoft.com/office/drawing/2014/main" xmlns="" id="{09E3160E-D45D-E886-F2DC-6219DC219788}"/>
              </a:ext>
            </a:extLst>
          </p:cNvPr>
          <p:cNvPicPr>
            <a:picLocks noChangeAspect="1"/>
          </p:cNvPicPr>
          <p:nvPr/>
        </p:nvPicPr>
        <p:blipFill>
          <a:blip r:embed="rId6"/>
          <a:stretch>
            <a:fillRect/>
          </a:stretch>
        </p:blipFill>
        <p:spPr>
          <a:xfrm>
            <a:off x="3025344" y="5244147"/>
            <a:ext cx="6457950" cy="981075"/>
          </a:xfrm>
          <a:prstGeom prst="rect">
            <a:avLst/>
          </a:prstGeom>
        </p:spPr>
      </p:pic>
    </p:spTree>
    <p:extLst>
      <p:ext uri="{BB962C8B-B14F-4D97-AF65-F5344CB8AC3E}">
        <p14:creationId xmlns:p14="http://schemas.microsoft.com/office/powerpoint/2010/main" xmlns="" val="29275565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xmlns="" id="{6C2DA8C5-2277-388B-2C1E-9A3A1672D849}"/>
              </a:ext>
            </a:extLst>
          </p:cNvPr>
          <p:cNvPicPr>
            <a:picLocks noChangeAspect="1"/>
          </p:cNvPicPr>
          <p:nvPr/>
        </p:nvPicPr>
        <p:blipFill>
          <a:blip r:embed="rId2"/>
          <a:stretch>
            <a:fillRect/>
          </a:stretch>
        </p:blipFill>
        <p:spPr>
          <a:xfrm>
            <a:off x="349898" y="163122"/>
            <a:ext cx="11492204" cy="1231617"/>
          </a:xfrm>
          <a:prstGeom prst="rect">
            <a:avLst/>
          </a:prstGeom>
        </p:spPr>
      </p:pic>
      <p:pic>
        <p:nvPicPr>
          <p:cNvPr id="5" name="Picture 4">
            <a:extLst>
              <a:ext uri="{FF2B5EF4-FFF2-40B4-BE49-F238E27FC236}">
                <a16:creationId xmlns:a16="http://schemas.microsoft.com/office/drawing/2014/main" xmlns="" id="{58C4A4C9-7A89-9EDA-66B0-B6C35F82E44F}"/>
              </a:ext>
            </a:extLst>
          </p:cNvPr>
          <p:cNvPicPr>
            <a:picLocks noChangeAspect="1"/>
          </p:cNvPicPr>
          <p:nvPr/>
        </p:nvPicPr>
        <p:blipFill>
          <a:blip r:embed="rId3"/>
          <a:stretch>
            <a:fillRect/>
          </a:stretch>
        </p:blipFill>
        <p:spPr>
          <a:xfrm>
            <a:off x="3342983" y="1548202"/>
            <a:ext cx="4555411" cy="1073701"/>
          </a:xfrm>
          <a:prstGeom prst="rect">
            <a:avLst/>
          </a:prstGeom>
        </p:spPr>
      </p:pic>
      <p:sp>
        <p:nvSpPr>
          <p:cNvPr id="6" name="TextBox 5">
            <a:extLst>
              <a:ext uri="{FF2B5EF4-FFF2-40B4-BE49-F238E27FC236}">
                <a16:creationId xmlns:a16="http://schemas.microsoft.com/office/drawing/2014/main" xmlns="" id="{AF1B4804-507A-7D37-F987-63E15EC52E51}"/>
              </a:ext>
            </a:extLst>
          </p:cNvPr>
          <p:cNvSpPr txBox="1"/>
          <p:nvPr/>
        </p:nvSpPr>
        <p:spPr>
          <a:xfrm>
            <a:off x="1884784" y="2775366"/>
            <a:ext cx="8854751" cy="523220"/>
          </a:xfrm>
          <a:prstGeom prst="rect">
            <a:avLst/>
          </a:prstGeom>
          <a:noFill/>
        </p:spPr>
        <p:txBody>
          <a:bodyPr wrap="square" rtlCol="0">
            <a:spAutoFit/>
          </a:bodyPr>
          <a:lstStyle/>
          <a:p>
            <a:r>
              <a:rPr lang="en-US" sz="2800" dirty="0"/>
              <a:t>So, the expectation value of the velocity is </a:t>
            </a:r>
          </a:p>
        </p:txBody>
      </p:sp>
      <p:pic>
        <p:nvPicPr>
          <p:cNvPr id="8" name="Picture 7">
            <a:extLst>
              <a:ext uri="{FF2B5EF4-FFF2-40B4-BE49-F238E27FC236}">
                <a16:creationId xmlns:a16="http://schemas.microsoft.com/office/drawing/2014/main" xmlns="" id="{AC4D83AF-4CC7-F53D-682F-F921E9D5C3EF}"/>
              </a:ext>
            </a:extLst>
          </p:cNvPr>
          <p:cNvPicPr>
            <a:picLocks noChangeAspect="1"/>
          </p:cNvPicPr>
          <p:nvPr/>
        </p:nvPicPr>
        <p:blipFill>
          <a:blip r:embed="rId4"/>
          <a:stretch>
            <a:fillRect/>
          </a:stretch>
        </p:blipFill>
        <p:spPr>
          <a:xfrm>
            <a:off x="8201608" y="2489708"/>
            <a:ext cx="1838325" cy="1009650"/>
          </a:xfrm>
          <a:prstGeom prst="rect">
            <a:avLst/>
          </a:prstGeom>
        </p:spPr>
      </p:pic>
      <p:pic>
        <p:nvPicPr>
          <p:cNvPr id="10" name="Picture 9">
            <a:extLst>
              <a:ext uri="{FF2B5EF4-FFF2-40B4-BE49-F238E27FC236}">
                <a16:creationId xmlns:a16="http://schemas.microsoft.com/office/drawing/2014/main" xmlns="" id="{DCB6E121-C809-CA81-9322-A838BA6A6F28}"/>
              </a:ext>
            </a:extLst>
          </p:cNvPr>
          <p:cNvPicPr>
            <a:picLocks noChangeAspect="1"/>
          </p:cNvPicPr>
          <p:nvPr/>
        </p:nvPicPr>
        <p:blipFill>
          <a:blip r:embed="rId5"/>
          <a:stretch>
            <a:fillRect/>
          </a:stretch>
        </p:blipFill>
        <p:spPr>
          <a:xfrm>
            <a:off x="3342983" y="3975218"/>
            <a:ext cx="5667277" cy="964068"/>
          </a:xfrm>
          <a:prstGeom prst="rect">
            <a:avLst/>
          </a:prstGeom>
        </p:spPr>
      </p:pic>
      <p:sp>
        <p:nvSpPr>
          <p:cNvPr id="11" name="TextBox 10">
            <a:extLst>
              <a:ext uri="{FF2B5EF4-FFF2-40B4-BE49-F238E27FC236}">
                <a16:creationId xmlns:a16="http://schemas.microsoft.com/office/drawing/2014/main" xmlns="" id="{FC70CAF3-1468-BC56-7772-4518F5CF29FD}"/>
              </a:ext>
            </a:extLst>
          </p:cNvPr>
          <p:cNvSpPr txBox="1"/>
          <p:nvPr/>
        </p:nvSpPr>
        <p:spPr>
          <a:xfrm>
            <a:off x="1968759" y="3479310"/>
            <a:ext cx="6232849" cy="523220"/>
          </a:xfrm>
          <a:prstGeom prst="rect">
            <a:avLst/>
          </a:prstGeom>
          <a:noFill/>
        </p:spPr>
        <p:txBody>
          <a:bodyPr wrap="square" rtlCol="0">
            <a:spAutoFit/>
          </a:bodyPr>
          <a:lstStyle/>
          <a:p>
            <a:r>
              <a:rPr lang="en-US" sz="2800" dirty="0"/>
              <a:t>And the momentum of the particle is </a:t>
            </a:r>
          </a:p>
        </p:txBody>
      </p:sp>
    </p:spTree>
    <p:extLst>
      <p:ext uri="{BB962C8B-B14F-4D97-AF65-F5344CB8AC3E}">
        <p14:creationId xmlns:p14="http://schemas.microsoft.com/office/powerpoint/2010/main" xmlns="" val="36502406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xmlns="" id="{E07453A8-C566-DBE0-E284-E7FE26AB6791}"/>
              </a:ext>
            </a:extLst>
          </p:cNvPr>
          <p:cNvPicPr>
            <a:picLocks noChangeAspect="1"/>
          </p:cNvPicPr>
          <p:nvPr/>
        </p:nvPicPr>
        <p:blipFill>
          <a:blip r:embed="rId2"/>
          <a:stretch>
            <a:fillRect/>
          </a:stretch>
        </p:blipFill>
        <p:spPr>
          <a:xfrm>
            <a:off x="3445912" y="579665"/>
            <a:ext cx="4591050" cy="2171700"/>
          </a:xfrm>
          <a:prstGeom prst="rect">
            <a:avLst/>
          </a:prstGeom>
        </p:spPr>
      </p:pic>
      <p:sp>
        <p:nvSpPr>
          <p:cNvPr id="4" name="TextBox 3">
            <a:extLst>
              <a:ext uri="{FF2B5EF4-FFF2-40B4-BE49-F238E27FC236}">
                <a16:creationId xmlns:a16="http://schemas.microsoft.com/office/drawing/2014/main" xmlns="" id="{6EC456C9-6561-4021-68C0-7FF7566A85E0}"/>
              </a:ext>
            </a:extLst>
          </p:cNvPr>
          <p:cNvSpPr txBox="1"/>
          <p:nvPr/>
        </p:nvSpPr>
        <p:spPr>
          <a:xfrm>
            <a:off x="548951" y="158621"/>
            <a:ext cx="11094098" cy="523220"/>
          </a:xfrm>
          <a:prstGeom prst="rect">
            <a:avLst/>
          </a:prstGeom>
          <a:noFill/>
        </p:spPr>
        <p:txBody>
          <a:bodyPr wrap="square" rtlCol="0">
            <a:spAutoFit/>
          </a:bodyPr>
          <a:lstStyle/>
          <a:p>
            <a:r>
              <a:rPr lang="en-US" sz="2800" dirty="0"/>
              <a:t>So, the expectation value of the position and momentum of the particle is </a:t>
            </a:r>
          </a:p>
        </p:txBody>
      </p:sp>
      <p:pic>
        <p:nvPicPr>
          <p:cNvPr id="6" name="Picture 5">
            <a:extLst>
              <a:ext uri="{FF2B5EF4-FFF2-40B4-BE49-F238E27FC236}">
                <a16:creationId xmlns:a16="http://schemas.microsoft.com/office/drawing/2014/main" xmlns="" id="{7D9253FF-C033-97FF-29D2-4A77CCBCE282}"/>
              </a:ext>
            </a:extLst>
          </p:cNvPr>
          <p:cNvPicPr>
            <a:picLocks noChangeAspect="1"/>
          </p:cNvPicPr>
          <p:nvPr/>
        </p:nvPicPr>
        <p:blipFill>
          <a:blip r:embed="rId3"/>
          <a:stretch>
            <a:fillRect/>
          </a:stretch>
        </p:blipFill>
        <p:spPr>
          <a:xfrm>
            <a:off x="363893" y="2881617"/>
            <a:ext cx="11753461" cy="1295171"/>
          </a:xfrm>
          <a:prstGeom prst="rect">
            <a:avLst/>
          </a:prstGeom>
        </p:spPr>
      </p:pic>
      <mc:AlternateContent xmlns:mc="http://schemas.openxmlformats.org/markup-compatibility/2006">
        <mc:Choice xmlns:a14="http://schemas.microsoft.com/office/drawing/2010/main" xmlns="" Requires="a14">
          <p:sp>
            <p:nvSpPr>
              <p:cNvPr id="2" name="TextBox 1">
                <a:extLst>
                  <a:ext uri="{FF2B5EF4-FFF2-40B4-BE49-F238E27FC236}">
                    <a16:creationId xmlns:a16="http://schemas.microsoft.com/office/drawing/2014/main" id="{FAD9048D-7DD2-0A0F-D5F9-BCAB7804E5A1}"/>
                  </a:ext>
                </a:extLst>
              </p:cNvPr>
              <p:cNvSpPr txBox="1"/>
              <p:nvPr/>
            </p:nvSpPr>
            <p:spPr>
              <a:xfrm>
                <a:off x="621437" y="4429957"/>
                <a:ext cx="10582182" cy="1407052"/>
              </a:xfrm>
              <a:prstGeom prst="rect">
                <a:avLst/>
              </a:prstGeom>
              <a:noFill/>
            </p:spPr>
            <p:txBody>
              <a:bodyPr wrap="square" rtlCol="0">
                <a:spAutoFit/>
              </a:bodyPr>
              <a:lstStyle/>
              <a:p>
                <a:r>
                  <a:rPr lang="en-US" sz="2400" dirty="0"/>
                  <a:t>These two relations are very important because all other physical quantities can be represented in terms of position and momentum. For example the kinetic energy </a:t>
                </a:r>
                <a14:m>
                  <m:oMath xmlns:m="http://schemas.openxmlformats.org/officeDocument/2006/math">
                    <m:r>
                      <a:rPr lang="en-US" sz="2400" b="0" i="1" smtClean="0">
                        <a:latin typeface="Cambria Math" panose="02040503050406030204" pitchFamily="18" charset="0"/>
                      </a:rPr>
                      <m:t>𝑇</m:t>
                    </m:r>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𝑝</m:t>
                            </m:r>
                          </m:e>
                          <m:sup>
                            <m:r>
                              <a:rPr lang="en-US" sz="2400" b="0" i="1" smtClean="0">
                                <a:latin typeface="Cambria Math" panose="02040503050406030204" pitchFamily="18" charset="0"/>
                              </a:rPr>
                              <m:t>2</m:t>
                            </m:r>
                          </m:sup>
                        </m:sSup>
                      </m:num>
                      <m:den>
                        <m:r>
                          <a:rPr lang="en-US" sz="2400" b="0" i="1" smtClean="0">
                            <a:latin typeface="Cambria Math" panose="02040503050406030204" pitchFamily="18" charset="0"/>
                          </a:rPr>
                          <m:t>2</m:t>
                        </m:r>
                        <m:r>
                          <a:rPr lang="en-US" sz="2400" b="0" i="1" smtClean="0">
                            <a:latin typeface="Cambria Math" panose="02040503050406030204" pitchFamily="18" charset="0"/>
                          </a:rPr>
                          <m:t>𝑚</m:t>
                        </m:r>
                        <m:r>
                          <a:rPr lang="en-US" sz="2400" b="0" i="1" smtClean="0">
                            <a:latin typeface="Cambria Math" panose="02040503050406030204" pitchFamily="18" charset="0"/>
                          </a:rPr>
                          <m:t> </m:t>
                        </m:r>
                      </m:den>
                    </m:f>
                  </m:oMath>
                </a14:m>
                <a:endParaRPr lang="en-US" sz="2400" dirty="0"/>
              </a:p>
            </p:txBody>
          </p:sp>
        </mc:Choice>
        <mc:Fallback>
          <p:sp>
            <p:nvSpPr>
              <p:cNvPr id="2" name="TextBox 1">
                <a:extLst>
                  <a:ext uri="{FF2B5EF4-FFF2-40B4-BE49-F238E27FC236}">
                    <a16:creationId xmlns:a16="http://schemas.microsoft.com/office/drawing/2014/main" xmlns="" xmlns:a14="http://schemas.microsoft.com/office/drawing/2010/main" id="{FAD9048D-7DD2-0A0F-D5F9-BCAB7804E5A1}"/>
                  </a:ext>
                </a:extLst>
              </p:cNvPr>
              <p:cNvSpPr txBox="1">
                <a:spLocks noRot="1" noChangeAspect="1" noMove="1" noResize="1" noEditPoints="1" noAdjustHandles="1" noChangeArrowheads="1" noChangeShapeType="1" noTextEdit="1"/>
              </p:cNvSpPr>
              <p:nvPr/>
            </p:nvSpPr>
            <p:spPr>
              <a:xfrm>
                <a:off x="621437" y="4429957"/>
                <a:ext cx="10582182" cy="1407052"/>
              </a:xfrm>
              <a:prstGeom prst="rect">
                <a:avLst/>
              </a:prstGeom>
              <a:blipFill>
                <a:blip r:embed="rId4"/>
                <a:stretch>
                  <a:fillRect l="-922" t="-3463"/>
                </a:stretch>
              </a:blipFill>
            </p:spPr>
            <p:txBody>
              <a:bodyPr/>
              <a:lstStyle/>
              <a:p>
                <a:r>
                  <a:rPr lang="en-US">
                    <a:noFill/>
                  </a:rPr>
                  <a:t> </a:t>
                </a:r>
              </a:p>
            </p:txBody>
          </p:sp>
        </mc:Fallback>
      </mc:AlternateContent>
    </p:spTree>
    <p:extLst>
      <p:ext uri="{BB962C8B-B14F-4D97-AF65-F5344CB8AC3E}">
        <p14:creationId xmlns:p14="http://schemas.microsoft.com/office/powerpoint/2010/main" xmlns="" val="41522503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xmlns="" Requires="a14">
          <p:sp>
            <p:nvSpPr>
              <p:cNvPr id="4" name="TextBox 3">
                <a:extLst>
                  <a:ext uri="{FF2B5EF4-FFF2-40B4-BE49-F238E27FC236}">
                    <a16:creationId xmlns:a16="http://schemas.microsoft.com/office/drawing/2014/main" id="{8DFCD58A-839B-1A1B-3AAF-193A7BE3135F}"/>
                  </a:ext>
                </a:extLst>
              </p:cNvPr>
              <p:cNvSpPr txBox="1"/>
              <p:nvPr/>
            </p:nvSpPr>
            <p:spPr>
              <a:xfrm>
                <a:off x="843886" y="865138"/>
                <a:ext cx="10705961" cy="3114699"/>
              </a:xfrm>
              <a:prstGeom prst="rect">
                <a:avLst/>
              </a:prstGeom>
              <a:noFill/>
            </p:spPr>
            <p:txBody>
              <a:bodyPr wrap="square" rtlCol="0">
                <a:spAutoFit/>
              </a:bodyPr>
              <a:lstStyle/>
              <a:p>
                <a:pPr algn="ctr"/>
                <a:r>
                  <a:rPr lang="en-US" sz="2400" dirty="0"/>
                  <a:t>A state vector </a:t>
                </a:r>
                <a14:m>
                  <m:oMath xmlns:m="http://schemas.openxmlformats.org/officeDocument/2006/math">
                    <m:r>
                      <a:rPr lang="en-US" sz="2400" b="0" i="1" smtClean="0">
                        <a:latin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𝜓</m:t>
                    </m:r>
                    <m:r>
                      <a:rPr lang="en-US" sz="2400" b="0" i="1" smtClean="0">
                        <a:latin typeface="Cambria Math" panose="02040503050406030204" pitchFamily="18" charset="0"/>
                        <a:ea typeface="Cambria Math" panose="02040503050406030204" pitchFamily="18" charset="0"/>
                      </a:rPr>
                      <m:t>&gt;</m:t>
                    </m:r>
                  </m:oMath>
                </a14:m>
                <a:r>
                  <a:rPr lang="en-US" sz="2400" dirty="0"/>
                  <a:t> is said to an eigenvector (also called an </a:t>
                </a:r>
                <a:r>
                  <a:rPr lang="en-US" sz="2400" dirty="0" err="1"/>
                  <a:t>eigenket</a:t>
                </a:r>
                <a:r>
                  <a:rPr lang="en-US" sz="2400" dirty="0"/>
                  <a:t> or eigenstate) of an operator </a:t>
                </a:r>
                <a14:m>
                  <m:oMath xmlns:m="http://schemas.openxmlformats.org/officeDocument/2006/math">
                    <m:acc>
                      <m:accPr>
                        <m:chr m:val="̂"/>
                        <m:ctrlPr>
                          <a:rPr lang="en-US" sz="2400" i="1" smtClean="0">
                            <a:latin typeface="Cambria Math" panose="02040503050406030204" pitchFamily="18" charset="0"/>
                          </a:rPr>
                        </m:ctrlPr>
                      </m:accPr>
                      <m:e>
                        <m:r>
                          <a:rPr lang="en-US" sz="2400" b="0" i="1" smtClean="0">
                            <a:latin typeface="Cambria Math" panose="02040503050406030204" pitchFamily="18" charset="0"/>
                          </a:rPr>
                          <m:t>𝐴</m:t>
                        </m:r>
                      </m:e>
                    </m:acc>
                  </m:oMath>
                </a14:m>
                <a:r>
                  <a:rPr lang="en-US" sz="2400" dirty="0"/>
                  <a:t> if the application of </a:t>
                </a:r>
                <a14:m>
                  <m:oMath xmlns:m="http://schemas.openxmlformats.org/officeDocument/2006/math">
                    <m:acc>
                      <m:accPr>
                        <m:chr m:val="̂"/>
                        <m:ctrlPr>
                          <a:rPr lang="en-US" sz="2400" i="1">
                            <a:solidFill>
                              <a:prstClr val="black"/>
                            </a:solidFill>
                            <a:latin typeface="Cambria Math" panose="02040503050406030204" pitchFamily="18" charset="0"/>
                          </a:rPr>
                        </m:ctrlPr>
                      </m:accPr>
                      <m:e>
                        <m:r>
                          <a:rPr lang="en-US" sz="2400" i="1">
                            <a:solidFill>
                              <a:prstClr val="black"/>
                            </a:solidFill>
                            <a:latin typeface="Cambria Math" panose="02040503050406030204" pitchFamily="18" charset="0"/>
                          </a:rPr>
                          <m:t>𝐴</m:t>
                        </m:r>
                      </m:e>
                    </m:acc>
                  </m:oMath>
                </a14:m>
                <a:r>
                  <a:rPr lang="en-US" sz="2400" dirty="0">
                    <a:solidFill>
                      <a:prstClr val="black"/>
                    </a:solidFill>
                  </a:rPr>
                  <a:t> to </a:t>
                </a:r>
                <a14:m>
                  <m:oMath xmlns:m="http://schemas.openxmlformats.org/officeDocument/2006/math">
                    <m:r>
                      <a:rPr lang="en-US" sz="2400" i="1">
                        <a:solidFill>
                          <a:prstClr val="black"/>
                        </a:solidFill>
                        <a:latin typeface="Cambria Math" panose="02040503050406030204" pitchFamily="18" charset="0"/>
                      </a:rPr>
                      <m:t>|</m:t>
                    </m:r>
                    <m:r>
                      <a:rPr lang="en-US" sz="2400" i="1">
                        <a:solidFill>
                          <a:prstClr val="black"/>
                        </a:solidFill>
                        <a:latin typeface="Cambria Math" panose="02040503050406030204" pitchFamily="18" charset="0"/>
                        <a:ea typeface="Cambria Math" panose="02040503050406030204" pitchFamily="18" charset="0"/>
                      </a:rPr>
                      <m:t>𝜓</m:t>
                    </m:r>
                    <m:r>
                      <a:rPr lang="en-US" sz="2400" i="1">
                        <a:solidFill>
                          <a:prstClr val="black"/>
                        </a:solidFill>
                        <a:latin typeface="Cambria Math" panose="02040503050406030204" pitchFamily="18" charset="0"/>
                        <a:ea typeface="Cambria Math" panose="02040503050406030204" pitchFamily="18" charset="0"/>
                      </a:rPr>
                      <m:t>&gt;</m:t>
                    </m:r>
                  </m:oMath>
                </a14:m>
                <a:r>
                  <a:rPr lang="en-US" sz="2400" dirty="0">
                    <a:solidFill>
                      <a:prstClr val="black"/>
                    </a:solidFill>
                  </a:rPr>
                  <a:t> gives</a:t>
                </a:r>
              </a:p>
              <a:p>
                <a:pPr algn="ctr"/>
                <a:r>
                  <a:rPr lang="en-US" sz="2400" dirty="0">
                    <a:solidFill>
                      <a:prstClr val="black"/>
                    </a:solidFill>
                  </a:rPr>
                  <a:t/>
                </a:r>
                <a14:m>
                  <m:oMath xmlns:m="http://schemas.openxmlformats.org/officeDocument/2006/math">
                    <m:acc>
                      <m:accPr>
                        <m:chr m:val="̂"/>
                        <m:ctrlPr>
                          <a:rPr lang="en-US" sz="2400" i="1">
                            <a:solidFill>
                              <a:prstClr val="black"/>
                            </a:solidFill>
                            <a:latin typeface="Cambria Math" panose="02040503050406030204" pitchFamily="18" charset="0"/>
                          </a:rPr>
                        </m:ctrlPr>
                      </m:accPr>
                      <m:e>
                        <m:r>
                          <a:rPr lang="en-US" sz="2400" i="1">
                            <a:solidFill>
                              <a:prstClr val="black"/>
                            </a:solidFill>
                            <a:latin typeface="Cambria Math" panose="02040503050406030204" pitchFamily="18" charset="0"/>
                          </a:rPr>
                          <m:t>𝐴</m:t>
                        </m:r>
                      </m:e>
                    </m:acc>
                    <m:r>
                      <a:rPr lang="en-US" sz="2400" i="1">
                        <a:solidFill>
                          <a:prstClr val="black"/>
                        </a:solidFill>
                        <a:latin typeface="Cambria Math" panose="02040503050406030204" pitchFamily="18" charset="0"/>
                      </a:rPr>
                      <m:t>|</m:t>
                    </m:r>
                    <m:r>
                      <a:rPr lang="en-US" sz="2400" i="1">
                        <a:solidFill>
                          <a:prstClr val="black"/>
                        </a:solidFill>
                        <a:latin typeface="Cambria Math" panose="02040503050406030204" pitchFamily="18" charset="0"/>
                        <a:ea typeface="Cambria Math" panose="02040503050406030204" pitchFamily="18" charset="0"/>
                      </a:rPr>
                      <m:t>𝜓</m:t>
                    </m:r>
                    <m:r>
                      <a:rPr lang="en-US" sz="2400" b="0" i="1" smtClean="0">
                        <a:solidFill>
                          <a:prstClr val="black"/>
                        </a:solidFill>
                        <a:latin typeface="Cambria Math" panose="02040503050406030204" pitchFamily="18" charset="0"/>
                        <a:ea typeface="Cambria Math" panose="02040503050406030204" pitchFamily="18" charset="0"/>
                      </a:rPr>
                      <m:t>&gt; =</m:t>
                    </m:r>
                    <m:r>
                      <a:rPr lang="en-US" sz="2400" b="0" i="1" smtClean="0">
                        <a:solidFill>
                          <a:prstClr val="black"/>
                        </a:solidFill>
                        <a:latin typeface="Cambria Math" panose="02040503050406030204" pitchFamily="18" charset="0"/>
                        <a:ea typeface="Cambria Math" panose="02040503050406030204" pitchFamily="18" charset="0"/>
                      </a:rPr>
                      <m:t>𝑎</m:t>
                    </m:r>
                    <m:r>
                      <a:rPr lang="en-US" sz="2400" i="1">
                        <a:solidFill>
                          <a:prstClr val="black"/>
                        </a:solidFill>
                        <a:latin typeface="Cambria Math" panose="02040503050406030204" pitchFamily="18" charset="0"/>
                      </a:rPr>
                      <m:t>|</m:t>
                    </m:r>
                    <m:r>
                      <a:rPr lang="en-US" sz="2400" i="1">
                        <a:solidFill>
                          <a:prstClr val="black"/>
                        </a:solidFill>
                        <a:latin typeface="Cambria Math" panose="02040503050406030204" pitchFamily="18" charset="0"/>
                        <a:ea typeface="Cambria Math" panose="02040503050406030204" pitchFamily="18" charset="0"/>
                      </a:rPr>
                      <m:t>𝜓</m:t>
                    </m:r>
                    <m:r>
                      <a:rPr lang="en-US" sz="2400" i="1">
                        <a:solidFill>
                          <a:prstClr val="black"/>
                        </a:solidFill>
                        <a:latin typeface="Cambria Math" panose="02040503050406030204" pitchFamily="18" charset="0"/>
                        <a:ea typeface="Cambria Math" panose="02040503050406030204" pitchFamily="18" charset="0"/>
                      </a:rPr>
                      <m:t>&gt;</m:t>
                    </m:r>
                  </m:oMath>
                </a14:m>
                <a:r>
                  <a:rPr lang="en-US" sz="2400" dirty="0"/>
                  <a:t>,</a:t>
                </a:r>
              </a:p>
              <a:p>
                <a:r>
                  <a:rPr lang="en-US" sz="2400" dirty="0"/>
                  <a:t>Where a is a complex number, called the eigenvalue of </a:t>
                </a:r>
                <a14:m>
                  <m:oMath xmlns:m="http://schemas.openxmlformats.org/officeDocument/2006/math">
                    <m:acc>
                      <m:accPr>
                        <m:chr m:val="̂"/>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ctrlPr>
                      </m:accP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𝐴</m:t>
                        </m:r>
                      </m:e>
                    </m:acc>
                  </m:oMath>
                </a14:m>
                <a:r>
                  <a:rPr kumimoji="0" lang="en-US" sz="2400" b="0" i="0" u="none" strike="noStrike" kern="1200" cap="none" spc="0" normalizeH="0" baseline="0" noProof="0" dirty="0">
                    <a:ln>
                      <a:noFill/>
                    </a:ln>
                    <a:solidFill>
                      <a:prstClr val="black"/>
                    </a:solidFill>
                    <a:effectLst/>
                    <a:uLnTx/>
                    <a:uFillTx/>
                    <a:latin typeface="Calibri" panose="020F0502020204030204"/>
                  </a:rPr>
                  <a:t> . This equation is called the eigenvalue equation.</a:t>
                </a:r>
              </a:p>
              <a:p>
                <a:r>
                  <a:rPr lang="en-US" sz="2400" dirty="0">
                    <a:solidFill>
                      <a:prstClr val="black"/>
                    </a:solidFill>
                    <a:latin typeface="Calibri" panose="020F0502020204030204"/>
                  </a:rPr>
                  <a:t>A simple example is the eigenvalue problem for the unity operator </a:t>
                </a:r>
                <a14:m>
                  <m:oMath xmlns:m="http://schemas.openxmlformats.org/officeDocument/2006/math">
                    <m:acc>
                      <m:accPr>
                        <m:chr m:val="̂"/>
                        <m:ctrlPr>
                          <a:rPr lang="en-US" sz="2400" i="1" smtClean="0">
                            <a:solidFill>
                              <a:prstClr val="black"/>
                            </a:solidFill>
                            <a:latin typeface="Cambria Math" panose="02040503050406030204" pitchFamily="18" charset="0"/>
                          </a:rPr>
                        </m:ctrlPr>
                      </m:accPr>
                      <m:e>
                        <m:r>
                          <a:rPr lang="en-US" sz="2400" b="0" i="1" smtClean="0">
                            <a:solidFill>
                              <a:prstClr val="black"/>
                            </a:solidFill>
                            <a:latin typeface="Cambria Math" panose="02040503050406030204" pitchFamily="18" charset="0"/>
                          </a:rPr>
                          <m:t>𝐼</m:t>
                        </m:r>
                      </m:e>
                    </m:acc>
                  </m:oMath>
                </a14:m>
                <a:r>
                  <a:rPr lang="en-US" sz="2400" dirty="0"/>
                  <a:t> is </a:t>
                </a:r>
              </a:p>
              <a:p>
                <a:pPr algn="ctr"/>
                <a14:m>
                  <m:oMath xmlns:m="http://schemas.openxmlformats.org/officeDocument/2006/math">
                    <m:acc>
                      <m:accPr>
                        <m:chr m:val="̂"/>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ctrlPr>
                      </m:acc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𝐼</m:t>
                        </m:r>
                      </m:e>
                    </m:acc>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m:t>
                    </m:r>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rPr>
                      <m:t>𝜓</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&gt; =</m:t>
                    </m:r>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m:t>
                    </m:r>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rPr>
                      <m:t>𝜓</m:t>
                    </m:r>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rPr>
                      <m:t>&gt;</m:t>
                    </m:r>
                  </m:oMath>
                </a14:m>
                <a:r>
                  <a:rPr kumimoji="0" lang="en-US" sz="2400" b="0" i="0" u="none" strike="noStrike" kern="1200" cap="none" spc="0" normalizeH="0" baseline="0" noProof="0" dirty="0">
                    <a:ln>
                      <a:noFill/>
                    </a:ln>
                    <a:solidFill>
                      <a:prstClr val="black"/>
                    </a:solidFill>
                    <a:effectLst/>
                    <a:uLnTx/>
                    <a:uFillTx/>
                    <a:latin typeface="Calibri" panose="020F0502020204030204"/>
                  </a:rPr>
                  <a:t>, </a:t>
                </a:r>
              </a:p>
              <a:p>
                <a:r>
                  <a:rPr kumimoji="0" lang="en-US" sz="2400" b="0" i="0" u="none" strike="noStrike" kern="1200" cap="none" spc="0" normalizeH="0" baseline="0" noProof="0" dirty="0">
                    <a:ln>
                      <a:noFill/>
                    </a:ln>
                    <a:solidFill>
                      <a:prstClr val="black"/>
                    </a:solidFill>
                    <a:effectLst/>
                    <a:uLnTx/>
                    <a:uFillTx/>
                    <a:latin typeface="Calibri" panose="020F0502020204030204"/>
                  </a:rPr>
                  <a:t>This means that the eigenvalue of </a:t>
                </a:r>
                <a14:m>
                  <m:oMath xmlns:m="http://schemas.openxmlformats.org/officeDocument/2006/math">
                    <m:acc>
                      <m:accPr>
                        <m:chr m:val="̂"/>
                        <m:ctrlPr>
                          <a:rPr lang="en-US" sz="2400" i="1">
                            <a:solidFill>
                              <a:prstClr val="black"/>
                            </a:solidFill>
                            <a:latin typeface="Cambria Math" panose="02040503050406030204" pitchFamily="18" charset="0"/>
                          </a:rPr>
                        </m:ctrlPr>
                      </m:accPr>
                      <m:e>
                        <m:r>
                          <a:rPr lang="en-US" sz="2400" i="1">
                            <a:solidFill>
                              <a:prstClr val="black"/>
                            </a:solidFill>
                            <a:latin typeface="Cambria Math" panose="02040503050406030204" pitchFamily="18" charset="0"/>
                          </a:rPr>
                          <m:t>𝐼</m:t>
                        </m:r>
                      </m:e>
                    </m:acc>
                  </m:oMath>
                </a14:m>
                <a:r>
                  <a:rPr lang="en-US" sz="2400" dirty="0">
                    <a:solidFill>
                      <a:prstClr val="black"/>
                    </a:solidFill>
                  </a:rPr>
                  <a:t> is 1.</a:t>
                </a:r>
                <a:endParaRPr lang="en-US" sz="2400" dirty="0"/>
              </a:p>
            </p:txBody>
          </p:sp>
        </mc:Choice>
        <mc:Fallback>
          <p:sp>
            <p:nvSpPr>
              <p:cNvPr id="4" name="TextBox 3">
                <a:extLst>
                  <a:ext uri="{FF2B5EF4-FFF2-40B4-BE49-F238E27FC236}">
                    <a16:creationId xmlns:a16="http://schemas.microsoft.com/office/drawing/2014/main" xmlns="" xmlns:a14="http://schemas.microsoft.com/office/drawing/2010/main" id="{8DFCD58A-839B-1A1B-3AAF-193A7BE3135F}"/>
                  </a:ext>
                </a:extLst>
              </p:cNvPr>
              <p:cNvSpPr txBox="1">
                <a:spLocks noRot="1" noChangeAspect="1" noMove="1" noResize="1" noEditPoints="1" noAdjustHandles="1" noChangeArrowheads="1" noChangeShapeType="1" noTextEdit="1"/>
              </p:cNvSpPr>
              <p:nvPr/>
            </p:nvSpPr>
            <p:spPr>
              <a:xfrm>
                <a:off x="843886" y="865138"/>
                <a:ext cx="10705961" cy="3114699"/>
              </a:xfrm>
              <a:prstGeom prst="rect">
                <a:avLst/>
              </a:prstGeom>
              <a:blipFill>
                <a:blip r:embed="rId2"/>
                <a:stretch>
                  <a:fillRect l="-854" t="-1566" r="-1366" b="-3523"/>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xmlns="" id="{AE2A423E-572B-A836-EEDE-546AAE82CC10}"/>
              </a:ext>
            </a:extLst>
          </p:cNvPr>
          <p:cNvPicPr>
            <a:picLocks noChangeAspect="1"/>
          </p:cNvPicPr>
          <p:nvPr/>
        </p:nvPicPr>
        <p:blipFill>
          <a:blip r:embed="rId3"/>
          <a:stretch>
            <a:fillRect/>
          </a:stretch>
        </p:blipFill>
        <p:spPr>
          <a:xfrm>
            <a:off x="843886" y="4311971"/>
            <a:ext cx="9648825" cy="2314575"/>
          </a:xfrm>
          <a:prstGeom prst="rect">
            <a:avLst/>
          </a:prstGeom>
        </p:spPr>
      </p:pic>
      <p:sp>
        <p:nvSpPr>
          <p:cNvPr id="7" name="TextBox 6">
            <a:extLst>
              <a:ext uri="{FF2B5EF4-FFF2-40B4-BE49-F238E27FC236}">
                <a16:creationId xmlns:a16="http://schemas.microsoft.com/office/drawing/2014/main" xmlns="" id="{7F404E95-745E-9285-F4B5-396BD9282AD1}"/>
              </a:ext>
            </a:extLst>
          </p:cNvPr>
          <p:cNvSpPr txBox="1"/>
          <p:nvPr/>
        </p:nvSpPr>
        <p:spPr>
          <a:xfrm>
            <a:off x="3089429" y="-113326"/>
            <a:ext cx="5282214" cy="646331"/>
          </a:xfrm>
          <a:prstGeom prst="rect">
            <a:avLst/>
          </a:prstGeom>
          <a:noFill/>
        </p:spPr>
        <p:txBody>
          <a:bodyPr wrap="square" rtlCol="0">
            <a:spAutoFit/>
          </a:bodyPr>
          <a:lstStyle/>
          <a:p>
            <a:r>
              <a:rPr lang="en-US" sz="3600" dirty="0">
                <a:solidFill>
                  <a:srgbClr val="FF0000"/>
                </a:solidFill>
              </a:rPr>
              <a:t>Eigenvector and Eigenvalue</a:t>
            </a:r>
          </a:p>
        </p:txBody>
      </p:sp>
    </p:spTree>
    <p:extLst>
      <p:ext uri="{BB962C8B-B14F-4D97-AF65-F5344CB8AC3E}">
        <p14:creationId xmlns:p14="http://schemas.microsoft.com/office/powerpoint/2010/main" xmlns="" val="6833025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xmlns="" id="{86998736-61F6-43F2-DE31-B5D8691F73A9}"/>
              </a:ext>
            </a:extLst>
          </p:cNvPr>
          <p:cNvPicPr>
            <a:picLocks noChangeAspect="1"/>
          </p:cNvPicPr>
          <p:nvPr/>
        </p:nvPicPr>
        <p:blipFill>
          <a:blip r:embed="rId2"/>
          <a:stretch>
            <a:fillRect/>
          </a:stretch>
        </p:blipFill>
        <p:spPr>
          <a:xfrm>
            <a:off x="4695778" y="117272"/>
            <a:ext cx="4238625" cy="990600"/>
          </a:xfrm>
          <a:prstGeom prst="rect">
            <a:avLst/>
          </a:prstGeom>
        </p:spPr>
      </p:pic>
      <p:sp>
        <p:nvSpPr>
          <p:cNvPr id="4" name="TextBox 3">
            <a:extLst>
              <a:ext uri="{FF2B5EF4-FFF2-40B4-BE49-F238E27FC236}">
                <a16:creationId xmlns:a16="http://schemas.microsoft.com/office/drawing/2014/main" xmlns="" id="{CD9ABAA9-E53C-8272-1495-D854D0B8F67F}"/>
              </a:ext>
            </a:extLst>
          </p:cNvPr>
          <p:cNvSpPr txBox="1"/>
          <p:nvPr/>
        </p:nvSpPr>
        <p:spPr>
          <a:xfrm>
            <a:off x="914400" y="381740"/>
            <a:ext cx="9667783" cy="461665"/>
          </a:xfrm>
          <a:prstGeom prst="rect">
            <a:avLst/>
          </a:prstGeom>
          <a:noFill/>
        </p:spPr>
        <p:txBody>
          <a:bodyPr wrap="square" rtlCol="0">
            <a:spAutoFit/>
          </a:bodyPr>
          <a:lstStyle/>
          <a:p>
            <a:r>
              <a:rPr lang="en-US" sz="2400" dirty="0"/>
              <a:t>The Schrodinger equation is </a:t>
            </a:r>
          </a:p>
        </p:txBody>
      </p:sp>
      <mc:AlternateContent xmlns:mc="http://schemas.openxmlformats.org/markup-compatibility/2006">
        <mc:Choice xmlns:a14="http://schemas.microsoft.com/office/drawing/2010/main" xmlns="" Requires="a14">
          <p:sp>
            <p:nvSpPr>
              <p:cNvPr id="5" name="TextBox 4">
                <a:extLst>
                  <a:ext uri="{FF2B5EF4-FFF2-40B4-BE49-F238E27FC236}">
                    <a16:creationId xmlns:a16="http://schemas.microsoft.com/office/drawing/2014/main" id="{F1AD90C5-6C62-F528-3A1F-9F3DECF6D762}"/>
                  </a:ext>
                </a:extLst>
              </p:cNvPr>
              <p:cNvSpPr txBox="1"/>
              <p:nvPr/>
            </p:nvSpPr>
            <p:spPr>
              <a:xfrm>
                <a:off x="807868" y="1180729"/>
                <a:ext cx="10848512" cy="1200329"/>
              </a:xfrm>
              <a:prstGeom prst="rect">
                <a:avLst/>
              </a:prstGeom>
              <a:noFill/>
            </p:spPr>
            <p:txBody>
              <a:bodyPr wrap="square" rtlCol="0">
                <a:spAutoFit/>
              </a:bodyPr>
              <a:lstStyle/>
              <a:p>
                <a:r>
                  <a:rPr lang="en-US" sz="2400" dirty="0"/>
                  <a:t>We need to solve this equation to find the wavefunction </a:t>
                </a:r>
                <a14:m>
                  <m:oMath xmlns:m="http://schemas.openxmlformats.org/officeDocument/2006/math">
                    <m:r>
                      <m:rPr>
                        <m:sty m:val="p"/>
                      </m:rPr>
                      <a:rPr lang="el-GR" sz="2400" i="1" smtClean="0">
                        <a:latin typeface="Cambria Math" panose="02040503050406030204" pitchFamily="18" charset="0"/>
                        <a:ea typeface="Cambria Math" panose="02040503050406030204" pitchFamily="18" charset="0"/>
                      </a:rPr>
                      <m:t>Ψ</m:t>
                    </m:r>
                  </m:oMath>
                </a14:m>
                <a:r>
                  <a:rPr lang="en-US" sz="2400" dirty="0"/>
                  <a:t>, but to solve the equation we need to have a specific potential V. Let us assume here V is independent of time t, so it is a function of position only V(x).</a:t>
                </a:r>
              </a:p>
            </p:txBody>
          </p:sp>
        </mc:Choice>
        <mc:Fallback>
          <p:sp>
            <p:nvSpPr>
              <p:cNvPr id="5" name="TextBox 4">
                <a:extLst>
                  <a:ext uri="{FF2B5EF4-FFF2-40B4-BE49-F238E27FC236}">
                    <a16:creationId xmlns:a16="http://schemas.microsoft.com/office/drawing/2014/main" xmlns="" xmlns:a14="http://schemas.microsoft.com/office/drawing/2010/main" id="{F1AD90C5-6C62-F528-3A1F-9F3DECF6D762}"/>
                  </a:ext>
                </a:extLst>
              </p:cNvPr>
              <p:cNvSpPr txBox="1">
                <a:spLocks noRot="1" noChangeAspect="1" noMove="1" noResize="1" noEditPoints="1" noAdjustHandles="1" noChangeArrowheads="1" noChangeShapeType="1" noTextEdit="1"/>
              </p:cNvSpPr>
              <p:nvPr/>
            </p:nvSpPr>
            <p:spPr>
              <a:xfrm>
                <a:off x="807868" y="1180729"/>
                <a:ext cx="10848512" cy="1200329"/>
              </a:xfrm>
              <a:prstGeom prst="rect">
                <a:avLst/>
              </a:prstGeom>
              <a:blipFill>
                <a:blip r:embed="rId3"/>
                <a:stretch>
                  <a:fillRect l="-899" t="-4061" r="-169" b="-1066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xmlns="" Requires="a14">
          <p:sp>
            <p:nvSpPr>
              <p:cNvPr id="6" name="TextBox 5">
                <a:extLst>
                  <a:ext uri="{FF2B5EF4-FFF2-40B4-BE49-F238E27FC236}">
                    <a16:creationId xmlns:a16="http://schemas.microsoft.com/office/drawing/2014/main" id="{196BB66A-7B28-75F2-BE31-0AC466EDC6BC}"/>
                  </a:ext>
                </a:extLst>
              </p:cNvPr>
              <p:cNvSpPr txBox="1"/>
              <p:nvPr/>
            </p:nvSpPr>
            <p:spPr>
              <a:xfrm>
                <a:off x="1003177" y="2858610"/>
                <a:ext cx="10333607" cy="1569660"/>
              </a:xfrm>
              <a:prstGeom prst="rect">
                <a:avLst/>
              </a:prstGeom>
              <a:noFill/>
            </p:spPr>
            <p:txBody>
              <a:bodyPr wrap="square" rtlCol="0">
                <a:spAutoFit/>
              </a:bodyPr>
              <a:lstStyle/>
              <a:p>
                <a:r>
                  <a:rPr lang="en-US" sz="2400" dirty="0"/>
                  <a:t>Let use the separation of variable technique to solve the above Schrodinger equation, write the wave function </a:t>
                </a:r>
                <a14:m>
                  <m:oMath xmlns:m="http://schemas.openxmlformats.org/officeDocument/2006/math">
                    <m:r>
                      <m:rPr>
                        <m:sty m:val="p"/>
                      </m:rPr>
                      <a:rPr kumimoji="0" lang="el-GR"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Ψ</m:t>
                    </m:r>
                    <m:d>
                      <m:d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ctrlPr>
                      </m:d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𝑥</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𝑡</m:t>
                        </m:r>
                      </m:e>
                    </m:d>
                  </m:oMath>
                </a14:m>
                <a:r>
                  <a:rPr lang="en-US" sz="2400" dirty="0"/>
                  <a:t> as </a:t>
                </a:r>
                <a14:m>
                  <m:oMath xmlns:m="http://schemas.openxmlformats.org/officeDocument/2006/math">
                    <m:r>
                      <m:rPr>
                        <m:sty m:val="p"/>
                      </m:rPr>
                      <a:rPr lang="el-GR" sz="2400" i="1">
                        <a:solidFill>
                          <a:prstClr val="black"/>
                        </a:solidFill>
                        <a:latin typeface="Cambria Math" panose="02040503050406030204" pitchFamily="18" charset="0"/>
                        <a:ea typeface="Cambria Math" panose="02040503050406030204" pitchFamily="18" charset="0"/>
                      </a:rPr>
                      <m:t>Ψ</m:t>
                    </m:r>
                    <m:d>
                      <m:dPr>
                        <m:ctrlPr>
                          <a:rPr lang="en-US" sz="2400" i="1">
                            <a:solidFill>
                              <a:prstClr val="black"/>
                            </a:solidFill>
                            <a:latin typeface="Cambria Math" panose="02040503050406030204" pitchFamily="18" charset="0"/>
                            <a:ea typeface="Cambria Math" panose="02040503050406030204" pitchFamily="18" charset="0"/>
                          </a:rPr>
                        </m:ctrlPr>
                      </m:dPr>
                      <m:e>
                        <m:r>
                          <a:rPr lang="en-US" sz="2400" i="1">
                            <a:solidFill>
                              <a:prstClr val="black"/>
                            </a:solidFill>
                            <a:latin typeface="Cambria Math" panose="02040503050406030204" pitchFamily="18" charset="0"/>
                            <a:ea typeface="Cambria Math" panose="02040503050406030204" pitchFamily="18" charset="0"/>
                          </a:rPr>
                          <m:t>𝑥</m:t>
                        </m:r>
                        <m:r>
                          <a:rPr lang="en-US" sz="2400" i="1">
                            <a:solidFill>
                              <a:prstClr val="black"/>
                            </a:solidFill>
                            <a:latin typeface="Cambria Math" panose="02040503050406030204" pitchFamily="18" charset="0"/>
                            <a:ea typeface="Cambria Math" panose="02040503050406030204" pitchFamily="18" charset="0"/>
                          </a:rPr>
                          <m:t>,</m:t>
                        </m:r>
                        <m:r>
                          <a:rPr lang="en-US" sz="2400" i="1">
                            <a:solidFill>
                              <a:prstClr val="black"/>
                            </a:solidFill>
                            <a:latin typeface="Cambria Math" panose="02040503050406030204" pitchFamily="18" charset="0"/>
                            <a:ea typeface="Cambria Math" panose="02040503050406030204" pitchFamily="18" charset="0"/>
                          </a:rPr>
                          <m:t>𝑡</m:t>
                        </m:r>
                      </m:e>
                    </m:d>
                    <m:r>
                      <a:rPr lang="en-US" sz="2400" b="0" i="1" smtClean="0">
                        <a:solidFill>
                          <a:prstClr val="black"/>
                        </a:solidFill>
                        <a:latin typeface="Cambria Math" panose="02040503050406030204" pitchFamily="18" charset="0"/>
                        <a:ea typeface="Cambria Math" panose="02040503050406030204" pitchFamily="18" charset="0"/>
                      </a:rPr>
                      <m:t>=</m:t>
                    </m:r>
                    <m:r>
                      <a:rPr lang="en-US" sz="2400" b="0" i="1" smtClean="0">
                        <a:solidFill>
                          <a:prstClr val="black"/>
                        </a:solidFill>
                        <a:latin typeface="Cambria Math" panose="02040503050406030204" pitchFamily="18" charset="0"/>
                        <a:ea typeface="Cambria Math" panose="02040503050406030204" pitchFamily="18" charset="0"/>
                      </a:rPr>
                      <m:t>𝜓</m:t>
                    </m:r>
                    <m:r>
                      <a:rPr lang="en-US" sz="2400" b="0" i="1" smtClean="0">
                        <a:solidFill>
                          <a:prstClr val="black"/>
                        </a:solidFill>
                        <a:latin typeface="Cambria Math" panose="02040503050406030204" pitchFamily="18" charset="0"/>
                        <a:ea typeface="Cambria Math" panose="02040503050406030204" pitchFamily="18" charset="0"/>
                      </a:rPr>
                      <m:t>(</m:t>
                    </m:r>
                    <m:r>
                      <a:rPr lang="en-US" sz="2400" b="0" i="1" smtClean="0">
                        <a:solidFill>
                          <a:prstClr val="black"/>
                        </a:solidFill>
                        <a:latin typeface="Cambria Math" panose="02040503050406030204" pitchFamily="18" charset="0"/>
                        <a:ea typeface="Cambria Math" panose="02040503050406030204" pitchFamily="18" charset="0"/>
                      </a:rPr>
                      <m:t>𝑥</m:t>
                    </m:r>
                    <m:r>
                      <a:rPr lang="en-US" sz="2400" b="0" i="1" smtClean="0">
                        <a:solidFill>
                          <a:prstClr val="black"/>
                        </a:solidFill>
                        <a:latin typeface="Cambria Math" panose="02040503050406030204" pitchFamily="18" charset="0"/>
                        <a:ea typeface="Cambria Math" panose="02040503050406030204" pitchFamily="18" charset="0"/>
                      </a:rPr>
                      <m:t>)</m:t>
                    </m:r>
                    <m:r>
                      <a:rPr lang="en-US" sz="2400" b="0" i="1" smtClean="0">
                        <a:solidFill>
                          <a:prstClr val="black"/>
                        </a:solidFill>
                        <a:latin typeface="Cambria Math" panose="02040503050406030204" pitchFamily="18" charset="0"/>
                        <a:ea typeface="Cambria Math" panose="02040503050406030204" pitchFamily="18" charset="0"/>
                      </a:rPr>
                      <m:t>𝜙</m:t>
                    </m:r>
                    <m:r>
                      <a:rPr lang="en-US" sz="2400" b="0" i="1" smtClean="0">
                        <a:solidFill>
                          <a:prstClr val="black"/>
                        </a:solidFill>
                        <a:latin typeface="Cambria Math" panose="02040503050406030204" pitchFamily="18" charset="0"/>
                        <a:ea typeface="Cambria Math" panose="02040503050406030204" pitchFamily="18" charset="0"/>
                      </a:rPr>
                      <m:t>(</m:t>
                    </m:r>
                    <m:r>
                      <a:rPr lang="en-US" sz="2400" b="0" i="1" smtClean="0">
                        <a:solidFill>
                          <a:prstClr val="black"/>
                        </a:solidFill>
                        <a:latin typeface="Cambria Math" panose="02040503050406030204" pitchFamily="18" charset="0"/>
                        <a:ea typeface="Cambria Math" panose="02040503050406030204" pitchFamily="18" charset="0"/>
                      </a:rPr>
                      <m:t>𝑡</m:t>
                    </m:r>
                    <m:r>
                      <a:rPr lang="en-US" sz="2400" b="0" i="1" smtClean="0">
                        <a:solidFill>
                          <a:prstClr val="black"/>
                        </a:solidFill>
                        <a:latin typeface="Cambria Math" panose="02040503050406030204" pitchFamily="18" charset="0"/>
                        <a:ea typeface="Cambria Math" panose="02040503050406030204" pitchFamily="18" charset="0"/>
                      </a:rPr>
                      <m:t>)</m:t>
                    </m:r>
                  </m:oMath>
                </a14:m>
                <a:r>
                  <a:rPr lang="en-US" sz="2400" dirty="0"/>
                  <a:t>, where </a:t>
                </a:r>
                <a14:m>
                  <m:oMath xmlns:m="http://schemas.openxmlformats.org/officeDocument/2006/math">
                    <m:r>
                      <a:rPr lang="en-US" sz="2400" i="1">
                        <a:solidFill>
                          <a:prstClr val="black"/>
                        </a:solidFill>
                        <a:latin typeface="Cambria Math" panose="02040503050406030204" pitchFamily="18" charset="0"/>
                        <a:ea typeface="Cambria Math" panose="02040503050406030204" pitchFamily="18" charset="0"/>
                      </a:rPr>
                      <m:t>𝜓</m:t>
                    </m:r>
                  </m:oMath>
                </a14:m>
                <a:r>
                  <a:rPr lang="en-US" sz="2400" dirty="0"/>
                  <a:t> is a function of position only and </a:t>
                </a:r>
                <a14:m>
                  <m:oMath xmlns:m="http://schemas.openxmlformats.org/officeDocument/2006/math">
                    <m:r>
                      <a:rPr lang="en-US" sz="2400" i="1">
                        <a:solidFill>
                          <a:prstClr val="black"/>
                        </a:solidFill>
                        <a:latin typeface="Cambria Math" panose="02040503050406030204" pitchFamily="18" charset="0"/>
                        <a:ea typeface="Cambria Math" panose="02040503050406030204" pitchFamily="18" charset="0"/>
                      </a:rPr>
                      <m:t>𝜙</m:t>
                    </m:r>
                  </m:oMath>
                </a14:m>
                <a:r>
                  <a:rPr lang="en-US" sz="2400" dirty="0"/>
                  <a:t> is a function of time only. The derivatives will look as below under the separation of variable:</a:t>
                </a:r>
              </a:p>
            </p:txBody>
          </p:sp>
        </mc:Choice>
        <mc:Fallback>
          <p:sp>
            <p:nvSpPr>
              <p:cNvPr id="6" name="TextBox 5">
                <a:extLst>
                  <a:ext uri="{FF2B5EF4-FFF2-40B4-BE49-F238E27FC236}">
                    <a16:creationId xmlns:a16="http://schemas.microsoft.com/office/drawing/2014/main" xmlns="" xmlns:a14="http://schemas.microsoft.com/office/drawing/2010/main" id="{196BB66A-7B28-75F2-BE31-0AC466EDC6BC}"/>
                  </a:ext>
                </a:extLst>
              </p:cNvPr>
              <p:cNvSpPr txBox="1">
                <a:spLocks noRot="1" noChangeAspect="1" noMove="1" noResize="1" noEditPoints="1" noAdjustHandles="1" noChangeArrowheads="1" noChangeShapeType="1" noTextEdit="1"/>
              </p:cNvSpPr>
              <p:nvPr/>
            </p:nvSpPr>
            <p:spPr>
              <a:xfrm>
                <a:off x="1003177" y="2858610"/>
                <a:ext cx="10333607" cy="1569660"/>
              </a:xfrm>
              <a:prstGeom prst="rect">
                <a:avLst/>
              </a:prstGeom>
              <a:blipFill>
                <a:blip r:embed="rId4"/>
                <a:stretch>
                  <a:fillRect l="-944" t="-3113" r="-708" b="-8171"/>
                </a:stretch>
              </a:blipFill>
            </p:spPr>
            <p:txBody>
              <a:bodyPr/>
              <a:lstStyle/>
              <a:p>
                <a:r>
                  <a:rPr lang="en-US">
                    <a:noFill/>
                  </a:rPr>
                  <a:t> </a:t>
                </a:r>
              </a:p>
            </p:txBody>
          </p:sp>
        </mc:Fallback>
      </mc:AlternateContent>
      <p:pic>
        <p:nvPicPr>
          <p:cNvPr id="8" name="Picture 7">
            <a:extLst>
              <a:ext uri="{FF2B5EF4-FFF2-40B4-BE49-F238E27FC236}">
                <a16:creationId xmlns:a16="http://schemas.microsoft.com/office/drawing/2014/main" xmlns="" id="{7CF1D530-3322-8F9A-3A00-5DFAE19B5AE2}"/>
              </a:ext>
            </a:extLst>
          </p:cNvPr>
          <p:cNvPicPr>
            <a:picLocks noChangeAspect="1"/>
          </p:cNvPicPr>
          <p:nvPr/>
        </p:nvPicPr>
        <p:blipFill>
          <a:blip r:embed="rId5"/>
          <a:stretch>
            <a:fillRect/>
          </a:stretch>
        </p:blipFill>
        <p:spPr>
          <a:xfrm>
            <a:off x="3300366" y="4540558"/>
            <a:ext cx="4895850" cy="990600"/>
          </a:xfrm>
          <a:prstGeom prst="rect">
            <a:avLst/>
          </a:prstGeom>
        </p:spPr>
      </p:pic>
    </p:spTree>
    <p:extLst>
      <p:ext uri="{BB962C8B-B14F-4D97-AF65-F5344CB8AC3E}">
        <p14:creationId xmlns:p14="http://schemas.microsoft.com/office/powerpoint/2010/main" xmlns="" val="12012949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66CD88CF-6165-193D-3161-5BEF55E57301}"/>
              </a:ext>
            </a:extLst>
          </p:cNvPr>
          <p:cNvSpPr txBox="1"/>
          <p:nvPr/>
        </p:nvSpPr>
        <p:spPr>
          <a:xfrm>
            <a:off x="1242874" y="221942"/>
            <a:ext cx="5078027" cy="830997"/>
          </a:xfrm>
          <a:prstGeom prst="rect">
            <a:avLst/>
          </a:prstGeom>
          <a:noFill/>
        </p:spPr>
        <p:txBody>
          <a:bodyPr wrap="square" rtlCol="0">
            <a:spAutoFit/>
          </a:bodyPr>
          <a:lstStyle/>
          <a:p>
            <a:r>
              <a:rPr lang="en-US" sz="2400" dirty="0"/>
              <a:t>So, the </a:t>
            </a:r>
            <a:r>
              <a:rPr lang="en-US" sz="2400" dirty="0">
                <a:solidFill>
                  <a:srgbClr val="FF0000"/>
                </a:solidFill>
              </a:rPr>
              <a:t>Time-dependent Schrodinger equation </a:t>
            </a:r>
            <a:r>
              <a:rPr lang="en-US" sz="2400" dirty="0"/>
              <a:t>looks like </a:t>
            </a:r>
          </a:p>
        </p:txBody>
      </p:sp>
      <p:pic>
        <p:nvPicPr>
          <p:cNvPr id="4" name="Picture 3">
            <a:extLst>
              <a:ext uri="{FF2B5EF4-FFF2-40B4-BE49-F238E27FC236}">
                <a16:creationId xmlns:a16="http://schemas.microsoft.com/office/drawing/2014/main" xmlns="" id="{541BC37D-34F4-B906-F3EB-50D45DA9C3CD}"/>
              </a:ext>
            </a:extLst>
          </p:cNvPr>
          <p:cNvPicPr>
            <a:picLocks noChangeAspect="1"/>
          </p:cNvPicPr>
          <p:nvPr/>
        </p:nvPicPr>
        <p:blipFill>
          <a:blip r:embed="rId2"/>
          <a:stretch>
            <a:fillRect/>
          </a:stretch>
        </p:blipFill>
        <p:spPr>
          <a:xfrm>
            <a:off x="6031498" y="290676"/>
            <a:ext cx="4399178" cy="933421"/>
          </a:xfrm>
          <a:prstGeom prst="rect">
            <a:avLst/>
          </a:prstGeom>
        </p:spPr>
      </p:pic>
      <mc:AlternateContent xmlns:mc="http://schemas.openxmlformats.org/markup-compatibility/2006">
        <mc:Choice xmlns:a14="http://schemas.microsoft.com/office/drawing/2010/main" xmlns="" Requires="a14">
          <p:sp>
            <p:nvSpPr>
              <p:cNvPr id="5" name="TextBox 4">
                <a:extLst>
                  <a:ext uri="{FF2B5EF4-FFF2-40B4-BE49-F238E27FC236}">
                    <a16:creationId xmlns:a16="http://schemas.microsoft.com/office/drawing/2014/main" id="{CFA3BC3A-4BAF-C27A-59B1-7D620FF309C2}"/>
                  </a:ext>
                </a:extLst>
              </p:cNvPr>
              <p:cNvSpPr txBox="1"/>
              <p:nvPr/>
            </p:nvSpPr>
            <p:spPr>
              <a:xfrm>
                <a:off x="257452" y="1652167"/>
                <a:ext cx="9450008" cy="461665"/>
              </a:xfrm>
              <a:prstGeom prst="rect">
                <a:avLst/>
              </a:prstGeom>
              <a:noFill/>
            </p:spPr>
            <p:txBody>
              <a:bodyPr wrap="square" rtlCol="0">
                <a:spAutoFit/>
              </a:bodyPr>
              <a:lstStyle/>
              <a:p>
                <a:r>
                  <a:rPr lang="en-US" sz="2400" dirty="0"/>
                  <a:t>Dividing both side of the above equation by </a:t>
                </a:r>
                <a14:m>
                  <m:oMath xmlns:m="http://schemas.openxmlformats.org/officeDocument/2006/math">
                    <m:r>
                      <a:rPr lang="en-US" sz="2400" i="1" smtClean="0">
                        <a:latin typeface="Cambria Math" panose="02040503050406030204" pitchFamily="18" charset="0"/>
                        <a:ea typeface="Cambria Math" panose="02040503050406030204" pitchFamily="18" charset="0"/>
                      </a:rPr>
                      <m:t>𝜓𝜙</m:t>
                    </m:r>
                  </m:oMath>
                </a14:m>
                <a:r>
                  <a:rPr lang="en-US" sz="2400" dirty="0"/>
                  <a:t> we get:</a:t>
                </a:r>
              </a:p>
            </p:txBody>
          </p:sp>
        </mc:Choice>
        <mc:Fallback>
          <p:sp>
            <p:nvSpPr>
              <p:cNvPr id="5" name="TextBox 4">
                <a:extLst>
                  <a:ext uri="{FF2B5EF4-FFF2-40B4-BE49-F238E27FC236}">
                    <a16:creationId xmlns:a16="http://schemas.microsoft.com/office/drawing/2014/main" xmlns="" xmlns:a14="http://schemas.microsoft.com/office/drawing/2010/main" id="{CFA3BC3A-4BAF-C27A-59B1-7D620FF309C2}"/>
                  </a:ext>
                </a:extLst>
              </p:cNvPr>
              <p:cNvSpPr txBox="1">
                <a:spLocks noRot="1" noChangeAspect="1" noMove="1" noResize="1" noEditPoints="1" noAdjustHandles="1" noChangeArrowheads="1" noChangeShapeType="1" noTextEdit="1"/>
              </p:cNvSpPr>
              <p:nvPr/>
            </p:nvSpPr>
            <p:spPr>
              <a:xfrm>
                <a:off x="257452" y="1652167"/>
                <a:ext cx="9450008" cy="461665"/>
              </a:xfrm>
              <a:prstGeom prst="rect">
                <a:avLst/>
              </a:prstGeom>
              <a:blipFill>
                <a:blip r:embed="rId3"/>
                <a:stretch>
                  <a:fillRect l="-968" t="-10526" b="-28947"/>
                </a:stretch>
              </a:blipFill>
            </p:spPr>
            <p:txBody>
              <a:bodyPr/>
              <a:lstStyle/>
              <a:p>
                <a:r>
                  <a:rPr lang="en-US">
                    <a:noFill/>
                  </a:rPr>
                  <a:t> </a:t>
                </a:r>
              </a:p>
            </p:txBody>
          </p:sp>
        </mc:Fallback>
      </mc:AlternateContent>
      <p:pic>
        <p:nvPicPr>
          <p:cNvPr id="7" name="Picture 6">
            <a:extLst>
              <a:ext uri="{FF2B5EF4-FFF2-40B4-BE49-F238E27FC236}">
                <a16:creationId xmlns:a16="http://schemas.microsoft.com/office/drawing/2014/main" xmlns="" id="{89A5D1F8-DAA3-80F7-ECA9-BF31A45C4240}"/>
              </a:ext>
            </a:extLst>
          </p:cNvPr>
          <p:cNvPicPr>
            <a:picLocks noChangeAspect="1"/>
          </p:cNvPicPr>
          <p:nvPr/>
        </p:nvPicPr>
        <p:blipFill>
          <a:blip r:embed="rId4"/>
          <a:stretch>
            <a:fillRect/>
          </a:stretch>
        </p:blipFill>
        <p:spPr>
          <a:xfrm>
            <a:off x="7395099" y="1428241"/>
            <a:ext cx="4071567" cy="909515"/>
          </a:xfrm>
          <a:prstGeom prst="rect">
            <a:avLst/>
          </a:prstGeom>
        </p:spPr>
      </p:pic>
      <p:sp>
        <p:nvSpPr>
          <p:cNvPr id="8" name="TextBox 7">
            <a:extLst>
              <a:ext uri="{FF2B5EF4-FFF2-40B4-BE49-F238E27FC236}">
                <a16:creationId xmlns:a16="http://schemas.microsoft.com/office/drawing/2014/main" xmlns="" id="{E2B7743F-9ACB-9E62-8066-EA5EE57D92C7}"/>
              </a:ext>
            </a:extLst>
          </p:cNvPr>
          <p:cNvSpPr txBox="1"/>
          <p:nvPr/>
        </p:nvSpPr>
        <p:spPr>
          <a:xfrm>
            <a:off x="683581" y="2641003"/>
            <a:ext cx="10520039" cy="1569660"/>
          </a:xfrm>
          <a:prstGeom prst="rect">
            <a:avLst/>
          </a:prstGeom>
          <a:noFill/>
        </p:spPr>
        <p:txBody>
          <a:bodyPr wrap="square" rtlCol="0">
            <a:spAutoFit/>
          </a:bodyPr>
          <a:lstStyle/>
          <a:p>
            <a:r>
              <a:rPr lang="en-US" sz="2400" dirty="0"/>
              <a:t>Now the left side of the above equation is a function of t alone and the right side is a function of x alone. The only way the above equality is true if both sides are constant, otherwise if one change t, the x will not change and the equality will not hold anymore. So we can write</a:t>
            </a:r>
          </a:p>
        </p:txBody>
      </p:sp>
      <p:pic>
        <p:nvPicPr>
          <p:cNvPr id="10" name="Picture 9">
            <a:extLst>
              <a:ext uri="{FF2B5EF4-FFF2-40B4-BE49-F238E27FC236}">
                <a16:creationId xmlns:a16="http://schemas.microsoft.com/office/drawing/2014/main" xmlns="" id="{5B85F14C-8068-2D0F-BE56-D0EDE63852BE}"/>
              </a:ext>
            </a:extLst>
          </p:cNvPr>
          <p:cNvPicPr>
            <a:picLocks noChangeAspect="1"/>
          </p:cNvPicPr>
          <p:nvPr/>
        </p:nvPicPr>
        <p:blipFill>
          <a:blip r:embed="rId5"/>
          <a:stretch>
            <a:fillRect/>
          </a:stretch>
        </p:blipFill>
        <p:spPr>
          <a:xfrm>
            <a:off x="4895850" y="4013847"/>
            <a:ext cx="2095500" cy="1000125"/>
          </a:xfrm>
          <a:prstGeom prst="rect">
            <a:avLst/>
          </a:prstGeom>
        </p:spPr>
      </p:pic>
      <p:pic>
        <p:nvPicPr>
          <p:cNvPr id="12" name="Picture 11">
            <a:extLst>
              <a:ext uri="{FF2B5EF4-FFF2-40B4-BE49-F238E27FC236}">
                <a16:creationId xmlns:a16="http://schemas.microsoft.com/office/drawing/2014/main" xmlns="" id="{3327FDE9-B9F4-2FB1-6BAF-B7E7B2B4E051}"/>
              </a:ext>
            </a:extLst>
          </p:cNvPr>
          <p:cNvPicPr>
            <a:picLocks noChangeAspect="1"/>
          </p:cNvPicPr>
          <p:nvPr/>
        </p:nvPicPr>
        <p:blipFill>
          <a:blip r:embed="rId6"/>
          <a:stretch>
            <a:fillRect/>
          </a:stretch>
        </p:blipFill>
        <p:spPr>
          <a:xfrm>
            <a:off x="4931361" y="5205833"/>
            <a:ext cx="2200275" cy="1038225"/>
          </a:xfrm>
          <a:prstGeom prst="rect">
            <a:avLst/>
          </a:prstGeom>
        </p:spPr>
      </p:pic>
      <p:sp>
        <p:nvSpPr>
          <p:cNvPr id="13" name="TextBox 12">
            <a:extLst>
              <a:ext uri="{FF2B5EF4-FFF2-40B4-BE49-F238E27FC236}">
                <a16:creationId xmlns:a16="http://schemas.microsoft.com/office/drawing/2014/main" xmlns="" id="{E8544F2F-B4B9-92C8-4A04-5FF7AD9CD8B7}"/>
              </a:ext>
            </a:extLst>
          </p:cNvPr>
          <p:cNvSpPr txBox="1"/>
          <p:nvPr/>
        </p:nvSpPr>
        <p:spPr>
          <a:xfrm>
            <a:off x="3941685" y="4871929"/>
            <a:ext cx="772357" cy="523220"/>
          </a:xfrm>
          <a:prstGeom prst="rect">
            <a:avLst/>
          </a:prstGeom>
          <a:noFill/>
        </p:spPr>
        <p:txBody>
          <a:bodyPr wrap="square" rtlCol="0">
            <a:spAutoFit/>
          </a:bodyPr>
          <a:lstStyle/>
          <a:p>
            <a:r>
              <a:rPr lang="en-US" sz="2800" dirty="0"/>
              <a:t>or</a:t>
            </a:r>
          </a:p>
        </p:txBody>
      </p:sp>
      <p:sp>
        <p:nvSpPr>
          <p:cNvPr id="14" name="TextBox 13">
            <a:extLst>
              <a:ext uri="{FF2B5EF4-FFF2-40B4-BE49-F238E27FC236}">
                <a16:creationId xmlns:a16="http://schemas.microsoft.com/office/drawing/2014/main" xmlns="" id="{3838C4BB-39A7-75C0-7576-5E00788CB338}"/>
              </a:ext>
            </a:extLst>
          </p:cNvPr>
          <p:cNvSpPr txBox="1"/>
          <p:nvPr/>
        </p:nvSpPr>
        <p:spPr>
          <a:xfrm>
            <a:off x="7315200" y="5486400"/>
            <a:ext cx="2200275" cy="523220"/>
          </a:xfrm>
          <a:prstGeom prst="rect">
            <a:avLst/>
          </a:prstGeom>
          <a:noFill/>
        </p:spPr>
        <p:txBody>
          <a:bodyPr wrap="square" rtlCol="0">
            <a:spAutoFit/>
          </a:bodyPr>
          <a:lstStyle/>
          <a:p>
            <a:r>
              <a:rPr lang="en-US" sz="2800" dirty="0"/>
              <a:t>                  (1)</a:t>
            </a:r>
          </a:p>
        </p:txBody>
      </p:sp>
    </p:spTree>
    <p:extLst>
      <p:ext uri="{BB962C8B-B14F-4D97-AF65-F5344CB8AC3E}">
        <p14:creationId xmlns:p14="http://schemas.microsoft.com/office/powerpoint/2010/main" xmlns="" val="2797269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76EA3F89-C165-1B32-1F52-3932293211CA}"/>
              </a:ext>
            </a:extLst>
          </p:cNvPr>
          <p:cNvSpPr txBox="1"/>
          <p:nvPr/>
        </p:nvSpPr>
        <p:spPr>
          <a:xfrm>
            <a:off x="887767" y="218273"/>
            <a:ext cx="6241002" cy="523220"/>
          </a:xfrm>
          <a:prstGeom prst="rect">
            <a:avLst/>
          </a:prstGeom>
          <a:noFill/>
        </p:spPr>
        <p:txBody>
          <a:bodyPr wrap="square" rtlCol="0">
            <a:spAutoFit/>
          </a:bodyPr>
          <a:lstStyle/>
          <a:p>
            <a:r>
              <a:rPr lang="en-US" sz="2800" dirty="0"/>
              <a:t>And the Schrodinger equation becomes </a:t>
            </a:r>
          </a:p>
        </p:txBody>
      </p:sp>
      <p:pic>
        <p:nvPicPr>
          <p:cNvPr id="4" name="Picture 3">
            <a:extLst>
              <a:ext uri="{FF2B5EF4-FFF2-40B4-BE49-F238E27FC236}">
                <a16:creationId xmlns:a16="http://schemas.microsoft.com/office/drawing/2014/main" xmlns="" id="{9C9983A0-D4DA-6E83-6977-06B7283D6E1F}"/>
              </a:ext>
            </a:extLst>
          </p:cNvPr>
          <p:cNvPicPr>
            <a:picLocks noChangeAspect="1"/>
          </p:cNvPicPr>
          <p:nvPr/>
        </p:nvPicPr>
        <p:blipFill>
          <a:blip r:embed="rId2"/>
          <a:stretch>
            <a:fillRect/>
          </a:stretch>
        </p:blipFill>
        <p:spPr>
          <a:xfrm>
            <a:off x="6738151" y="0"/>
            <a:ext cx="3410597" cy="959766"/>
          </a:xfrm>
          <a:prstGeom prst="rect">
            <a:avLst/>
          </a:prstGeom>
        </p:spPr>
      </p:pic>
      <p:pic>
        <p:nvPicPr>
          <p:cNvPr id="6" name="Picture 5">
            <a:extLst>
              <a:ext uri="{FF2B5EF4-FFF2-40B4-BE49-F238E27FC236}">
                <a16:creationId xmlns:a16="http://schemas.microsoft.com/office/drawing/2014/main" xmlns="" id="{F320767F-0137-3F74-D312-4D016E0A26D0}"/>
              </a:ext>
            </a:extLst>
          </p:cNvPr>
          <p:cNvPicPr>
            <a:picLocks noChangeAspect="1"/>
          </p:cNvPicPr>
          <p:nvPr/>
        </p:nvPicPr>
        <p:blipFill>
          <a:blip r:embed="rId3"/>
          <a:stretch>
            <a:fillRect/>
          </a:stretch>
        </p:blipFill>
        <p:spPr>
          <a:xfrm>
            <a:off x="5406500" y="1319295"/>
            <a:ext cx="3643359" cy="992004"/>
          </a:xfrm>
          <a:prstGeom prst="rect">
            <a:avLst/>
          </a:prstGeom>
        </p:spPr>
      </p:pic>
      <p:sp>
        <p:nvSpPr>
          <p:cNvPr id="7" name="TextBox 6">
            <a:extLst>
              <a:ext uri="{FF2B5EF4-FFF2-40B4-BE49-F238E27FC236}">
                <a16:creationId xmlns:a16="http://schemas.microsoft.com/office/drawing/2014/main" xmlns="" id="{50364C52-606C-6541-B690-316CFEFFAB3F}"/>
              </a:ext>
            </a:extLst>
          </p:cNvPr>
          <p:cNvSpPr txBox="1"/>
          <p:nvPr/>
        </p:nvSpPr>
        <p:spPr>
          <a:xfrm>
            <a:off x="3839592" y="1057685"/>
            <a:ext cx="1251751" cy="523220"/>
          </a:xfrm>
          <a:prstGeom prst="rect">
            <a:avLst/>
          </a:prstGeom>
          <a:noFill/>
        </p:spPr>
        <p:txBody>
          <a:bodyPr wrap="square" rtlCol="0">
            <a:spAutoFit/>
          </a:bodyPr>
          <a:lstStyle/>
          <a:p>
            <a:r>
              <a:rPr lang="en-US" sz="2800" dirty="0"/>
              <a:t>or</a:t>
            </a:r>
          </a:p>
        </p:txBody>
      </p:sp>
      <p:sp>
        <p:nvSpPr>
          <p:cNvPr id="8" name="TextBox 7">
            <a:extLst>
              <a:ext uri="{FF2B5EF4-FFF2-40B4-BE49-F238E27FC236}">
                <a16:creationId xmlns:a16="http://schemas.microsoft.com/office/drawing/2014/main" xmlns="" id="{867454AC-609D-76B3-E9DB-498801EDA32D}"/>
              </a:ext>
            </a:extLst>
          </p:cNvPr>
          <p:cNvSpPr txBox="1"/>
          <p:nvPr/>
        </p:nvSpPr>
        <p:spPr>
          <a:xfrm>
            <a:off x="9365016" y="1580905"/>
            <a:ext cx="1740023" cy="523220"/>
          </a:xfrm>
          <a:prstGeom prst="rect">
            <a:avLst/>
          </a:prstGeom>
          <a:noFill/>
        </p:spPr>
        <p:txBody>
          <a:bodyPr wrap="square" rtlCol="0">
            <a:spAutoFit/>
          </a:bodyPr>
          <a:lstStyle/>
          <a:p>
            <a:r>
              <a:rPr lang="en-US" sz="2800" dirty="0"/>
              <a:t>          (2)</a:t>
            </a:r>
          </a:p>
        </p:txBody>
      </p:sp>
      <p:sp>
        <p:nvSpPr>
          <p:cNvPr id="9" name="TextBox 8">
            <a:extLst>
              <a:ext uri="{FF2B5EF4-FFF2-40B4-BE49-F238E27FC236}">
                <a16:creationId xmlns:a16="http://schemas.microsoft.com/office/drawing/2014/main" xmlns="" id="{1DA68EA2-F549-6516-C26B-221C518D83CB}"/>
              </a:ext>
            </a:extLst>
          </p:cNvPr>
          <p:cNvSpPr txBox="1"/>
          <p:nvPr/>
        </p:nvSpPr>
        <p:spPr>
          <a:xfrm>
            <a:off x="727969" y="2521059"/>
            <a:ext cx="11185864" cy="1815882"/>
          </a:xfrm>
          <a:prstGeom prst="rect">
            <a:avLst/>
          </a:prstGeom>
          <a:noFill/>
        </p:spPr>
        <p:txBody>
          <a:bodyPr wrap="square" rtlCol="0">
            <a:spAutoFit/>
          </a:bodyPr>
          <a:lstStyle/>
          <a:p>
            <a:r>
              <a:rPr lang="en-US" sz="2800" dirty="0"/>
              <a:t>So, the separation of variable method converts the Schrodinger equation (the partial differential equation) into two ordinary differential equations </a:t>
            </a:r>
          </a:p>
          <a:p>
            <a:r>
              <a:rPr lang="en-US" sz="2800" dirty="0"/>
              <a:t>(1) and (2) of single variable. Equation (2) is called the </a:t>
            </a:r>
            <a:r>
              <a:rPr lang="en-US" sz="2800" dirty="0">
                <a:solidFill>
                  <a:srgbClr val="FF0000"/>
                </a:solidFill>
              </a:rPr>
              <a:t>time-independent Schrodinger equation.</a:t>
            </a:r>
          </a:p>
        </p:txBody>
      </p:sp>
      <mc:AlternateContent xmlns:mc="http://schemas.openxmlformats.org/markup-compatibility/2006">
        <mc:Choice xmlns:a14="http://schemas.microsoft.com/office/drawing/2010/main" xmlns="" Requires="a14">
          <p:sp>
            <p:nvSpPr>
              <p:cNvPr id="10" name="TextBox 9">
                <a:extLst>
                  <a:ext uri="{FF2B5EF4-FFF2-40B4-BE49-F238E27FC236}">
                    <a16:creationId xmlns:a16="http://schemas.microsoft.com/office/drawing/2014/main" id="{571AC82E-E7DA-2408-C290-C694A89D493E}"/>
                  </a:ext>
                </a:extLst>
              </p:cNvPr>
              <p:cNvSpPr txBox="1"/>
              <p:nvPr/>
            </p:nvSpPr>
            <p:spPr>
              <a:xfrm>
                <a:off x="887767" y="4546701"/>
                <a:ext cx="10608815" cy="539315"/>
              </a:xfrm>
              <a:prstGeom prst="rect">
                <a:avLst/>
              </a:prstGeom>
              <a:noFill/>
            </p:spPr>
            <p:txBody>
              <a:bodyPr wrap="square" rtlCol="0">
                <a:spAutoFit/>
              </a:bodyPr>
              <a:lstStyle/>
              <a:p>
                <a:r>
                  <a:rPr lang="en-US" sz="2800" dirty="0"/>
                  <a:t>Equation (1) is easy to solve, and the solution is </a:t>
                </a:r>
                <a14:m>
                  <m:oMath xmlns:m="http://schemas.openxmlformats.org/officeDocument/2006/math">
                    <m:r>
                      <a:rPr lang="en-US" sz="2800" i="1" smtClean="0">
                        <a:latin typeface="Cambria Math" panose="02040503050406030204" pitchFamily="18" charset="0"/>
                        <a:ea typeface="Cambria Math" panose="02040503050406030204" pitchFamily="18" charset="0"/>
                      </a:rPr>
                      <m:t>𝜙</m:t>
                    </m:r>
                    <m:r>
                      <a:rPr lang="en-US" sz="2800" b="0" i="1" smtClean="0">
                        <a:latin typeface="Cambria Math" panose="02040503050406030204" pitchFamily="18" charset="0"/>
                        <a:ea typeface="Cambria Math" panose="02040503050406030204" pitchFamily="18" charset="0"/>
                      </a:rPr>
                      <m:t>=</m:t>
                    </m:r>
                    <m:sSup>
                      <m:sSupPr>
                        <m:ctrlPr>
                          <a:rPr lang="en-US" sz="2800" b="0" i="1" smtClean="0">
                            <a:latin typeface="Cambria Math" panose="02040503050406030204" pitchFamily="18" charset="0"/>
                            <a:ea typeface="Cambria Math" panose="02040503050406030204" pitchFamily="18" charset="0"/>
                          </a:rPr>
                        </m:ctrlPr>
                      </m:sSupPr>
                      <m:e>
                        <m:r>
                          <a:rPr lang="en-US" sz="2800" b="0" i="1" smtClean="0">
                            <a:latin typeface="Cambria Math" panose="02040503050406030204" pitchFamily="18" charset="0"/>
                            <a:ea typeface="Cambria Math" panose="02040503050406030204" pitchFamily="18" charset="0"/>
                          </a:rPr>
                          <m:t>𝑒</m:t>
                        </m:r>
                      </m:e>
                      <m:sup>
                        <m:r>
                          <a:rPr lang="en-US" sz="2800" b="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𝑖𝐸𝑡</m:t>
                        </m:r>
                        <m:r>
                          <a:rPr lang="en-US" sz="2800" b="0" i="1" smtClean="0">
                            <a:latin typeface="Cambria Math" panose="02040503050406030204" pitchFamily="18" charset="0"/>
                            <a:ea typeface="Cambria Math" panose="02040503050406030204" pitchFamily="18" charset="0"/>
                          </a:rPr>
                          <m:t>/ℏ</m:t>
                        </m:r>
                      </m:sup>
                    </m:sSup>
                  </m:oMath>
                </a14:m>
                <a:r>
                  <a:rPr lang="en-US" sz="2800" dirty="0"/>
                  <a:t/>
                </a:r>
                <a:r>
                  <a:rPr lang="en-US" sz="2800" dirty="0">
                    <a:solidFill>
                      <a:srgbClr val="FF0000"/>
                    </a:solidFill>
                  </a:rPr>
                  <a:t>(check!!)</a:t>
                </a:r>
              </a:p>
            </p:txBody>
          </p:sp>
        </mc:Choice>
        <mc:Fallback>
          <p:sp>
            <p:nvSpPr>
              <p:cNvPr id="10" name="TextBox 9">
                <a:extLst>
                  <a:ext uri="{FF2B5EF4-FFF2-40B4-BE49-F238E27FC236}">
                    <a16:creationId xmlns:a16="http://schemas.microsoft.com/office/drawing/2014/main" xmlns="" xmlns:a14="http://schemas.microsoft.com/office/drawing/2010/main" id="{571AC82E-E7DA-2408-C290-C694A89D493E}"/>
                  </a:ext>
                </a:extLst>
              </p:cNvPr>
              <p:cNvSpPr txBox="1">
                <a:spLocks noRot="1" noChangeAspect="1" noMove="1" noResize="1" noEditPoints="1" noAdjustHandles="1" noChangeArrowheads="1" noChangeShapeType="1" noTextEdit="1"/>
              </p:cNvSpPr>
              <p:nvPr/>
            </p:nvSpPr>
            <p:spPr>
              <a:xfrm>
                <a:off x="887767" y="4546701"/>
                <a:ext cx="10608815" cy="539315"/>
              </a:xfrm>
              <a:prstGeom prst="rect">
                <a:avLst/>
              </a:prstGeom>
              <a:blipFill>
                <a:blip r:embed="rId4"/>
                <a:stretch>
                  <a:fillRect l="-1207" t="-7955" b="-3295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xmlns="" Requires="a14">
          <p:sp>
            <p:nvSpPr>
              <p:cNvPr id="11" name="TextBox 10">
                <a:extLst>
                  <a:ext uri="{FF2B5EF4-FFF2-40B4-BE49-F238E27FC236}">
                    <a16:creationId xmlns:a16="http://schemas.microsoft.com/office/drawing/2014/main" id="{0B2BF69F-770D-F39B-6F9F-FB31B6463E09}"/>
                  </a:ext>
                </a:extLst>
              </p:cNvPr>
              <p:cNvSpPr txBox="1"/>
              <p:nvPr/>
            </p:nvSpPr>
            <p:spPr>
              <a:xfrm>
                <a:off x="1065320" y="5326602"/>
                <a:ext cx="10191565" cy="539315"/>
              </a:xfrm>
              <a:prstGeom prst="rect">
                <a:avLst/>
              </a:prstGeom>
              <a:noFill/>
            </p:spPr>
            <p:txBody>
              <a:bodyPr wrap="square" rtlCol="0">
                <a:spAutoFit/>
              </a:bodyPr>
              <a:lstStyle/>
              <a:p>
                <a:r>
                  <a:rPr lang="en-US" sz="2800" dirty="0"/>
                  <a:t>So, the original wavefunction now looks like </a:t>
                </a:r>
                <a14:m>
                  <m:oMath xmlns:m="http://schemas.openxmlformats.org/officeDocument/2006/math">
                    <m:r>
                      <m:rPr>
                        <m:sty m:val="p"/>
                      </m:rPr>
                      <a:rPr lang="el-GR" sz="2800" i="1" smtClean="0">
                        <a:latin typeface="Cambria Math" panose="02040503050406030204" pitchFamily="18" charset="0"/>
                        <a:ea typeface="Cambria Math" panose="02040503050406030204" pitchFamily="18" charset="0"/>
                      </a:rPr>
                      <m:t>Ψ</m:t>
                    </m:r>
                    <m:d>
                      <m:dPr>
                        <m:ctrlPr>
                          <a:rPr lang="en-US" sz="2800" b="0" i="1" smtClean="0">
                            <a:latin typeface="Cambria Math" panose="02040503050406030204" pitchFamily="18" charset="0"/>
                            <a:ea typeface="Cambria Math" panose="02040503050406030204" pitchFamily="18" charset="0"/>
                          </a:rPr>
                        </m:ctrlPr>
                      </m:dPr>
                      <m:e>
                        <m:r>
                          <a:rPr lang="en-US" sz="2800" b="0" i="1" smtClean="0">
                            <a:latin typeface="Cambria Math" panose="02040503050406030204" pitchFamily="18" charset="0"/>
                            <a:ea typeface="Cambria Math" panose="02040503050406030204" pitchFamily="18" charset="0"/>
                          </a:rPr>
                          <m:t>𝑥</m:t>
                        </m:r>
                        <m:r>
                          <a:rPr lang="en-US" sz="2800" b="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𝑡</m:t>
                        </m:r>
                      </m:e>
                    </m:d>
                    <m:r>
                      <a:rPr lang="en-US" sz="2800" b="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𝜓</m:t>
                    </m:r>
                    <m:r>
                      <a:rPr lang="en-US" sz="2800" b="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𝑥</m:t>
                    </m:r>
                    <m:r>
                      <a:rPr lang="en-US" sz="2800" b="0" i="1" smtClean="0">
                        <a:latin typeface="Cambria Math" panose="02040503050406030204" pitchFamily="18" charset="0"/>
                        <a:ea typeface="Cambria Math" panose="02040503050406030204" pitchFamily="18" charset="0"/>
                      </a:rPr>
                      <m:t>)</m:t>
                    </m:r>
                    <m:sSup>
                      <m:sSupPr>
                        <m:ctrlPr>
                          <a:rPr lang="en-US" sz="2800" i="1">
                            <a:solidFill>
                              <a:prstClr val="black"/>
                            </a:solidFill>
                            <a:latin typeface="Cambria Math" panose="02040503050406030204" pitchFamily="18" charset="0"/>
                            <a:ea typeface="Cambria Math" panose="02040503050406030204" pitchFamily="18" charset="0"/>
                          </a:rPr>
                        </m:ctrlPr>
                      </m:sSupPr>
                      <m:e>
                        <m:r>
                          <a:rPr lang="en-US" sz="2800" i="1">
                            <a:solidFill>
                              <a:prstClr val="black"/>
                            </a:solidFill>
                            <a:latin typeface="Cambria Math" panose="02040503050406030204" pitchFamily="18" charset="0"/>
                            <a:ea typeface="Cambria Math" panose="02040503050406030204" pitchFamily="18" charset="0"/>
                          </a:rPr>
                          <m:t>𝑒</m:t>
                        </m:r>
                      </m:e>
                      <m:sup>
                        <m:r>
                          <a:rPr lang="en-US" sz="2800" i="1">
                            <a:solidFill>
                              <a:prstClr val="black"/>
                            </a:solidFill>
                            <a:latin typeface="Cambria Math" panose="02040503050406030204" pitchFamily="18" charset="0"/>
                            <a:ea typeface="Cambria Math" panose="02040503050406030204" pitchFamily="18" charset="0"/>
                          </a:rPr>
                          <m:t>−</m:t>
                        </m:r>
                        <m:r>
                          <a:rPr lang="en-US" sz="2800" i="1">
                            <a:solidFill>
                              <a:prstClr val="black"/>
                            </a:solidFill>
                            <a:latin typeface="Cambria Math" panose="02040503050406030204" pitchFamily="18" charset="0"/>
                            <a:ea typeface="Cambria Math" panose="02040503050406030204" pitchFamily="18" charset="0"/>
                          </a:rPr>
                          <m:t>𝑖𝐸𝑡</m:t>
                        </m:r>
                        <m:r>
                          <a:rPr lang="en-US" sz="2800" i="1">
                            <a:solidFill>
                              <a:prstClr val="black"/>
                            </a:solidFill>
                            <a:latin typeface="Cambria Math" panose="02040503050406030204" pitchFamily="18" charset="0"/>
                            <a:ea typeface="Cambria Math" panose="02040503050406030204" pitchFamily="18" charset="0"/>
                          </a:rPr>
                          <m:t>/ℏ</m:t>
                        </m:r>
                      </m:sup>
                    </m:sSup>
                  </m:oMath>
                </a14:m>
                <a:endParaRPr lang="en-US" sz="2800" dirty="0"/>
              </a:p>
            </p:txBody>
          </p:sp>
        </mc:Choice>
        <mc:Fallback>
          <p:sp>
            <p:nvSpPr>
              <p:cNvPr id="11" name="TextBox 10">
                <a:extLst>
                  <a:ext uri="{FF2B5EF4-FFF2-40B4-BE49-F238E27FC236}">
                    <a16:creationId xmlns:a16="http://schemas.microsoft.com/office/drawing/2014/main" xmlns="" xmlns:a14="http://schemas.microsoft.com/office/drawing/2010/main" id="{0B2BF69F-770D-F39B-6F9F-FB31B6463E09}"/>
                  </a:ext>
                </a:extLst>
              </p:cNvPr>
              <p:cNvSpPr txBox="1">
                <a:spLocks noRot="1" noChangeAspect="1" noMove="1" noResize="1" noEditPoints="1" noAdjustHandles="1" noChangeArrowheads="1" noChangeShapeType="1" noTextEdit="1"/>
              </p:cNvSpPr>
              <p:nvPr/>
            </p:nvSpPr>
            <p:spPr>
              <a:xfrm>
                <a:off x="1065320" y="5326602"/>
                <a:ext cx="10191565" cy="539315"/>
              </a:xfrm>
              <a:prstGeom prst="rect">
                <a:avLst/>
              </a:prstGeom>
              <a:blipFill>
                <a:blip r:embed="rId5"/>
                <a:stretch>
                  <a:fillRect l="-1256" t="-7955" b="-32955"/>
                </a:stretch>
              </a:blipFill>
            </p:spPr>
            <p:txBody>
              <a:bodyPr/>
              <a:lstStyle/>
              <a:p>
                <a:r>
                  <a:rPr lang="en-US">
                    <a:noFill/>
                  </a:rPr>
                  <a:t> </a:t>
                </a:r>
              </a:p>
            </p:txBody>
          </p:sp>
        </mc:Fallback>
      </mc:AlternateContent>
    </p:spTree>
    <p:extLst>
      <p:ext uri="{BB962C8B-B14F-4D97-AF65-F5344CB8AC3E}">
        <p14:creationId xmlns:p14="http://schemas.microsoft.com/office/powerpoint/2010/main" xmlns="" val="18211725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xmlns="" Requires="a14">
          <p:sp>
            <p:nvSpPr>
              <p:cNvPr id="2" name="TextBox 1">
                <a:extLst>
                  <a:ext uri="{FF2B5EF4-FFF2-40B4-BE49-F238E27FC236}">
                    <a16:creationId xmlns:a16="http://schemas.microsoft.com/office/drawing/2014/main" id="{61A160F4-7ABA-073A-4653-E9F1E99868C0}"/>
                  </a:ext>
                </a:extLst>
              </p:cNvPr>
              <p:cNvSpPr txBox="1"/>
              <p:nvPr/>
            </p:nvSpPr>
            <p:spPr>
              <a:xfrm>
                <a:off x="1669002" y="66863"/>
                <a:ext cx="10271464" cy="2262864"/>
              </a:xfrm>
              <a:prstGeom prst="rect">
                <a:avLst/>
              </a:prstGeom>
              <a:noFill/>
            </p:spPr>
            <p:txBody>
              <a:bodyPr wrap="square" rtlCol="0">
                <a:spAutoFit/>
              </a:bodyPr>
              <a:lstStyle/>
              <a:p>
                <a:r>
                  <a:rPr lang="en-US" sz="2800" dirty="0"/>
                  <a:t>Properties of the solution:</a:t>
                </a:r>
              </a:p>
              <a:p>
                <a:pPr marL="514350" indent="-514350">
                  <a:buAutoNum type="arabicPeriod"/>
                </a:pPr>
                <a:r>
                  <a:rPr lang="en-US" sz="2800" dirty="0"/>
                  <a:t>They are stationary state.</a:t>
                </a:r>
              </a:p>
              <a:p>
                <a:endParaRPr lang="en-US" sz="2800" dirty="0"/>
              </a:p>
              <a:p>
                <a:r>
                  <a:rPr lang="en-US" sz="2800" dirty="0"/>
                  <a:t>Proof: </a:t>
                </a:r>
                <a14:m>
                  <m:oMath xmlns:m="http://schemas.openxmlformats.org/officeDocument/2006/math">
                    <m:r>
                      <m:rPr>
                        <m:sty m:val="p"/>
                      </m:rPr>
                      <a:rPr kumimoji="0" lang="el-GR" sz="2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Ψ</m:t>
                    </m:r>
                    <m:d>
                      <m:dPr>
                        <m:ctrlP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ctrlPr>
                      </m:dPr>
                      <m:e>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𝑥</m:t>
                        </m:r>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𝑡</m:t>
                        </m:r>
                      </m:e>
                    </m:d>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𝜓</m:t>
                    </m:r>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𝑥</m:t>
                    </m:r>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sSup>
                      <m:sSupPr>
                        <m:ctrlPr>
                          <a:rPr kumimoji="0" lang="en-US" sz="2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sSupPr>
                      <m:e>
                        <m:r>
                          <a:rPr kumimoji="0" lang="en-US" sz="2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𝑒</m:t>
                        </m:r>
                      </m:e>
                      <m:sup>
                        <m:r>
                          <a:rPr kumimoji="0" lang="en-US" sz="2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en-US" sz="2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𝑖𝐸𝑡</m:t>
                        </m:r>
                        <m:r>
                          <a:rPr kumimoji="0" lang="en-US" sz="2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/ℏ</m:t>
                        </m:r>
                      </m:sup>
                    </m:sSup>
                  </m:oMath>
                </a14:m>
                <a:r>
                  <a:rPr lang="en-US" sz="2800" dirty="0"/>
                  <a:t> although time is present here in the wavefunction but the probability density does not depends on time.</a:t>
                </a:r>
              </a:p>
            </p:txBody>
          </p:sp>
        </mc:Choice>
        <mc:Fallback>
          <p:sp>
            <p:nvSpPr>
              <p:cNvPr id="2" name="TextBox 1">
                <a:extLst>
                  <a:ext uri="{FF2B5EF4-FFF2-40B4-BE49-F238E27FC236}">
                    <a16:creationId xmlns:a16="http://schemas.microsoft.com/office/drawing/2014/main" xmlns="" xmlns:a14="http://schemas.microsoft.com/office/drawing/2010/main" id="{61A160F4-7ABA-073A-4653-E9F1E99868C0}"/>
                  </a:ext>
                </a:extLst>
              </p:cNvPr>
              <p:cNvSpPr txBox="1">
                <a:spLocks noRot="1" noChangeAspect="1" noMove="1" noResize="1" noEditPoints="1" noAdjustHandles="1" noChangeArrowheads="1" noChangeShapeType="1" noTextEdit="1"/>
              </p:cNvSpPr>
              <p:nvPr/>
            </p:nvSpPr>
            <p:spPr>
              <a:xfrm>
                <a:off x="1669002" y="66863"/>
                <a:ext cx="10271464" cy="2262864"/>
              </a:xfrm>
              <a:prstGeom prst="rect">
                <a:avLst/>
              </a:prstGeom>
              <a:blipFill>
                <a:blip r:embed="rId2"/>
                <a:stretch>
                  <a:fillRect l="-1246" t="-2695" b="-6739"/>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xmlns="" id="{2210D8F4-F2A7-F0C4-FEE7-75245AA00E05}"/>
              </a:ext>
            </a:extLst>
          </p:cNvPr>
          <p:cNvPicPr>
            <a:picLocks noChangeAspect="1"/>
          </p:cNvPicPr>
          <p:nvPr/>
        </p:nvPicPr>
        <p:blipFill>
          <a:blip r:embed="rId3"/>
          <a:stretch>
            <a:fillRect/>
          </a:stretch>
        </p:blipFill>
        <p:spPr>
          <a:xfrm>
            <a:off x="2383417" y="2525670"/>
            <a:ext cx="7962900" cy="561975"/>
          </a:xfrm>
          <a:prstGeom prst="rect">
            <a:avLst/>
          </a:prstGeom>
        </p:spPr>
      </p:pic>
      <p:sp>
        <p:nvSpPr>
          <p:cNvPr id="5" name="TextBox 4">
            <a:extLst>
              <a:ext uri="{FF2B5EF4-FFF2-40B4-BE49-F238E27FC236}">
                <a16:creationId xmlns:a16="http://schemas.microsoft.com/office/drawing/2014/main" xmlns="" id="{E1C20299-56E2-060F-75ED-BC16B1B8F7D3}"/>
              </a:ext>
            </a:extLst>
          </p:cNvPr>
          <p:cNvSpPr txBox="1"/>
          <p:nvPr/>
        </p:nvSpPr>
        <p:spPr>
          <a:xfrm>
            <a:off x="1520890" y="3685592"/>
            <a:ext cx="10486068" cy="954107"/>
          </a:xfrm>
          <a:prstGeom prst="rect">
            <a:avLst/>
          </a:prstGeom>
          <a:noFill/>
        </p:spPr>
        <p:txBody>
          <a:bodyPr wrap="square" rtlCol="0">
            <a:spAutoFit/>
          </a:bodyPr>
          <a:lstStyle/>
          <a:p>
            <a:r>
              <a:rPr lang="en-US" sz="2800" dirty="0"/>
              <a:t>2. They are definite total energy states.</a:t>
            </a:r>
          </a:p>
          <a:p>
            <a:r>
              <a:rPr lang="en-US" sz="2800" dirty="0"/>
              <a:t>Proof: In classical mechanics the total energy is called the </a:t>
            </a:r>
            <a:r>
              <a:rPr lang="en-US" sz="2800" b="1" dirty="0"/>
              <a:t>Hamiltonian</a:t>
            </a:r>
          </a:p>
        </p:txBody>
      </p:sp>
      <p:pic>
        <p:nvPicPr>
          <p:cNvPr id="7" name="Picture 6">
            <a:extLst>
              <a:ext uri="{FF2B5EF4-FFF2-40B4-BE49-F238E27FC236}">
                <a16:creationId xmlns:a16="http://schemas.microsoft.com/office/drawing/2014/main" xmlns="" id="{8B116ACC-CC2B-EC04-09AE-58FA1FC14798}"/>
              </a:ext>
            </a:extLst>
          </p:cNvPr>
          <p:cNvPicPr>
            <a:picLocks noChangeAspect="1"/>
          </p:cNvPicPr>
          <p:nvPr/>
        </p:nvPicPr>
        <p:blipFill>
          <a:blip r:embed="rId4"/>
          <a:stretch>
            <a:fillRect/>
          </a:stretch>
        </p:blipFill>
        <p:spPr>
          <a:xfrm>
            <a:off x="4531304" y="4542268"/>
            <a:ext cx="3667125" cy="962025"/>
          </a:xfrm>
          <a:prstGeom prst="rect">
            <a:avLst/>
          </a:prstGeom>
        </p:spPr>
      </p:pic>
    </p:spTree>
    <p:extLst>
      <p:ext uri="{BB962C8B-B14F-4D97-AF65-F5344CB8AC3E}">
        <p14:creationId xmlns:p14="http://schemas.microsoft.com/office/powerpoint/2010/main" xmlns="" val="25654817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AE222D34-3996-3718-99E2-58CF5A1D16D7}"/>
              </a:ext>
            </a:extLst>
          </p:cNvPr>
          <p:cNvSpPr txBox="1"/>
          <p:nvPr/>
        </p:nvSpPr>
        <p:spPr>
          <a:xfrm>
            <a:off x="744894" y="233265"/>
            <a:ext cx="10702212" cy="954107"/>
          </a:xfrm>
          <a:prstGeom prst="rect">
            <a:avLst/>
          </a:prstGeom>
          <a:noFill/>
        </p:spPr>
        <p:txBody>
          <a:bodyPr wrap="square" rtlCol="0">
            <a:spAutoFit/>
          </a:bodyPr>
          <a:lstStyle/>
          <a:p>
            <a:r>
              <a:rPr lang="en-US" sz="2800" dirty="0"/>
              <a:t>In quantum mechanics the corresponding Hamiltonian operator can be obtain by writing P in the operator form </a:t>
            </a:r>
          </a:p>
        </p:txBody>
      </p:sp>
      <p:pic>
        <p:nvPicPr>
          <p:cNvPr id="4" name="Picture 3">
            <a:extLst>
              <a:ext uri="{FF2B5EF4-FFF2-40B4-BE49-F238E27FC236}">
                <a16:creationId xmlns:a16="http://schemas.microsoft.com/office/drawing/2014/main" xmlns="" id="{A51A49AE-69F8-89C6-4651-64B9BDAFBA57}"/>
              </a:ext>
            </a:extLst>
          </p:cNvPr>
          <p:cNvPicPr>
            <a:picLocks noChangeAspect="1"/>
          </p:cNvPicPr>
          <p:nvPr/>
        </p:nvPicPr>
        <p:blipFill>
          <a:blip r:embed="rId2"/>
          <a:stretch>
            <a:fillRect/>
          </a:stretch>
        </p:blipFill>
        <p:spPr>
          <a:xfrm>
            <a:off x="6885992" y="710318"/>
            <a:ext cx="2559892" cy="476670"/>
          </a:xfrm>
          <a:prstGeom prst="rect">
            <a:avLst/>
          </a:prstGeom>
        </p:spPr>
      </p:pic>
      <p:pic>
        <p:nvPicPr>
          <p:cNvPr id="6" name="Picture 5">
            <a:extLst>
              <a:ext uri="{FF2B5EF4-FFF2-40B4-BE49-F238E27FC236}">
                <a16:creationId xmlns:a16="http://schemas.microsoft.com/office/drawing/2014/main" xmlns="" id="{83ADB2C5-9027-D310-821E-8941E6F09F19}"/>
              </a:ext>
            </a:extLst>
          </p:cNvPr>
          <p:cNvPicPr>
            <a:picLocks noChangeAspect="1"/>
          </p:cNvPicPr>
          <p:nvPr/>
        </p:nvPicPr>
        <p:blipFill>
          <a:blip r:embed="rId3"/>
          <a:stretch>
            <a:fillRect/>
          </a:stretch>
        </p:blipFill>
        <p:spPr>
          <a:xfrm>
            <a:off x="4233862" y="1276835"/>
            <a:ext cx="3724275" cy="1057275"/>
          </a:xfrm>
          <a:prstGeom prst="rect">
            <a:avLst/>
          </a:prstGeom>
        </p:spPr>
      </p:pic>
      <p:sp>
        <p:nvSpPr>
          <p:cNvPr id="7" name="TextBox 6">
            <a:extLst>
              <a:ext uri="{FF2B5EF4-FFF2-40B4-BE49-F238E27FC236}">
                <a16:creationId xmlns:a16="http://schemas.microsoft.com/office/drawing/2014/main" xmlns="" id="{C518D630-EDE1-1E22-E9A6-1272E3188C3C}"/>
              </a:ext>
            </a:extLst>
          </p:cNvPr>
          <p:cNvSpPr txBox="1"/>
          <p:nvPr/>
        </p:nvSpPr>
        <p:spPr>
          <a:xfrm>
            <a:off x="951722" y="2423573"/>
            <a:ext cx="9862458" cy="523220"/>
          </a:xfrm>
          <a:prstGeom prst="rect">
            <a:avLst/>
          </a:prstGeom>
          <a:noFill/>
        </p:spPr>
        <p:txBody>
          <a:bodyPr wrap="square" rtlCol="0">
            <a:spAutoFit/>
          </a:bodyPr>
          <a:lstStyle/>
          <a:p>
            <a:r>
              <a:rPr lang="en-US" sz="2800" dirty="0"/>
              <a:t>Thus, the time independent Schrodinger equation (2) become </a:t>
            </a:r>
          </a:p>
        </p:txBody>
      </p:sp>
      <p:pic>
        <p:nvPicPr>
          <p:cNvPr id="9" name="Picture 8">
            <a:extLst>
              <a:ext uri="{FF2B5EF4-FFF2-40B4-BE49-F238E27FC236}">
                <a16:creationId xmlns:a16="http://schemas.microsoft.com/office/drawing/2014/main" xmlns="" id="{C2FDC7F0-89E7-F8E5-6422-A2D49CFC982A}"/>
              </a:ext>
            </a:extLst>
          </p:cNvPr>
          <p:cNvPicPr>
            <a:picLocks noChangeAspect="1"/>
          </p:cNvPicPr>
          <p:nvPr/>
        </p:nvPicPr>
        <p:blipFill>
          <a:blip r:embed="rId4"/>
          <a:stretch>
            <a:fillRect/>
          </a:stretch>
        </p:blipFill>
        <p:spPr>
          <a:xfrm>
            <a:off x="5001888" y="2946793"/>
            <a:ext cx="1762125" cy="676275"/>
          </a:xfrm>
          <a:prstGeom prst="rect">
            <a:avLst/>
          </a:prstGeom>
        </p:spPr>
      </p:pic>
      <p:pic>
        <p:nvPicPr>
          <p:cNvPr id="11" name="Picture 10">
            <a:extLst>
              <a:ext uri="{FF2B5EF4-FFF2-40B4-BE49-F238E27FC236}">
                <a16:creationId xmlns:a16="http://schemas.microsoft.com/office/drawing/2014/main" xmlns="" id="{F05880DC-2ED9-873A-C0BD-F0B5DCC2DD97}"/>
              </a:ext>
            </a:extLst>
          </p:cNvPr>
          <p:cNvPicPr>
            <a:picLocks noChangeAspect="1"/>
          </p:cNvPicPr>
          <p:nvPr/>
        </p:nvPicPr>
        <p:blipFill>
          <a:blip r:embed="rId5"/>
          <a:stretch>
            <a:fillRect/>
          </a:stretch>
        </p:blipFill>
        <p:spPr>
          <a:xfrm>
            <a:off x="956386" y="3781778"/>
            <a:ext cx="10526601" cy="1592655"/>
          </a:xfrm>
          <a:prstGeom prst="rect">
            <a:avLst/>
          </a:prstGeom>
        </p:spPr>
      </p:pic>
    </p:spTree>
    <p:extLst>
      <p:ext uri="{BB962C8B-B14F-4D97-AF65-F5344CB8AC3E}">
        <p14:creationId xmlns:p14="http://schemas.microsoft.com/office/powerpoint/2010/main" xmlns="" val="4066652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60804798-D1FE-611B-832F-D531FDEEC674}"/>
              </a:ext>
            </a:extLst>
          </p:cNvPr>
          <p:cNvSpPr txBox="1"/>
          <p:nvPr/>
        </p:nvSpPr>
        <p:spPr>
          <a:xfrm>
            <a:off x="1380930" y="190505"/>
            <a:ext cx="2127379" cy="523220"/>
          </a:xfrm>
          <a:prstGeom prst="rect">
            <a:avLst/>
          </a:prstGeom>
          <a:noFill/>
        </p:spPr>
        <p:txBody>
          <a:bodyPr wrap="square" rtlCol="0">
            <a:spAutoFit/>
          </a:bodyPr>
          <a:lstStyle/>
          <a:p>
            <a:r>
              <a:rPr lang="en-US" sz="2800" dirty="0"/>
              <a:t>Moreover</a:t>
            </a:r>
          </a:p>
        </p:txBody>
      </p:sp>
      <p:pic>
        <p:nvPicPr>
          <p:cNvPr id="4" name="Picture 3">
            <a:extLst>
              <a:ext uri="{FF2B5EF4-FFF2-40B4-BE49-F238E27FC236}">
                <a16:creationId xmlns:a16="http://schemas.microsoft.com/office/drawing/2014/main" xmlns="" id="{BDA620D4-D061-55EC-DCDA-E0884AAC0048}"/>
              </a:ext>
            </a:extLst>
          </p:cNvPr>
          <p:cNvPicPr>
            <a:picLocks noChangeAspect="1"/>
          </p:cNvPicPr>
          <p:nvPr/>
        </p:nvPicPr>
        <p:blipFill>
          <a:blip r:embed="rId2"/>
          <a:stretch>
            <a:fillRect/>
          </a:stretch>
        </p:blipFill>
        <p:spPr>
          <a:xfrm>
            <a:off x="3191069" y="200048"/>
            <a:ext cx="6229447" cy="573874"/>
          </a:xfrm>
          <a:prstGeom prst="rect">
            <a:avLst/>
          </a:prstGeom>
        </p:spPr>
      </p:pic>
      <p:pic>
        <p:nvPicPr>
          <p:cNvPr id="6" name="Picture 5">
            <a:extLst>
              <a:ext uri="{FF2B5EF4-FFF2-40B4-BE49-F238E27FC236}">
                <a16:creationId xmlns:a16="http://schemas.microsoft.com/office/drawing/2014/main" xmlns="" id="{3E37316F-82AB-1F3B-F199-D76048074376}"/>
              </a:ext>
            </a:extLst>
          </p:cNvPr>
          <p:cNvPicPr>
            <a:picLocks noChangeAspect="1"/>
          </p:cNvPicPr>
          <p:nvPr/>
        </p:nvPicPr>
        <p:blipFill>
          <a:blip r:embed="rId3"/>
          <a:stretch>
            <a:fillRect/>
          </a:stretch>
        </p:blipFill>
        <p:spPr>
          <a:xfrm>
            <a:off x="1464904" y="1002361"/>
            <a:ext cx="8902959" cy="1323176"/>
          </a:xfrm>
          <a:prstGeom prst="rect">
            <a:avLst/>
          </a:prstGeom>
        </p:spPr>
      </p:pic>
      <p:pic>
        <p:nvPicPr>
          <p:cNvPr id="8" name="Picture 7">
            <a:extLst>
              <a:ext uri="{FF2B5EF4-FFF2-40B4-BE49-F238E27FC236}">
                <a16:creationId xmlns:a16="http://schemas.microsoft.com/office/drawing/2014/main" xmlns="" id="{200DEA9A-F75D-2488-CC91-72A7DDF0C738}"/>
              </a:ext>
            </a:extLst>
          </p:cNvPr>
          <p:cNvPicPr>
            <a:picLocks noChangeAspect="1"/>
          </p:cNvPicPr>
          <p:nvPr/>
        </p:nvPicPr>
        <p:blipFill>
          <a:blip r:embed="rId4"/>
          <a:stretch>
            <a:fillRect/>
          </a:stretch>
        </p:blipFill>
        <p:spPr>
          <a:xfrm>
            <a:off x="1464904" y="2614173"/>
            <a:ext cx="8188875" cy="1131300"/>
          </a:xfrm>
          <a:prstGeom prst="rect">
            <a:avLst/>
          </a:prstGeom>
        </p:spPr>
      </p:pic>
      <mc:AlternateContent xmlns:mc="http://schemas.openxmlformats.org/markup-compatibility/2006">
        <mc:Choice xmlns:a14="http://schemas.microsoft.com/office/drawing/2010/main" xmlns="" Requires="a14">
          <p:sp>
            <p:nvSpPr>
              <p:cNvPr id="11" name="TextBox 10">
                <a:extLst>
                  <a:ext uri="{FF2B5EF4-FFF2-40B4-BE49-F238E27FC236}">
                    <a16:creationId xmlns:a16="http://schemas.microsoft.com/office/drawing/2014/main" id="{DFE7AD7A-9527-78F0-B64E-8083C8545FAF}"/>
                  </a:ext>
                </a:extLst>
              </p:cNvPr>
              <p:cNvSpPr txBox="1"/>
              <p:nvPr/>
            </p:nvSpPr>
            <p:spPr>
              <a:xfrm>
                <a:off x="1064959" y="4105561"/>
                <a:ext cx="10683551" cy="1384995"/>
              </a:xfrm>
              <a:prstGeom prst="rect">
                <a:avLst/>
              </a:prstGeom>
              <a:noFill/>
            </p:spPr>
            <p:txBody>
              <a:bodyPr wrap="square" rtlCol="0">
                <a:spAutoFit/>
              </a:bodyPr>
              <a:lstStyle/>
              <a:p>
                <a:r>
                  <a:rPr lang="en-US" sz="2800" dirty="0"/>
                  <a:t>We know that, if </a:t>
                </a:r>
                <a14:m>
                  <m:oMath xmlns:m="http://schemas.openxmlformats.org/officeDocument/2006/math">
                    <m:r>
                      <a:rPr lang="en-US" sz="2800" i="1" smtClean="0">
                        <a:latin typeface="Cambria Math" panose="02040503050406030204" pitchFamily="18" charset="0"/>
                        <a:ea typeface="Cambria Math" panose="02040503050406030204" pitchFamily="18" charset="0"/>
                      </a:rPr>
                      <m:t>𝜎</m:t>
                    </m:r>
                    <m:r>
                      <a:rPr lang="en-US" sz="2800" b="0" i="1" smtClean="0">
                        <a:latin typeface="Cambria Math" panose="02040503050406030204" pitchFamily="18" charset="0"/>
                        <a:ea typeface="Cambria Math" panose="02040503050406030204" pitchFamily="18" charset="0"/>
                      </a:rPr>
                      <m:t>=0,</m:t>
                    </m:r>
                  </m:oMath>
                </a14:m>
                <a:r>
                  <a:rPr lang="en-US" sz="2800" dirty="0"/>
                  <a:t> then every member of the sample must share the same value. So, the separable solution has the property that every measurement of the total energy is certain to return the value E.</a:t>
                </a:r>
              </a:p>
            </p:txBody>
          </p:sp>
        </mc:Choice>
        <mc:Fallback>
          <p:sp>
            <p:nvSpPr>
              <p:cNvPr id="11" name="TextBox 10">
                <a:extLst>
                  <a:ext uri="{FF2B5EF4-FFF2-40B4-BE49-F238E27FC236}">
                    <a16:creationId xmlns:a16="http://schemas.microsoft.com/office/drawing/2014/main" xmlns="" xmlns:a14="http://schemas.microsoft.com/office/drawing/2010/main" id="{DFE7AD7A-9527-78F0-B64E-8083C8545FAF}"/>
                  </a:ext>
                </a:extLst>
              </p:cNvPr>
              <p:cNvSpPr txBox="1">
                <a:spLocks noRot="1" noChangeAspect="1" noMove="1" noResize="1" noEditPoints="1" noAdjustHandles="1" noChangeArrowheads="1" noChangeShapeType="1" noTextEdit="1"/>
              </p:cNvSpPr>
              <p:nvPr/>
            </p:nvSpPr>
            <p:spPr>
              <a:xfrm>
                <a:off x="1064959" y="4105561"/>
                <a:ext cx="10683551" cy="1384995"/>
              </a:xfrm>
              <a:prstGeom prst="rect">
                <a:avLst/>
              </a:prstGeom>
              <a:blipFill>
                <a:blip r:embed="rId5"/>
                <a:stretch>
                  <a:fillRect l="-1199" t="-3947" b="-11404"/>
                </a:stretch>
              </a:blipFill>
            </p:spPr>
            <p:txBody>
              <a:bodyPr/>
              <a:lstStyle/>
              <a:p>
                <a:r>
                  <a:rPr lang="en-US">
                    <a:noFill/>
                  </a:rPr>
                  <a:t> </a:t>
                </a:r>
              </a:p>
            </p:txBody>
          </p:sp>
        </mc:Fallback>
      </mc:AlternateContent>
    </p:spTree>
    <p:extLst>
      <p:ext uri="{BB962C8B-B14F-4D97-AF65-F5344CB8AC3E}">
        <p14:creationId xmlns:p14="http://schemas.microsoft.com/office/powerpoint/2010/main" xmlns="" val="18165579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xmlns="" Requires="a14">
          <p:sp>
            <p:nvSpPr>
              <p:cNvPr id="4" name="TextBox 3">
                <a:extLst>
                  <a:ext uri="{FF2B5EF4-FFF2-40B4-BE49-F238E27FC236}">
                    <a16:creationId xmlns:a16="http://schemas.microsoft.com/office/drawing/2014/main" id="{60E83165-7BD4-FD61-DC79-D3DB54AE9242}"/>
                  </a:ext>
                </a:extLst>
              </p:cNvPr>
              <p:cNvSpPr txBox="1"/>
              <p:nvPr/>
            </p:nvSpPr>
            <p:spPr>
              <a:xfrm>
                <a:off x="342696" y="165727"/>
                <a:ext cx="11010123" cy="2246769"/>
              </a:xfrm>
              <a:prstGeom prst="rect">
                <a:avLst/>
              </a:prstGeom>
              <a:noFill/>
            </p:spPr>
            <p:txBody>
              <a:bodyPr wrap="square" rtlCol="0">
                <a:spAutoFit/>
              </a:bodyPr>
              <a:lstStyle/>
              <a:p>
                <a:r>
                  <a:rPr lang="en-US" sz="2800" dirty="0"/>
                  <a:t>3. The general solution is a linear combination of separable solutions. The time-independent Schrodinger equation (2) yields an infinite collection of solutions </a:t>
                </a:r>
              </a:p>
              <a:p>
                <a:r>
                  <a:rPr lang="en-US" sz="2800" dirty="0"/>
                  <a:t>Each solutions associated with energies </a:t>
                </a:r>
                <a14:m>
                  <m:oMath xmlns:m="http://schemas.openxmlformats.org/officeDocument/2006/math">
                    <m:sSub>
                      <m:sSubPr>
                        <m:ctrlPr>
                          <a:rPr lang="en-US" sz="2800" i="1" smtClean="0">
                            <a:latin typeface="Cambria Math" panose="02040503050406030204" pitchFamily="18" charset="0"/>
                          </a:rPr>
                        </m:ctrlPr>
                      </m:sSubPr>
                      <m:e>
                        <m:r>
                          <a:rPr lang="en-US" sz="2800" b="0" i="1" smtClean="0">
                            <a:latin typeface="Cambria Math" panose="02040503050406030204" pitchFamily="18" charset="0"/>
                          </a:rPr>
                          <m:t>𝐸</m:t>
                        </m:r>
                      </m:e>
                      <m:sub>
                        <m:r>
                          <a:rPr lang="en-US" sz="2800" b="0" i="1" smtClean="0">
                            <a:latin typeface="Cambria Math" panose="02040503050406030204" pitchFamily="18" charset="0"/>
                          </a:rPr>
                          <m:t>1</m:t>
                        </m:r>
                      </m:sub>
                    </m:sSub>
                    <m:r>
                      <a:rPr lang="en-US" sz="2800" b="0" i="1" smtClean="0">
                        <a:latin typeface="Cambria Math" panose="02040503050406030204" pitchFamily="18" charset="0"/>
                      </a:rPr>
                      <m:t>, </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𝐸</m:t>
                        </m:r>
                      </m:e>
                      <m:sub>
                        <m:r>
                          <a:rPr lang="en-US" sz="2800" b="0" i="1" smtClean="0">
                            <a:latin typeface="Cambria Math" panose="02040503050406030204" pitchFamily="18" charset="0"/>
                          </a:rPr>
                          <m:t>2</m:t>
                        </m:r>
                      </m:sub>
                    </m:sSub>
                    <m:r>
                      <a:rPr lang="en-US" sz="2800" b="0" i="1" smtClean="0">
                        <a:latin typeface="Cambria Math" panose="02040503050406030204" pitchFamily="18" charset="0"/>
                      </a:rPr>
                      <m:t>, </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𝐸</m:t>
                        </m:r>
                      </m:e>
                      <m:sub>
                        <m:r>
                          <a:rPr lang="en-US" sz="2800" b="0" i="1" smtClean="0">
                            <a:latin typeface="Cambria Math" panose="02040503050406030204" pitchFamily="18" charset="0"/>
                          </a:rPr>
                          <m:t>3</m:t>
                        </m:r>
                      </m:sub>
                    </m:sSub>
                    <m:r>
                      <a:rPr lang="en-US" sz="2800" b="0" i="1" smtClean="0">
                        <a:latin typeface="Cambria Math" panose="02040503050406030204" pitchFamily="18" charset="0"/>
                      </a:rPr>
                      <m:t>….</m:t>
                    </m:r>
                  </m:oMath>
                </a14:m>
                <a:r>
                  <a:rPr lang="en-US" sz="2800" dirty="0"/>
                  <a:t>; thus there is a different wave function for each allowed energy:</a:t>
                </a:r>
              </a:p>
            </p:txBody>
          </p:sp>
        </mc:Choice>
        <mc:Fallback>
          <p:sp>
            <p:nvSpPr>
              <p:cNvPr id="4" name="TextBox 3">
                <a:extLst>
                  <a:ext uri="{FF2B5EF4-FFF2-40B4-BE49-F238E27FC236}">
                    <a16:creationId xmlns:a16="http://schemas.microsoft.com/office/drawing/2014/main" xmlns="" xmlns:a14="http://schemas.microsoft.com/office/drawing/2010/main" id="{60E83165-7BD4-FD61-DC79-D3DB54AE9242}"/>
                  </a:ext>
                </a:extLst>
              </p:cNvPr>
              <p:cNvSpPr txBox="1">
                <a:spLocks noRot="1" noChangeAspect="1" noMove="1" noResize="1" noEditPoints="1" noAdjustHandles="1" noChangeArrowheads="1" noChangeShapeType="1" noTextEdit="1"/>
              </p:cNvSpPr>
              <p:nvPr/>
            </p:nvSpPr>
            <p:spPr>
              <a:xfrm>
                <a:off x="342696" y="165727"/>
                <a:ext cx="11010123" cy="2246769"/>
              </a:xfrm>
              <a:prstGeom prst="rect">
                <a:avLst/>
              </a:prstGeom>
              <a:blipFill>
                <a:blip r:embed="rId2"/>
                <a:stretch>
                  <a:fillRect l="-1107" t="-2439" b="-6775"/>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xmlns="" id="{4C032F67-5276-C543-C091-CCC18ED09FF3}"/>
              </a:ext>
            </a:extLst>
          </p:cNvPr>
          <p:cNvPicPr>
            <a:picLocks noChangeAspect="1"/>
          </p:cNvPicPr>
          <p:nvPr/>
        </p:nvPicPr>
        <p:blipFill>
          <a:blip r:embed="rId3"/>
          <a:stretch>
            <a:fillRect/>
          </a:stretch>
        </p:blipFill>
        <p:spPr>
          <a:xfrm>
            <a:off x="1984884" y="1094113"/>
            <a:ext cx="3977951" cy="389995"/>
          </a:xfrm>
          <a:prstGeom prst="rect">
            <a:avLst/>
          </a:prstGeom>
        </p:spPr>
      </p:pic>
      <p:pic>
        <p:nvPicPr>
          <p:cNvPr id="8" name="Picture 7">
            <a:extLst>
              <a:ext uri="{FF2B5EF4-FFF2-40B4-BE49-F238E27FC236}">
                <a16:creationId xmlns:a16="http://schemas.microsoft.com/office/drawing/2014/main" xmlns="" id="{BEA2BB35-C85F-9B95-BE34-ECADA31A332D}"/>
              </a:ext>
            </a:extLst>
          </p:cNvPr>
          <p:cNvPicPr>
            <a:picLocks noChangeAspect="1"/>
          </p:cNvPicPr>
          <p:nvPr/>
        </p:nvPicPr>
        <p:blipFill>
          <a:blip r:embed="rId4"/>
          <a:stretch>
            <a:fillRect/>
          </a:stretch>
        </p:blipFill>
        <p:spPr>
          <a:xfrm>
            <a:off x="978162" y="2531985"/>
            <a:ext cx="9401175" cy="533400"/>
          </a:xfrm>
          <a:prstGeom prst="rect">
            <a:avLst/>
          </a:prstGeom>
        </p:spPr>
      </p:pic>
      <p:sp>
        <p:nvSpPr>
          <p:cNvPr id="9" name="TextBox 8">
            <a:extLst>
              <a:ext uri="{FF2B5EF4-FFF2-40B4-BE49-F238E27FC236}">
                <a16:creationId xmlns:a16="http://schemas.microsoft.com/office/drawing/2014/main" xmlns="" id="{55635741-6850-1255-ED60-8F7B66A27F45}"/>
              </a:ext>
            </a:extLst>
          </p:cNvPr>
          <p:cNvSpPr txBox="1"/>
          <p:nvPr/>
        </p:nvSpPr>
        <p:spPr>
          <a:xfrm>
            <a:off x="692458" y="3355759"/>
            <a:ext cx="9686879" cy="954107"/>
          </a:xfrm>
          <a:prstGeom prst="rect">
            <a:avLst/>
          </a:prstGeom>
          <a:noFill/>
        </p:spPr>
        <p:txBody>
          <a:bodyPr wrap="square" rtlCol="0">
            <a:spAutoFit/>
          </a:bodyPr>
          <a:lstStyle/>
          <a:p>
            <a:r>
              <a:rPr lang="en-US" sz="2800" dirty="0"/>
              <a:t>Once we have separable solution, we can immediately construct the solution of the time-dependent Schrodinger equation as </a:t>
            </a:r>
          </a:p>
        </p:txBody>
      </p:sp>
      <p:pic>
        <p:nvPicPr>
          <p:cNvPr id="11" name="Picture 10">
            <a:extLst>
              <a:ext uri="{FF2B5EF4-FFF2-40B4-BE49-F238E27FC236}">
                <a16:creationId xmlns:a16="http://schemas.microsoft.com/office/drawing/2014/main" xmlns="" id="{938D75E2-6DAD-A7BC-B618-C3EE31FAF259}"/>
              </a:ext>
            </a:extLst>
          </p:cNvPr>
          <p:cNvPicPr>
            <a:picLocks noChangeAspect="1"/>
          </p:cNvPicPr>
          <p:nvPr/>
        </p:nvPicPr>
        <p:blipFill>
          <a:blip r:embed="rId5"/>
          <a:stretch>
            <a:fillRect/>
          </a:stretch>
        </p:blipFill>
        <p:spPr>
          <a:xfrm>
            <a:off x="3278449" y="4483871"/>
            <a:ext cx="4800600" cy="1352550"/>
          </a:xfrm>
          <a:prstGeom prst="rect">
            <a:avLst/>
          </a:prstGeom>
        </p:spPr>
      </p:pic>
    </p:spTree>
    <p:extLst>
      <p:ext uri="{BB962C8B-B14F-4D97-AF65-F5344CB8AC3E}">
        <p14:creationId xmlns:p14="http://schemas.microsoft.com/office/powerpoint/2010/main" xmlns="" val="3564509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xmlns="" Requires="a14">
          <p:sp>
            <p:nvSpPr>
              <p:cNvPr id="4" name="TextBox 3">
                <a:extLst>
                  <a:ext uri="{FF2B5EF4-FFF2-40B4-BE49-F238E27FC236}">
                    <a16:creationId xmlns:a16="http://schemas.microsoft.com/office/drawing/2014/main" id="{F47B275F-241C-4239-BF53-E234FCF5F7D1}"/>
                  </a:ext>
                </a:extLst>
              </p:cNvPr>
              <p:cNvSpPr txBox="1"/>
              <p:nvPr/>
            </p:nvSpPr>
            <p:spPr>
              <a:xfrm>
                <a:off x="352752" y="100554"/>
                <a:ext cx="11206065" cy="5262979"/>
              </a:xfrm>
              <a:prstGeom prst="rect">
                <a:avLst/>
              </a:prstGeom>
              <a:noFill/>
            </p:spPr>
            <p:txBody>
              <a:bodyPr wrap="square" rtlCol="0">
                <a:spAutoFit/>
              </a:bodyPr>
              <a:lstStyle/>
              <a:p>
                <a:r>
                  <a:rPr lang="en-US" sz="2800" dirty="0"/>
                  <a:t>Suppose you’re given a potential V(x), and the starting wave function </a:t>
                </a:r>
                <a14:m>
                  <m:oMath xmlns:m="http://schemas.openxmlformats.org/officeDocument/2006/math">
                    <m:r>
                      <m:rPr>
                        <m:sty m:val="p"/>
                      </m:rPr>
                      <a:rPr lang="el-GR" sz="2800" i="1" smtClean="0">
                        <a:latin typeface="Cambria Math" panose="02040503050406030204" pitchFamily="18" charset="0"/>
                        <a:ea typeface="Cambria Math" panose="02040503050406030204" pitchFamily="18" charset="0"/>
                      </a:rPr>
                      <m:t>Ψ</m:t>
                    </m:r>
                    <m:r>
                      <a:rPr lang="en-US" sz="2800" b="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𝑥</m:t>
                    </m:r>
                    <m:r>
                      <a:rPr lang="en-US" sz="2800" b="0" i="1" smtClean="0">
                        <a:latin typeface="Cambria Math" panose="02040503050406030204" pitchFamily="18" charset="0"/>
                        <a:ea typeface="Cambria Math" panose="02040503050406030204" pitchFamily="18" charset="0"/>
                      </a:rPr>
                      <m:t>,0)</m:t>
                    </m:r>
                  </m:oMath>
                </a14:m>
                <a:r>
                  <a:rPr lang="en-US" sz="2800" dirty="0"/>
                  <a:t> to get the actual solution of system you need to find </a:t>
                </a:r>
                <a14:m>
                  <m:oMath xmlns:m="http://schemas.openxmlformats.org/officeDocument/2006/math">
                    <m:r>
                      <m:rPr>
                        <m:sty m:val="p"/>
                      </m:rPr>
                      <a:rPr lang="el-GR" sz="2800" i="1">
                        <a:solidFill>
                          <a:prstClr val="black"/>
                        </a:solidFill>
                        <a:latin typeface="Cambria Math" panose="02040503050406030204" pitchFamily="18" charset="0"/>
                        <a:ea typeface="Cambria Math" panose="02040503050406030204" pitchFamily="18" charset="0"/>
                      </a:rPr>
                      <m:t>Ψ</m:t>
                    </m:r>
                    <m:r>
                      <a:rPr lang="en-US" sz="2800" i="1">
                        <a:solidFill>
                          <a:prstClr val="black"/>
                        </a:solidFill>
                        <a:latin typeface="Cambria Math" panose="02040503050406030204" pitchFamily="18" charset="0"/>
                        <a:ea typeface="Cambria Math" panose="02040503050406030204" pitchFamily="18" charset="0"/>
                      </a:rPr>
                      <m:t>(</m:t>
                    </m:r>
                    <m:r>
                      <a:rPr lang="en-US" sz="2800" i="1">
                        <a:solidFill>
                          <a:prstClr val="black"/>
                        </a:solidFill>
                        <a:latin typeface="Cambria Math" panose="02040503050406030204" pitchFamily="18" charset="0"/>
                        <a:ea typeface="Cambria Math" panose="02040503050406030204" pitchFamily="18" charset="0"/>
                      </a:rPr>
                      <m:t>𝑥</m:t>
                    </m:r>
                    <m:r>
                      <a:rPr lang="en-US" sz="2800" i="1">
                        <a:solidFill>
                          <a:prstClr val="black"/>
                        </a:solidFill>
                        <a:latin typeface="Cambria Math" panose="02040503050406030204" pitchFamily="18" charset="0"/>
                        <a:ea typeface="Cambria Math" panose="02040503050406030204" pitchFamily="18" charset="0"/>
                      </a:rPr>
                      <m:t>,</m:t>
                    </m:r>
                    <m:r>
                      <a:rPr lang="en-US" sz="2800" b="0" i="1" smtClean="0">
                        <a:solidFill>
                          <a:prstClr val="black"/>
                        </a:solidFill>
                        <a:latin typeface="Cambria Math" panose="02040503050406030204" pitchFamily="18" charset="0"/>
                        <a:ea typeface="Cambria Math" panose="02040503050406030204" pitchFamily="18" charset="0"/>
                      </a:rPr>
                      <m:t>𝑡</m:t>
                    </m:r>
                    <m:r>
                      <a:rPr lang="en-US" sz="2800" i="1">
                        <a:solidFill>
                          <a:prstClr val="black"/>
                        </a:solidFill>
                        <a:latin typeface="Cambria Math" panose="02040503050406030204" pitchFamily="18" charset="0"/>
                        <a:ea typeface="Cambria Math" panose="02040503050406030204" pitchFamily="18" charset="0"/>
                      </a:rPr>
                      <m:t>)</m:t>
                    </m:r>
                  </m:oMath>
                </a14:m>
                <a:r>
                  <a:rPr lang="en-US" sz="2800" dirty="0">
                    <a:solidFill>
                      <a:prstClr val="black"/>
                    </a:solidFill>
                  </a:rPr>
                  <a:t> for any subsequent time t. To do this you must need to solve the time-dependent Schrodinger equation. The strategy is </a:t>
                </a:r>
              </a:p>
              <a:p>
                <a:pPr marL="285750" indent="-285750">
                  <a:buFont typeface="Arial" panose="020B0604020202020204" pitchFamily="34" charset="0"/>
                  <a:buChar char="•"/>
                </a:pPr>
                <a:r>
                  <a:rPr lang="en-US" sz="2800" dirty="0">
                    <a:solidFill>
                      <a:prstClr val="black"/>
                    </a:solidFill>
                  </a:rPr>
                  <a:t>Solve the time-independent Schrodinger equation  (2), this give an infinite set of solutions </a:t>
                </a:r>
                <a14:m>
                  <m:oMath xmlns:m="http://schemas.openxmlformats.org/officeDocument/2006/math">
                    <m:sSub>
                      <m:sSubPr>
                        <m:ctrlPr>
                          <a:rPr lang="en-US" sz="2800" i="1" smtClean="0">
                            <a:solidFill>
                              <a:prstClr val="black"/>
                            </a:solidFill>
                            <a:latin typeface="Cambria Math" panose="02040503050406030204" pitchFamily="18" charset="0"/>
                          </a:rPr>
                        </m:ctrlPr>
                      </m:sSubPr>
                      <m:e>
                        <m:r>
                          <a:rPr lang="en-US" sz="2800" i="1" smtClean="0">
                            <a:solidFill>
                              <a:prstClr val="black"/>
                            </a:solidFill>
                            <a:latin typeface="Cambria Math" panose="02040503050406030204" pitchFamily="18" charset="0"/>
                            <a:ea typeface="Cambria Math" panose="02040503050406030204" pitchFamily="18" charset="0"/>
                          </a:rPr>
                          <m:t>𝜓</m:t>
                        </m:r>
                      </m:e>
                      <m:sub>
                        <m:r>
                          <a:rPr lang="en-US" sz="2800" b="0" i="1" smtClean="0">
                            <a:solidFill>
                              <a:prstClr val="black"/>
                            </a:solidFill>
                            <a:latin typeface="Cambria Math" panose="02040503050406030204" pitchFamily="18" charset="0"/>
                          </a:rPr>
                          <m:t>1</m:t>
                        </m:r>
                      </m:sub>
                    </m:sSub>
                    <m:d>
                      <m:dPr>
                        <m:ctrlPr>
                          <a:rPr lang="en-US" sz="2800" b="0" i="1" smtClean="0">
                            <a:solidFill>
                              <a:prstClr val="black"/>
                            </a:solidFill>
                            <a:latin typeface="Cambria Math" panose="02040503050406030204" pitchFamily="18" charset="0"/>
                          </a:rPr>
                        </m:ctrlPr>
                      </m:dPr>
                      <m:e>
                        <m:r>
                          <a:rPr lang="en-US" sz="2800" b="0" i="1" smtClean="0">
                            <a:solidFill>
                              <a:prstClr val="black"/>
                            </a:solidFill>
                            <a:latin typeface="Cambria Math" panose="02040503050406030204" pitchFamily="18" charset="0"/>
                          </a:rPr>
                          <m:t>𝑥</m:t>
                        </m:r>
                      </m:e>
                    </m:d>
                    <m:r>
                      <a:rPr lang="en-US" sz="2800" b="0" i="1" smtClean="0">
                        <a:solidFill>
                          <a:prstClr val="black"/>
                        </a:solidFill>
                        <a:latin typeface="Cambria Math" panose="02040503050406030204" pitchFamily="18" charset="0"/>
                      </a:rPr>
                      <m:t>, </m:t>
                    </m:r>
                    <m:sSub>
                      <m:sSubPr>
                        <m:ctrlPr>
                          <a:rPr lang="en-US" sz="2800" b="0" i="1" smtClean="0">
                            <a:solidFill>
                              <a:prstClr val="black"/>
                            </a:solidFill>
                            <a:latin typeface="Cambria Math" panose="02040503050406030204" pitchFamily="18" charset="0"/>
                          </a:rPr>
                        </m:ctrlPr>
                      </m:sSubPr>
                      <m:e>
                        <m:r>
                          <a:rPr lang="en-US" sz="2800" b="0" i="1" smtClean="0">
                            <a:solidFill>
                              <a:prstClr val="black"/>
                            </a:solidFill>
                            <a:latin typeface="Cambria Math" panose="02040503050406030204" pitchFamily="18" charset="0"/>
                            <a:ea typeface="Cambria Math" panose="02040503050406030204" pitchFamily="18" charset="0"/>
                          </a:rPr>
                          <m:t>𝜓</m:t>
                        </m:r>
                      </m:e>
                      <m:sub>
                        <m:r>
                          <a:rPr lang="en-US" sz="2800" b="0" i="1" smtClean="0">
                            <a:solidFill>
                              <a:prstClr val="black"/>
                            </a:solidFill>
                            <a:latin typeface="Cambria Math" panose="02040503050406030204" pitchFamily="18" charset="0"/>
                          </a:rPr>
                          <m:t>2</m:t>
                        </m:r>
                      </m:sub>
                    </m:sSub>
                    <m:d>
                      <m:dPr>
                        <m:ctrlPr>
                          <a:rPr lang="en-US" sz="2800" b="0" i="1" smtClean="0">
                            <a:solidFill>
                              <a:prstClr val="black"/>
                            </a:solidFill>
                            <a:latin typeface="Cambria Math" panose="02040503050406030204" pitchFamily="18" charset="0"/>
                          </a:rPr>
                        </m:ctrlPr>
                      </m:dPr>
                      <m:e>
                        <m:r>
                          <a:rPr lang="en-US" sz="2800" b="0" i="1" smtClean="0">
                            <a:solidFill>
                              <a:prstClr val="black"/>
                            </a:solidFill>
                            <a:latin typeface="Cambria Math" panose="02040503050406030204" pitchFamily="18" charset="0"/>
                          </a:rPr>
                          <m:t>𝑥</m:t>
                        </m:r>
                      </m:e>
                    </m:d>
                    <m:r>
                      <a:rPr lang="en-US" sz="2800" b="0" i="1" smtClean="0">
                        <a:solidFill>
                          <a:prstClr val="black"/>
                        </a:solidFill>
                        <a:latin typeface="Cambria Math" panose="02040503050406030204" pitchFamily="18" charset="0"/>
                      </a:rPr>
                      <m:t>,</m:t>
                    </m:r>
                    <m:sSub>
                      <m:sSubPr>
                        <m:ctrlPr>
                          <a:rPr lang="en-US" sz="2800" i="1">
                            <a:solidFill>
                              <a:prstClr val="black"/>
                            </a:solidFill>
                            <a:latin typeface="Cambria Math" panose="02040503050406030204" pitchFamily="18" charset="0"/>
                          </a:rPr>
                        </m:ctrlPr>
                      </m:sSubPr>
                      <m:e>
                        <m:r>
                          <a:rPr lang="en-US" sz="2800" i="1">
                            <a:solidFill>
                              <a:prstClr val="black"/>
                            </a:solidFill>
                            <a:latin typeface="Cambria Math" panose="02040503050406030204" pitchFamily="18" charset="0"/>
                            <a:ea typeface="Cambria Math" panose="02040503050406030204" pitchFamily="18" charset="0"/>
                          </a:rPr>
                          <m:t>𝜓</m:t>
                        </m:r>
                      </m:e>
                      <m:sub>
                        <m:r>
                          <a:rPr lang="en-US" sz="2800" b="0" i="1" smtClean="0">
                            <a:solidFill>
                              <a:prstClr val="black"/>
                            </a:solidFill>
                            <a:latin typeface="Cambria Math" panose="02040503050406030204" pitchFamily="18" charset="0"/>
                            <a:ea typeface="Cambria Math" panose="02040503050406030204" pitchFamily="18" charset="0"/>
                          </a:rPr>
                          <m:t>3</m:t>
                        </m:r>
                      </m:sub>
                    </m:sSub>
                    <m:d>
                      <m:dPr>
                        <m:ctrlPr>
                          <a:rPr lang="en-US" sz="2800" i="1">
                            <a:solidFill>
                              <a:prstClr val="black"/>
                            </a:solidFill>
                            <a:latin typeface="Cambria Math" panose="02040503050406030204" pitchFamily="18" charset="0"/>
                          </a:rPr>
                        </m:ctrlPr>
                      </m:dPr>
                      <m:e>
                        <m:r>
                          <a:rPr lang="en-US" sz="2800" i="1">
                            <a:solidFill>
                              <a:prstClr val="black"/>
                            </a:solidFill>
                            <a:latin typeface="Cambria Math" panose="02040503050406030204" pitchFamily="18" charset="0"/>
                          </a:rPr>
                          <m:t>𝑥</m:t>
                        </m:r>
                      </m:e>
                    </m:d>
                    <m:r>
                      <a:rPr lang="en-US" sz="2800" b="0" i="1" smtClean="0">
                        <a:solidFill>
                          <a:prstClr val="black"/>
                        </a:solidFill>
                        <a:latin typeface="Cambria Math" panose="02040503050406030204" pitchFamily="18" charset="0"/>
                      </a:rPr>
                      <m:t>,…., </m:t>
                    </m:r>
                  </m:oMath>
                </a14:m>
                <a:r>
                  <a:rPr lang="en-US" sz="2800" dirty="0"/>
                  <a:t>each with its own associated energy </a:t>
                </a:r>
                <a14:m>
                  <m:oMath xmlns:m="http://schemas.openxmlformats.org/officeDocument/2006/math">
                    <m:sSub>
                      <m:sSubPr>
                        <m:ctrlPr>
                          <a:rPr lang="en-US" sz="2800" i="1">
                            <a:solidFill>
                              <a:prstClr val="black"/>
                            </a:solidFill>
                            <a:latin typeface="Cambria Math" panose="02040503050406030204" pitchFamily="18" charset="0"/>
                          </a:rPr>
                        </m:ctrlPr>
                      </m:sSubPr>
                      <m:e>
                        <m:r>
                          <a:rPr lang="en-US" sz="2800" b="0" i="1" smtClean="0">
                            <a:solidFill>
                              <a:prstClr val="black"/>
                            </a:solidFill>
                            <a:latin typeface="Cambria Math" panose="02040503050406030204" pitchFamily="18" charset="0"/>
                          </a:rPr>
                          <m:t>𝐸</m:t>
                        </m:r>
                      </m:e>
                      <m:sub>
                        <m:r>
                          <a:rPr lang="en-US" sz="2800" i="1">
                            <a:solidFill>
                              <a:prstClr val="black"/>
                            </a:solidFill>
                            <a:latin typeface="Cambria Math" panose="02040503050406030204" pitchFamily="18" charset="0"/>
                          </a:rPr>
                          <m:t>1</m:t>
                        </m:r>
                      </m:sub>
                    </m:sSub>
                    <m:r>
                      <a:rPr lang="en-US" sz="2800" i="1">
                        <a:solidFill>
                          <a:prstClr val="black"/>
                        </a:solidFill>
                        <a:latin typeface="Cambria Math" panose="02040503050406030204" pitchFamily="18" charset="0"/>
                      </a:rPr>
                      <m:t>, </m:t>
                    </m:r>
                    <m:sSub>
                      <m:sSubPr>
                        <m:ctrlPr>
                          <a:rPr lang="en-US" sz="2800" i="1">
                            <a:solidFill>
                              <a:prstClr val="black"/>
                            </a:solidFill>
                            <a:latin typeface="Cambria Math" panose="02040503050406030204" pitchFamily="18" charset="0"/>
                          </a:rPr>
                        </m:ctrlPr>
                      </m:sSubPr>
                      <m:e>
                        <m:r>
                          <a:rPr lang="en-US" sz="2800" b="0" i="1" smtClean="0">
                            <a:solidFill>
                              <a:prstClr val="black"/>
                            </a:solidFill>
                            <a:latin typeface="Cambria Math" panose="02040503050406030204" pitchFamily="18" charset="0"/>
                          </a:rPr>
                          <m:t>𝐸</m:t>
                        </m:r>
                      </m:e>
                      <m:sub>
                        <m:r>
                          <a:rPr lang="en-US" sz="2800" i="1">
                            <a:solidFill>
                              <a:prstClr val="black"/>
                            </a:solidFill>
                            <a:latin typeface="Cambria Math" panose="02040503050406030204" pitchFamily="18" charset="0"/>
                          </a:rPr>
                          <m:t>2</m:t>
                        </m:r>
                      </m:sub>
                    </m:sSub>
                    <m:r>
                      <a:rPr lang="en-US" sz="2800" i="1">
                        <a:solidFill>
                          <a:prstClr val="black"/>
                        </a:solidFill>
                        <a:latin typeface="Cambria Math" panose="02040503050406030204" pitchFamily="18" charset="0"/>
                      </a:rPr>
                      <m:t>,</m:t>
                    </m:r>
                    <m:sSub>
                      <m:sSubPr>
                        <m:ctrlPr>
                          <a:rPr lang="en-US" sz="2800" i="1">
                            <a:solidFill>
                              <a:prstClr val="black"/>
                            </a:solidFill>
                            <a:latin typeface="Cambria Math" panose="02040503050406030204" pitchFamily="18" charset="0"/>
                          </a:rPr>
                        </m:ctrlPr>
                      </m:sSubPr>
                      <m:e>
                        <m:r>
                          <a:rPr lang="en-US" sz="2800" b="0" i="1" smtClean="0">
                            <a:solidFill>
                              <a:prstClr val="black"/>
                            </a:solidFill>
                            <a:latin typeface="Cambria Math" panose="02040503050406030204" pitchFamily="18" charset="0"/>
                          </a:rPr>
                          <m:t>𝐸</m:t>
                        </m:r>
                      </m:e>
                      <m:sub>
                        <m:r>
                          <a:rPr lang="en-US" sz="2800" i="1">
                            <a:solidFill>
                              <a:prstClr val="black"/>
                            </a:solidFill>
                            <a:latin typeface="Cambria Math" panose="02040503050406030204" pitchFamily="18" charset="0"/>
                            <a:ea typeface="Cambria Math" panose="02040503050406030204" pitchFamily="18" charset="0"/>
                          </a:rPr>
                          <m:t>3</m:t>
                        </m:r>
                      </m:sub>
                    </m:sSub>
                    <m:r>
                      <a:rPr lang="en-US" sz="2800" b="0" i="1" smtClean="0">
                        <a:solidFill>
                          <a:prstClr val="black"/>
                        </a:solidFill>
                        <a:latin typeface="Cambria Math" panose="02040503050406030204" pitchFamily="18" charset="0"/>
                        <a:ea typeface="Cambria Math" panose="02040503050406030204" pitchFamily="18" charset="0"/>
                      </a:rPr>
                      <m:t>,….</m:t>
                    </m:r>
                  </m:oMath>
                </a14:m>
                <a:r>
                  <a:rPr lang="en-US" sz="2800" dirty="0"/>
                  <a:t/>
                </a:r>
              </a:p>
              <a:p>
                <a:pPr marL="285750" indent="-285750">
                  <a:buFont typeface="Arial" panose="020B0604020202020204" pitchFamily="34" charset="0"/>
                  <a:buChar char="•"/>
                </a:pPr>
                <a:r>
                  <a:rPr lang="en-US" sz="2800" dirty="0"/>
                  <a:t>Fit </a:t>
                </a:r>
                <a14:m>
                  <m:oMath xmlns:m="http://schemas.openxmlformats.org/officeDocument/2006/math">
                    <m:r>
                      <m:rPr>
                        <m:sty m:val="p"/>
                      </m:rPr>
                      <a:rPr kumimoji="0" lang="el-GR" sz="2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Ψ</m:t>
                    </m:r>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m:t>
                    </m:r>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𝑥</m:t>
                    </m:r>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,0)</m:t>
                    </m:r>
                  </m:oMath>
                </a14:m>
                <a:r>
                  <a:rPr lang="en-US" sz="2800" dirty="0"/>
                  <a:t> by using the linear combination of the above solutions as </a:t>
                </a:r>
              </a:p>
              <a:p>
                <a:pPr marL="285750" indent="-285750">
                  <a:buFont typeface="Arial" panose="020B0604020202020204" pitchFamily="34" charset="0"/>
                  <a:buChar char="•"/>
                </a:pPr>
                <a:endParaRPr lang="en-US" sz="2800" dirty="0"/>
              </a:p>
              <a:p>
                <a:pPr marL="285750" indent="-285750">
                  <a:buFont typeface="Arial" panose="020B0604020202020204" pitchFamily="34" charset="0"/>
                  <a:buChar char="•"/>
                </a:pPr>
                <a:endParaRPr lang="en-US" sz="2800" dirty="0"/>
              </a:p>
              <a:p>
                <a:pPr marL="285750" indent="-285750">
                  <a:buFont typeface="Arial" panose="020B0604020202020204" pitchFamily="34" charset="0"/>
                  <a:buChar char="•"/>
                </a:pPr>
                <a:endParaRPr lang="en-US" sz="2800" dirty="0"/>
              </a:p>
              <a:p>
                <a:pPr marL="285750" indent="-285750">
                  <a:buFont typeface="Arial" panose="020B0604020202020204" pitchFamily="34" charset="0"/>
                  <a:buChar char="•"/>
                </a:pPr>
                <a:r>
                  <a:rPr lang="en-US" sz="2800" dirty="0"/>
                  <a:t>Write the general solution as </a:t>
                </a:r>
              </a:p>
            </p:txBody>
          </p:sp>
        </mc:Choice>
        <mc:Fallback>
          <p:sp>
            <p:nvSpPr>
              <p:cNvPr id="4" name="TextBox 3">
                <a:extLst>
                  <a:ext uri="{FF2B5EF4-FFF2-40B4-BE49-F238E27FC236}">
                    <a16:creationId xmlns:a16="http://schemas.microsoft.com/office/drawing/2014/main" xmlns="" xmlns:a14="http://schemas.microsoft.com/office/drawing/2010/main" id="{F47B275F-241C-4239-BF53-E234FCF5F7D1}"/>
                  </a:ext>
                </a:extLst>
              </p:cNvPr>
              <p:cNvSpPr txBox="1">
                <a:spLocks noRot="1" noChangeAspect="1" noMove="1" noResize="1" noEditPoints="1" noAdjustHandles="1" noChangeArrowheads="1" noChangeShapeType="1" noTextEdit="1"/>
              </p:cNvSpPr>
              <p:nvPr/>
            </p:nvSpPr>
            <p:spPr>
              <a:xfrm>
                <a:off x="352752" y="100554"/>
                <a:ext cx="11206065" cy="5262979"/>
              </a:xfrm>
              <a:prstGeom prst="rect">
                <a:avLst/>
              </a:prstGeom>
              <a:blipFill>
                <a:blip r:embed="rId2"/>
                <a:stretch>
                  <a:fillRect l="-1143" t="-1042" r="-1143" b="-2315"/>
                </a:stretch>
              </a:blipFill>
            </p:spPr>
            <p:txBody>
              <a:bodyPr/>
              <a:lstStyle/>
              <a:p>
                <a:r>
                  <a:rPr lang="en-US">
                    <a:noFill/>
                  </a:rPr>
                  <a:t> </a:t>
                </a:r>
              </a:p>
            </p:txBody>
          </p:sp>
        </mc:Fallback>
      </mc:AlternateContent>
      <p:pic>
        <p:nvPicPr>
          <p:cNvPr id="8" name="Picture 7">
            <a:extLst>
              <a:ext uri="{FF2B5EF4-FFF2-40B4-BE49-F238E27FC236}">
                <a16:creationId xmlns:a16="http://schemas.microsoft.com/office/drawing/2014/main" xmlns="" id="{A1791A34-DCF6-6105-B9CA-5875E55896F2}"/>
              </a:ext>
            </a:extLst>
          </p:cNvPr>
          <p:cNvPicPr>
            <a:picLocks noChangeAspect="1"/>
          </p:cNvPicPr>
          <p:nvPr/>
        </p:nvPicPr>
        <p:blipFill>
          <a:blip r:embed="rId3"/>
          <a:stretch>
            <a:fillRect/>
          </a:stretch>
        </p:blipFill>
        <p:spPr>
          <a:xfrm>
            <a:off x="4383303" y="3570431"/>
            <a:ext cx="3657600" cy="1228725"/>
          </a:xfrm>
          <a:prstGeom prst="rect">
            <a:avLst/>
          </a:prstGeom>
        </p:spPr>
      </p:pic>
      <p:pic>
        <p:nvPicPr>
          <p:cNvPr id="10" name="Picture 9">
            <a:extLst>
              <a:ext uri="{FF2B5EF4-FFF2-40B4-BE49-F238E27FC236}">
                <a16:creationId xmlns:a16="http://schemas.microsoft.com/office/drawing/2014/main" xmlns="" id="{9417E994-4FAA-8664-D592-061AD75C7602}"/>
              </a:ext>
            </a:extLst>
          </p:cNvPr>
          <p:cNvPicPr>
            <a:picLocks noChangeAspect="1"/>
          </p:cNvPicPr>
          <p:nvPr/>
        </p:nvPicPr>
        <p:blipFill>
          <a:blip r:embed="rId4"/>
          <a:stretch>
            <a:fillRect/>
          </a:stretch>
        </p:blipFill>
        <p:spPr>
          <a:xfrm>
            <a:off x="3331391" y="5218128"/>
            <a:ext cx="7553325" cy="1428750"/>
          </a:xfrm>
          <a:prstGeom prst="rect">
            <a:avLst/>
          </a:prstGeom>
        </p:spPr>
      </p:pic>
    </p:spTree>
    <p:extLst>
      <p:ext uri="{BB962C8B-B14F-4D97-AF65-F5344CB8AC3E}">
        <p14:creationId xmlns:p14="http://schemas.microsoft.com/office/powerpoint/2010/main" xmlns="" val="33398729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E072E8C3-D5CC-B84F-289B-F355B38AA11F}"/>
              </a:ext>
            </a:extLst>
          </p:cNvPr>
          <p:cNvSpPr txBox="1"/>
          <p:nvPr/>
        </p:nvSpPr>
        <p:spPr>
          <a:xfrm>
            <a:off x="4320466" y="0"/>
            <a:ext cx="355106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dirty="0">
                <a:ln>
                  <a:noFill/>
                </a:ln>
                <a:solidFill>
                  <a:srgbClr val="FF0000"/>
                </a:solidFill>
                <a:effectLst/>
                <a:uLnTx/>
                <a:uFillTx/>
                <a:latin typeface="Calibri" panose="020F0502020204030204"/>
                <a:ea typeface="+mn-ea"/>
                <a:cs typeface="+mn-cs"/>
              </a:rPr>
              <a:t>The Free Particle</a:t>
            </a:r>
          </a:p>
        </p:txBody>
      </p:sp>
      <p:sp>
        <p:nvSpPr>
          <p:cNvPr id="3" name="TextBox 2">
            <a:extLst>
              <a:ext uri="{FF2B5EF4-FFF2-40B4-BE49-F238E27FC236}">
                <a16:creationId xmlns:a16="http://schemas.microsoft.com/office/drawing/2014/main" xmlns="" id="{8760DD64-72AF-655C-C303-4E873ED0AEB6}"/>
              </a:ext>
            </a:extLst>
          </p:cNvPr>
          <p:cNvSpPr txBox="1"/>
          <p:nvPr/>
        </p:nvSpPr>
        <p:spPr>
          <a:xfrm>
            <a:off x="1589101" y="646331"/>
            <a:ext cx="8753383" cy="120032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If a particle moves in a force-free field that means the potential V=0,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So, the time-independent Schrodinger equation become: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xmlns="" id="{B6B08BDC-C96D-9806-AAD9-3439E1D0F671}"/>
              </a:ext>
            </a:extLst>
          </p:cNvPr>
          <p:cNvPicPr>
            <a:picLocks noChangeAspect="1"/>
          </p:cNvPicPr>
          <p:nvPr/>
        </p:nvPicPr>
        <p:blipFill>
          <a:blip r:embed="rId2"/>
          <a:stretch>
            <a:fillRect/>
          </a:stretch>
        </p:blipFill>
        <p:spPr>
          <a:xfrm>
            <a:off x="1509204" y="1401561"/>
            <a:ext cx="7706510" cy="2182859"/>
          </a:xfrm>
          <a:prstGeom prst="rect">
            <a:avLst/>
          </a:prstGeom>
        </p:spPr>
      </p:pic>
      <p:sp>
        <p:nvSpPr>
          <p:cNvPr id="6" name="TextBox 5">
            <a:extLst>
              <a:ext uri="{FF2B5EF4-FFF2-40B4-BE49-F238E27FC236}">
                <a16:creationId xmlns:a16="http://schemas.microsoft.com/office/drawing/2014/main" xmlns="" id="{D593CC7F-21CC-95E6-11BE-EDA5CDCC6295}"/>
              </a:ext>
            </a:extLst>
          </p:cNvPr>
          <p:cNvSpPr txBox="1"/>
          <p:nvPr/>
        </p:nvSpPr>
        <p:spPr>
          <a:xfrm>
            <a:off x="1100831" y="3684233"/>
            <a:ext cx="9934113"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The equation looks like the differential equation of a classical harmonic oscillator, whose solution is </a:t>
            </a:r>
          </a:p>
        </p:txBody>
      </p:sp>
      <p:pic>
        <p:nvPicPr>
          <p:cNvPr id="8" name="Picture 7">
            <a:extLst>
              <a:ext uri="{FF2B5EF4-FFF2-40B4-BE49-F238E27FC236}">
                <a16:creationId xmlns:a16="http://schemas.microsoft.com/office/drawing/2014/main" xmlns="" id="{1FD13687-4974-E38E-4982-D035F58576A0}"/>
              </a:ext>
            </a:extLst>
          </p:cNvPr>
          <p:cNvPicPr>
            <a:picLocks noChangeAspect="1"/>
          </p:cNvPicPr>
          <p:nvPr/>
        </p:nvPicPr>
        <p:blipFill>
          <a:blip r:embed="rId3"/>
          <a:stretch>
            <a:fillRect/>
          </a:stretch>
        </p:blipFill>
        <p:spPr>
          <a:xfrm>
            <a:off x="4829453" y="4034899"/>
            <a:ext cx="3158786" cy="480331"/>
          </a:xfrm>
          <a:prstGeom prst="rect">
            <a:avLst/>
          </a:prstGeom>
        </p:spPr>
      </p:pic>
      <mc:AlternateContent xmlns:mc="http://schemas.openxmlformats.org/markup-compatibility/2006">
        <mc:Choice xmlns:a14="http://schemas.microsoft.com/office/drawing/2010/main" xmlns="" Requires="a14">
          <p:sp>
            <p:nvSpPr>
              <p:cNvPr id="9" name="TextBox 8">
                <a:extLst>
                  <a:ext uri="{FF2B5EF4-FFF2-40B4-BE49-F238E27FC236}">
                    <a16:creationId xmlns:a16="http://schemas.microsoft.com/office/drawing/2014/main" id="{CE3919EE-FB1C-A100-2F5B-F305B9F6D069}"/>
                  </a:ext>
                </a:extLst>
              </p:cNvPr>
              <p:cNvSpPr txBox="1"/>
              <p:nvPr/>
            </p:nvSpPr>
            <p:spPr>
              <a:xfrm>
                <a:off x="1242874" y="4696287"/>
                <a:ext cx="9463596" cy="15696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Since there is no restriction on the movement of the particle, there is no boundary condition to impose on the motion.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So the actual wave function of the particle is </a:t>
                </a:r>
                <a14:m>
                  <m:oMath xmlns:m="http://schemas.openxmlformats.org/officeDocument/2006/math">
                    <m:r>
                      <m:rPr>
                        <m:sty m:val="p"/>
                      </m:rPr>
                      <a:rPr kumimoji="0" lang="el-GR"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Ψ</m:t>
                    </m:r>
                    <m:d>
                      <m:d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ctrlPr>
                      </m:d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𝑥</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𝑡</m:t>
                        </m:r>
                      </m:e>
                    </m:d>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𝜓</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𝑥</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𝜙</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𝑡</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oMath>
                </a14:m>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and as we have seen before </a:t>
                </a:r>
                <a14:m>
                  <m:oMath xmlns:m="http://schemas.openxmlformats.org/officeDocument/2006/math">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𝜙</m:t>
                    </m:r>
                    <m:d>
                      <m:d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dP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𝑡</m:t>
                        </m:r>
                      </m:e>
                    </m:d>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sSup>
                      <m:sSup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ctrlPr>
                      </m:sSup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𝑒</m:t>
                        </m:r>
                      </m:e>
                      <m:sup>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𝑖𝐸𝑡</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/ℏ</m:t>
                        </m:r>
                      </m:sup>
                    </m:sSup>
                  </m:oMath>
                </a14:m>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a:r>
              </a:p>
            </p:txBody>
          </p:sp>
        </mc:Choice>
        <mc:Fallback>
          <p:sp>
            <p:nvSpPr>
              <p:cNvPr id="9" name="TextBox 8">
                <a:extLst>
                  <a:ext uri="{FF2B5EF4-FFF2-40B4-BE49-F238E27FC236}">
                    <a16:creationId xmlns:a16="http://schemas.microsoft.com/office/drawing/2014/main" xmlns="" xmlns:a14="http://schemas.microsoft.com/office/drawing/2010/main" id="{CE3919EE-FB1C-A100-2F5B-F305B9F6D069}"/>
                  </a:ext>
                </a:extLst>
              </p:cNvPr>
              <p:cNvSpPr txBox="1">
                <a:spLocks noRot="1" noChangeAspect="1" noMove="1" noResize="1" noEditPoints="1" noAdjustHandles="1" noChangeArrowheads="1" noChangeShapeType="1" noTextEdit="1"/>
              </p:cNvSpPr>
              <p:nvPr/>
            </p:nvSpPr>
            <p:spPr>
              <a:xfrm>
                <a:off x="1242874" y="4696287"/>
                <a:ext cx="9463596" cy="1569660"/>
              </a:xfrm>
              <a:prstGeom prst="rect">
                <a:avLst/>
              </a:prstGeom>
              <a:blipFill>
                <a:blip r:embed="rId4"/>
                <a:stretch>
                  <a:fillRect l="-1031" t="-3101" b="-8527"/>
                </a:stretch>
              </a:blipFill>
            </p:spPr>
            <p:txBody>
              <a:bodyPr/>
              <a:lstStyle/>
              <a:p>
                <a:r>
                  <a:rPr lang="en-US">
                    <a:noFill/>
                  </a:rPr>
                  <a:t> </a:t>
                </a:r>
              </a:p>
            </p:txBody>
          </p:sp>
        </mc:Fallback>
      </mc:AlternateContent>
      <p:pic>
        <p:nvPicPr>
          <p:cNvPr id="11" name="Picture 10">
            <a:extLst>
              <a:ext uri="{FF2B5EF4-FFF2-40B4-BE49-F238E27FC236}">
                <a16:creationId xmlns:a16="http://schemas.microsoft.com/office/drawing/2014/main" xmlns="" id="{00914B22-98EF-6B7F-BFA3-1F577D42B92C}"/>
              </a:ext>
            </a:extLst>
          </p:cNvPr>
          <p:cNvPicPr>
            <a:picLocks noChangeAspect="1"/>
          </p:cNvPicPr>
          <p:nvPr/>
        </p:nvPicPr>
        <p:blipFill>
          <a:blip r:embed="rId5"/>
          <a:stretch>
            <a:fillRect/>
          </a:stretch>
        </p:blipFill>
        <p:spPr>
          <a:xfrm>
            <a:off x="5885896" y="6081419"/>
            <a:ext cx="5552242" cy="542767"/>
          </a:xfrm>
          <a:prstGeom prst="rect">
            <a:avLst/>
          </a:prstGeom>
        </p:spPr>
      </p:pic>
    </p:spTree>
    <p:extLst>
      <p:ext uri="{BB962C8B-B14F-4D97-AF65-F5344CB8AC3E}">
        <p14:creationId xmlns:p14="http://schemas.microsoft.com/office/powerpoint/2010/main" xmlns="" val="17609678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xmlns="" id="{69B0C80A-27FD-4CCB-8473-4FFBFCBE3D97}"/>
              </a:ext>
            </a:extLst>
          </p:cNvPr>
          <p:cNvPicPr>
            <a:picLocks noChangeAspect="1"/>
          </p:cNvPicPr>
          <p:nvPr/>
        </p:nvPicPr>
        <p:blipFill>
          <a:blip r:embed="rId2"/>
          <a:stretch>
            <a:fillRect/>
          </a:stretch>
        </p:blipFill>
        <p:spPr>
          <a:xfrm>
            <a:off x="3446366" y="133166"/>
            <a:ext cx="5547841" cy="542591"/>
          </a:xfrm>
          <a:prstGeom prst="rect">
            <a:avLst/>
          </a:prstGeom>
        </p:spPr>
      </p:pic>
      <p:sp>
        <p:nvSpPr>
          <p:cNvPr id="3" name="TextBox 2">
            <a:extLst>
              <a:ext uri="{FF2B5EF4-FFF2-40B4-BE49-F238E27FC236}">
                <a16:creationId xmlns:a16="http://schemas.microsoft.com/office/drawing/2014/main" xmlns="" id="{F1678587-305C-3FB8-97BA-452D45DD1293}"/>
              </a:ext>
            </a:extLst>
          </p:cNvPr>
          <p:cNvSpPr txBox="1"/>
          <p:nvPr/>
        </p:nvSpPr>
        <p:spPr>
          <a:xfrm>
            <a:off x="1553592" y="887767"/>
            <a:ext cx="987196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Since the exponent differs only in sign, so one can write </a:t>
            </a:r>
          </a:p>
        </p:txBody>
      </p:sp>
      <p:pic>
        <p:nvPicPr>
          <p:cNvPr id="5" name="Picture 4">
            <a:extLst>
              <a:ext uri="{FF2B5EF4-FFF2-40B4-BE49-F238E27FC236}">
                <a16:creationId xmlns:a16="http://schemas.microsoft.com/office/drawing/2014/main" xmlns="" id="{18EF7053-432C-47F2-DF08-814D6422EB6A}"/>
              </a:ext>
            </a:extLst>
          </p:cNvPr>
          <p:cNvPicPr>
            <a:picLocks noChangeAspect="1"/>
          </p:cNvPicPr>
          <p:nvPr/>
        </p:nvPicPr>
        <p:blipFill>
          <a:blip r:embed="rId3"/>
          <a:stretch>
            <a:fillRect/>
          </a:stretch>
        </p:blipFill>
        <p:spPr>
          <a:xfrm>
            <a:off x="5619010" y="1276581"/>
            <a:ext cx="3848100" cy="771525"/>
          </a:xfrm>
          <a:prstGeom prst="rect">
            <a:avLst/>
          </a:prstGeom>
        </p:spPr>
      </p:pic>
      <p:pic>
        <p:nvPicPr>
          <p:cNvPr id="7" name="Picture 6">
            <a:extLst>
              <a:ext uri="{FF2B5EF4-FFF2-40B4-BE49-F238E27FC236}">
                <a16:creationId xmlns:a16="http://schemas.microsoft.com/office/drawing/2014/main" xmlns="" id="{1A576478-D753-E846-417F-A5081184268E}"/>
              </a:ext>
            </a:extLst>
          </p:cNvPr>
          <p:cNvPicPr>
            <a:picLocks noChangeAspect="1"/>
          </p:cNvPicPr>
          <p:nvPr/>
        </p:nvPicPr>
        <p:blipFill>
          <a:blip r:embed="rId4"/>
          <a:stretch>
            <a:fillRect/>
          </a:stretch>
        </p:blipFill>
        <p:spPr>
          <a:xfrm>
            <a:off x="1855433" y="2324054"/>
            <a:ext cx="9186307" cy="1537760"/>
          </a:xfrm>
          <a:prstGeom prst="rect">
            <a:avLst/>
          </a:prstGeom>
        </p:spPr>
      </p:pic>
      <mc:AlternateContent xmlns:mc="http://schemas.openxmlformats.org/markup-compatibility/2006">
        <mc:Choice xmlns:a14="http://schemas.microsoft.com/office/drawing/2010/main" xmlns="" Requires="a14">
          <p:sp>
            <p:nvSpPr>
              <p:cNvPr id="8" name="TextBox 7">
                <a:extLst>
                  <a:ext uri="{FF2B5EF4-FFF2-40B4-BE49-F238E27FC236}">
                    <a16:creationId xmlns:a16="http://schemas.microsoft.com/office/drawing/2014/main" id="{0BE880FF-1527-E526-C1E5-E2296664CE28}"/>
                  </a:ext>
                </a:extLst>
              </p:cNvPr>
              <p:cNvSpPr txBox="1"/>
              <p:nvPr/>
            </p:nvSpPr>
            <p:spPr>
              <a:xfrm>
                <a:off x="1118586" y="4225771"/>
                <a:ext cx="10608816" cy="6166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So, the solution of free particle is a propagating wave with the wavelength </a:t>
                </a:r>
                <a14:m>
                  <m:oMath xmlns:m="http://schemas.openxmlformats.org/officeDocument/2006/math">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𝜆</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f>
                      <m:f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ctrlPr>
                      </m:fPr>
                      <m:num>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2</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𝜋</m:t>
                        </m:r>
                      </m:num>
                      <m:den>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𝑘</m:t>
                        </m:r>
                      </m:den>
                    </m:f>
                  </m:oMath>
                </a14:m>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p:sp>
            <p:nvSpPr>
              <p:cNvPr id="8" name="TextBox 7">
                <a:extLst>
                  <a:ext uri="{FF2B5EF4-FFF2-40B4-BE49-F238E27FC236}">
                    <a16:creationId xmlns:a16="http://schemas.microsoft.com/office/drawing/2014/main" xmlns="" xmlns:a14="http://schemas.microsoft.com/office/drawing/2010/main" id="{0BE880FF-1527-E526-C1E5-E2296664CE28}"/>
                  </a:ext>
                </a:extLst>
              </p:cNvPr>
              <p:cNvSpPr txBox="1">
                <a:spLocks noRot="1" noChangeAspect="1" noMove="1" noResize="1" noEditPoints="1" noAdjustHandles="1" noChangeArrowheads="1" noChangeShapeType="1" noTextEdit="1"/>
              </p:cNvSpPr>
              <p:nvPr/>
            </p:nvSpPr>
            <p:spPr>
              <a:xfrm>
                <a:off x="1118586" y="4225771"/>
                <a:ext cx="10608816" cy="616644"/>
              </a:xfrm>
              <a:prstGeom prst="rect">
                <a:avLst/>
              </a:prstGeom>
              <a:blipFill>
                <a:blip r:embed="rId5"/>
                <a:stretch>
                  <a:fillRect l="-862" b="-9901"/>
                </a:stretch>
              </a:blipFill>
            </p:spPr>
            <p:txBody>
              <a:bodyPr/>
              <a:lstStyle/>
              <a:p>
                <a:r>
                  <a:rPr lang="en-US">
                    <a:noFill/>
                  </a:rPr>
                  <a:t> </a:t>
                </a:r>
              </a:p>
            </p:txBody>
          </p:sp>
        </mc:Fallback>
      </mc:AlternateContent>
      <p:grpSp>
        <p:nvGrpSpPr>
          <p:cNvPr id="12" name="Group 11">
            <a:extLst>
              <a:ext uri="{FF2B5EF4-FFF2-40B4-BE49-F238E27FC236}">
                <a16:creationId xmlns:a16="http://schemas.microsoft.com/office/drawing/2014/main" xmlns="" id="{BEAC3F13-CA7A-D6E4-34DB-2E607D6FAC2D}"/>
              </a:ext>
            </a:extLst>
          </p:cNvPr>
          <p:cNvGrpSpPr/>
          <p:nvPr/>
        </p:nvGrpSpPr>
        <p:grpSpPr>
          <a:xfrm>
            <a:off x="1402672" y="5070545"/>
            <a:ext cx="9907479" cy="461665"/>
            <a:chOff x="1402672" y="5070545"/>
            <a:chExt cx="9907479" cy="461665"/>
          </a:xfrm>
        </p:grpSpPr>
        <p:sp>
          <p:nvSpPr>
            <p:cNvPr id="9" name="TextBox 8">
              <a:extLst>
                <a:ext uri="{FF2B5EF4-FFF2-40B4-BE49-F238E27FC236}">
                  <a16:creationId xmlns:a16="http://schemas.microsoft.com/office/drawing/2014/main" xmlns="" id="{9B4C69A2-73A7-02B0-FC45-4F4A2EE0BED4}"/>
                </a:ext>
              </a:extLst>
            </p:cNvPr>
            <p:cNvSpPr txBox="1"/>
            <p:nvPr/>
          </p:nvSpPr>
          <p:spPr>
            <a:xfrm>
              <a:off x="1402672" y="5070545"/>
              <a:ext cx="990747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According to the de-Broglie the momentum of the particle is </a:t>
              </a:r>
            </a:p>
          </p:txBody>
        </p:sp>
        <p:pic>
          <p:nvPicPr>
            <p:cNvPr id="11" name="Picture 10">
              <a:extLst>
                <a:ext uri="{FF2B5EF4-FFF2-40B4-BE49-F238E27FC236}">
                  <a16:creationId xmlns:a16="http://schemas.microsoft.com/office/drawing/2014/main" xmlns="" id="{133AA2E3-CB0A-AF92-E2F8-44885BBD1F59}"/>
                </a:ext>
              </a:extLst>
            </p:cNvPr>
            <p:cNvPicPr>
              <a:picLocks noChangeAspect="1"/>
            </p:cNvPicPr>
            <p:nvPr/>
          </p:nvPicPr>
          <p:blipFill>
            <a:blip r:embed="rId6"/>
            <a:stretch>
              <a:fillRect/>
            </a:stretch>
          </p:blipFill>
          <p:spPr>
            <a:xfrm>
              <a:off x="8994207" y="5115643"/>
              <a:ext cx="1130550" cy="371467"/>
            </a:xfrm>
            <a:prstGeom prst="rect">
              <a:avLst/>
            </a:prstGeom>
          </p:spPr>
        </p:pic>
      </p:grpSp>
      <p:grpSp>
        <p:nvGrpSpPr>
          <p:cNvPr id="16" name="Group 15">
            <a:extLst>
              <a:ext uri="{FF2B5EF4-FFF2-40B4-BE49-F238E27FC236}">
                <a16:creationId xmlns:a16="http://schemas.microsoft.com/office/drawing/2014/main" xmlns="" id="{6B654F36-DF06-05A4-2790-9B4EF6692865}"/>
              </a:ext>
            </a:extLst>
          </p:cNvPr>
          <p:cNvGrpSpPr/>
          <p:nvPr/>
        </p:nvGrpSpPr>
        <p:grpSpPr>
          <a:xfrm>
            <a:off x="1353844" y="5679074"/>
            <a:ext cx="10271464" cy="922594"/>
            <a:chOff x="878889" y="5581419"/>
            <a:chExt cx="10271464" cy="922594"/>
          </a:xfrm>
        </p:grpSpPr>
        <p:sp>
          <p:nvSpPr>
            <p:cNvPr id="13" name="TextBox 12">
              <a:extLst>
                <a:ext uri="{FF2B5EF4-FFF2-40B4-BE49-F238E27FC236}">
                  <a16:creationId xmlns:a16="http://schemas.microsoft.com/office/drawing/2014/main" xmlns="" id="{9B04E86D-D894-5520-C114-90C5AFDCC901}"/>
                </a:ext>
              </a:extLst>
            </p:cNvPr>
            <p:cNvSpPr txBox="1"/>
            <p:nvPr/>
          </p:nvSpPr>
          <p:spPr>
            <a:xfrm>
              <a:off x="878889" y="5948039"/>
              <a:ext cx="1027146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So, the speed of the wave is </a:t>
              </a:r>
            </a:p>
          </p:txBody>
        </p:sp>
        <p:pic>
          <p:nvPicPr>
            <p:cNvPr id="15" name="Picture 14">
              <a:extLst>
                <a:ext uri="{FF2B5EF4-FFF2-40B4-BE49-F238E27FC236}">
                  <a16:creationId xmlns:a16="http://schemas.microsoft.com/office/drawing/2014/main" xmlns="" id="{E8589AAC-28CE-C977-5B61-91EFB7F39467}"/>
                </a:ext>
              </a:extLst>
            </p:cNvPr>
            <p:cNvPicPr>
              <a:picLocks noChangeAspect="1"/>
            </p:cNvPicPr>
            <p:nvPr/>
          </p:nvPicPr>
          <p:blipFill>
            <a:blip r:embed="rId7"/>
            <a:stretch>
              <a:fillRect/>
            </a:stretch>
          </p:blipFill>
          <p:spPr>
            <a:xfrm>
              <a:off x="4593816" y="5581419"/>
              <a:ext cx="3252939" cy="922594"/>
            </a:xfrm>
            <a:prstGeom prst="rect">
              <a:avLst/>
            </a:prstGeom>
          </p:spPr>
        </p:pic>
      </p:grpSp>
    </p:spTree>
    <p:extLst>
      <p:ext uri="{BB962C8B-B14F-4D97-AF65-F5344CB8AC3E}">
        <p14:creationId xmlns:p14="http://schemas.microsoft.com/office/powerpoint/2010/main" xmlns="" val="24204316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xmlns="" Requires="a14">
          <p:sp>
            <p:nvSpPr>
              <p:cNvPr id="4" name="TextBox 3">
                <a:extLst>
                  <a:ext uri="{FF2B5EF4-FFF2-40B4-BE49-F238E27FC236}">
                    <a16:creationId xmlns:a16="http://schemas.microsoft.com/office/drawing/2014/main" id="{C4AB66C3-D2C2-C4DF-5EC9-30CC0F9C9DBA}"/>
                  </a:ext>
                </a:extLst>
              </p:cNvPr>
              <p:cNvSpPr txBox="1"/>
              <p:nvPr/>
            </p:nvSpPr>
            <p:spPr>
              <a:xfrm>
                <a:off x="390330" y="55984"/>
                <a:ext cx="11411339" cy="229152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The classical speed of a free particle with energy E is given by </a:t>
                </a:r>
                <a:endParaRPr kumimoji="0" lang="en-US" sz="24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𝐸</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f>
                        <m:f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fPr>
                        <m:num>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num>
                        <m:den>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den>
                      </m:f>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𝑚</m:t>
                      </m:r>
                      <m:sSup>
                        <m:sSup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p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𝑣</m:t>
                          </m:r>
                        </m:e>
                        <m:sup>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sup>
                      </m:sSup>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sSub>
                        <m:sSub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𝑣</m:t>
                          </m:r>
                        </m:e>
                        <m: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𝑐𝑙𝑎𝑠𝑠𝑖𝑐𝑎𝑙</m:t>
                          </m:r>
                        </m:sub>
                      </m:s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ad>
                        <m:radPr>
                          <m:degHide m:val="on"/>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ctrlPr>
                        </m:radPr>
                        <m:deg/>
                        <m:e>
                          <m:f>
                            <m:f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ctrlPr>
                            </m:fPr>
                            <m:num>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2</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𝐸</m:t>
                              </m:r>
                            </m:num>
                            <m:den>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𝑚</m:t>
                              </m:r>
                            </m:den>
                          </m:f>
                        </m:e>
                      </m:rad>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=2</m:t>
                      </m:r>
                      <m:sSub>
                        <m:sSub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𝑣</m:t>
                          </m:r>
                        </m:e>
                        <m: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𝑞𝑢𝑎𝑛𝑡𝑢𝑚</m:t>
                          </m:r>
                        </m:sub>
                      </m:sSub>
                    </m:oMath>
                  </m:oMathPara>
                </a14:m>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This is not reasonable!!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There is another issue, the normalization of the wave function is </a:t>
                </a:r>
              </a:p>
            </p:txBody>
          </p:sp>
        </mc:Choice>
        <mc:Fallback>
          <p:sp>
            <p:nvSpPr>
              <p:cNvPr id="4" name="TextBox 3">
                <a:extLst>
                  <a:ext uri="{FF2B5EF4-FFF2-40B4-BE49-F238E27FC236}">
                    <a16:creationId xmlns:a16="http://schemas.microsoft.com/office/drawing/2014/main" xmlns="" xmlns:a14="http://schemas.microsoft.com/office/drawing/2010/main" id="{C4AB66C3-D2C2-C4DF-5EC9-30CC0F9C9DBA}"/>
                  </a:ext>
                </a:extLst>
              </p:cNvPr>
              <p:cNvSpPr txBox="1">
                <a:spLocks noRot="1" noChangeAspect="1" noMove="1" noResize="1" noEditPoints="1" noAdjustHandles="1" noChangeArrowheads="1" noChangeShapeType="1" noTextEdit="1"/>
              </p:cNvSpPr>
              <p:nvPr/>
            </p:nvSpPr>
            <p:spPr>
              <a:xfrm>
                <a:off x="390330" y="55984"/>
                <a:ext cx="11411339" cy="2291525"/>
              </a:xfrm>
              <a:prstGeom prst="rect">
                <a:avLst/>
              </a:prstGeom>
              <a:blipFill>
                <a:blip r:embed="rId2"/>
                <a:stretch>
                  <a:fillRect l="-801" t="-2128" b="-5053"/>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xmlns="" id="{D1BBB13D-11ED-C6CC-B3FA-19B7202A0C62}"/>
              </a:ext>
            </a:extLst>
          </p:cNvPr>
          <p:cNvPicPr>
            <a:picLocks noChangeAspect="1"/>
          </p:cNvPicPr>
          <p:nvPr/>
        </p:nvPicPr>
        <p:blipFill>
          <a:blip r:embed="rId3"/>
          <a:stretch>
            <a:fillRect/>
          </a:stretch>
        </p:blipFill>
        <p:spPr>
          <a:xfrm>
            <a:off x="3186227" y="2479199"/>
            <a:ext cx="5819543" cy="949801"/>
          </a:xfrm>
          <a:prstGeom prst="rect">
            <a:avLst/>
          </a:prstGeom>
        </p:spPr>
      </p:pic>
      <p:sp>
        <p:nvSpPr>
          <p:cNvPr id="7" name="TextBox 6">
            <a:extLst>
              <a:ext uri="{FF2B5EF4-FFF2-40B4-BE49-F238E27FC236}">
                <a16:creationId xmlns:a16="http://schemas.microsoft.com/office/drawing/2014/main" xmlns="" id="{5B4C8E40-DB1B-DAC6-05A3-1E164371C04D}"/>
              </a:ext>
            </a:extLst>
          </p:cNvPr>
          <p:cNvSpPr txBox="1"/>
          <p:nvPr/>
        </p:nvSpPr>
        <p:spPr>
          <a:xfrm>
            <a:off x="3480047" y="3560690"/>
            <a:ext cx="373749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So, it is not normalized!!</a:t>
            </a:r>
          </a:p>
        </p:txBody>
      </p:sp>
      <p:sp>
        <p:nvSpPr>
          <p:cNvPr id="8" name="TextBox 7">
            <a:extLst>
              <a:ext uri="{FF2B5EF4-FFF2-40B4-BE49-F238E27FC236}">
                <a16:creationId xmlns:a16="http://schemas.microsoft.com/office/drawing/2014/main" xmlns="" id="{FCCABAFE-7ED3-B47F-8CC2-21E517167A29}"/>
              </a:ext>
            </a:extLst>
          </p:cNvPr>
          <p:cNvSpPr txBox="1"/>
          <p:nvPr/>
        </p:nvSpPr>
        <p:spPr>
          <a:xfrm>
            <a:off x="727969" y="4429957"/>
            <a:ext cx="9712171"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The actual solution of the Schrodinger equation should be a linear combination of continuous variable k, so this can be consider as</a:t>
            </a:r>
          </a:p>
        </p:txBody>
      </p:sp>
      <p:pic>
        <p:nvPicPr>
          <p:cNvPr id="10" name="Picture 9">
            <a:extLst>
              <a:ext uri="{FF2B5EF4-FFF2-40B4-BE49-F238E27FC236}">
                <a16:creationId xmlns:a16="http://schemas.microsoft.com/office/drawing/2014/main" xmlns="" id="{8CF27E9A-7251-9CCE-0337-5C243D4063F8}"/>
              </a:ext>
            </a:extLst>
          </p:cNvPr>
          <p:cNvPicPr>
            <a:picLocks noChangeAspect="1"/>
          </p:cNvPicPr>
          <p:nvPr/>
        </p:nvPicPr>
        <p:blipFill>
          <a:blip r:embed="rId4"/>
          <a:stretch>
            <a:fillRect/>
          </a:stretch>
        </p:blipFill>
        <p:spPr>
          <a:xfrm>
            <a:off x="3480047" y="5230046"/>
            <a:ext cx="5710468" cy="1042118"/>
          </a:xfrm>
          <a:prstGeom prst="rect">
            <a:avLst/>
          </a:prstGeom>
        </p:spPr>
      </p:pic>
    </p:spTree>
    <p:extLst>
      <p:ext uri="{BB962C8B-B14F-4D97-AF65-F5344CB8AC3E}">
        <p14:creationId xmlns:p14="http://schemas.microsoft.com/office/powerpoint/2010/main" xmlns="" val="13832743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xmlns="" Requires="a14">
          <p:sp>
            <p:nvSpPr>
              <p:cNvPr id="2" name="TextBox 1">
                <a:extLst>
                  <a:ext uri="{FF2B5EF4-FFF2-40B4-BE49-F238E27FC236}">
                    <a16:creationId xmlns:a16="http://schemas.microsoft.com/office/drawing/2014/main" id="{F8299017-CB10-4AAA-A9B9-97FB2D4B1384}"/>
                  </a:ext>
                </a:extLst>
              </p:cNvPr>
              <p:cNvSpPr txBox="1"/>
              <p:nvPr/>
            </p:nvSpPr>
            <p:spPr>
              <a:xfrm>
                <a:off x="1189608" y="506027"/>
                <a:ext cx="9907479"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The factor </a:t>
                </a:r>
                <a14:m>
                  <m:oMath xmlns:m="http://schemas.openxmlformats.org/officeDocument/2006/math">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𝜙</m:t>
                    </m:r>
                    <m:d>
                      <m:d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ctrlPr>
                      </m:d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𝑘</m:t>
                        </m:r>
                      </m:e>
                    </m:d>
                  </m:oMath>
                </a14:m>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can be calculated by the following Fourier transformation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p:sp>
            <p:nvSpPr>
              <p:cNvPr id="2" name="TextBox 1">
                <a:extLst>
                  <a:ext uri="{FF2B5EF4-FFF2-40B4-BE49-F238E27FC236}">
                    <a16:creationId xmlns:a16="http://schemas.microsoft.com/office/drawing/2014/main" xmlns="" xmlns:a14="http://schemas.microsoft.com/office/drawing/2010/main" id="{F8299017-CB10-4AAA-A9B9-97FB2D4B1384}"/>
                  </a:ext>
                </a:extLst>
              </p:cNvPr>
              <p:cNvSpPr txBox="1">
                <a:spLocks noRot="1" noChangeAspect="1" noMove="1" noResize="1" noEditPoints="1" noAdjustHandles="1" noChangeArrowheads="1" noChangeShapeType="1" noTextEdit="1"/>
              </p:cNvSpPr>
              <p:nvPr/>
            </p:nvSpPr>
            <p:spPr>
              <a:xfrm>
                <a:off x="1189608" y="506027"/>
                <a:ext cx="9907479" cy="830997"/>
              </a:xfrm>
              <a:prstGeom prst="rect">
                <a:avLst/>
              </a:prstGeom>
              <a:blipFill>
                <a:blip r:embed="rId2"/>
                <a:stretch>
                  <a:fillRect l="-923" t="-5882"/>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xmlns="" id="{6F2637D6-4849-A07A-23A6-559D0524A64C}"/>
              </a:ext>
            </a:extLst>
          </p:cNvPr>
          <p:cNvPicPr>
            <a:picLocks noChangeAspect="1"/>
          </p:cNvPicPr>
          <p:nvPr/>
        </p:nvPicPr>
        <p:blipFill>
          <a:blip r:embed="rId3"/>
          <a:stretch>
            <a:fillRect/>
          </a:stretch>
        </p:blipFill>
        <p:spPr>
          <a:xfrm>
            <a:off x="2814221" y="953795"/>
            <a:ext cx="4648477" cy="1019267"/>
          </a:xfrm>
          <a:prstGeom prst="rect">
            <a:avLst/>
          </a:prstGeom>
        </p:spPr>
      </p:pic>
      <mc:AlternateContent xmlns:mc="http://schemas.openxmlformats.org/markup-compatibility/2006">
        <mc:Choice xmlns:a14="http://schemas.microsoft.com/office/drawing/2010/main" xmlns="" Requires="a14">
          <p:sp>
            <p:nvSpPr>
              <p:cNvPr id="5" name="TextBox 4">
                <a:extLst>
                  <a:ext uri="{FF2B5EF4-FFF2-40B4-BE49-F238E27FC236}">
                    <a16:creationId xmlns:a16="http://schemas.microsoft.com/office/drawing/2014/main" id="{90027A5B-CA44-D5B0-90D9-3EB7ABA426FF}"/>
                  </a:ext>
                </a:extLst>
              </p:cNvPr>
              <p:cNvSpPr txBox="1"/>
              <p:nvPr/>
            </p:nvSpPr>
            <p:spPr>
              <a:xfrm>
                <a:off x="1376039" y="2299317"/>
                <a:ext cx="7981025" cy="193899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The trick is:</a:t>
                </a: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You are given an initial wave function </a:t>
                </a:r>
                <a14:m>
                  <m:oMath xmlns:m="http://schemas.openxmlformats.org/officeDocument/2006/math">
                    <m:r>
                      <m:rPr>
                        <m:sty m:val="p"/>
                      </m:rPr>
                      <a:rPr kumimoji="0" lang="el-GR"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Ψ</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𝑥</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,0)</m:t>
                    </m:r>
                  </m:oMath>
                </a14:m>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You calculate </a:t>
                </a:r>
                <a14:m>
                  <m:oMath xmlns:m="http://schemas.openxmlformats.org/officeDocument/2006/math">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𝜙</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𝑘</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oMath>
                </a14:m>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by the above relation</a:t>
                </a: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By using </a:t>
                </a:r>
                <a14:m>
                  <m:oMath xmlns:m="http://schemas.openxmlformats.org/officeDocument/2006/math">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𝜙</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𝑘</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oMath>
                </a14:m>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you calculate </a:t>
                </a:r>
                <a14:m>
                  <m:oMath xmlns:m="http://schemas.openxmlformats.org/officeDocument/2006/math">
                    <m:r>
                      <m:rPr>
                        <m:sty m:val="p"/>
                      </m:rPr>
                      <a:rPr kumimoji="0" lang="el-GR"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Ψ</m:t>
                    </m:r>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𝑥</m:t>
                    </m:r>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𝑡</m:t>
                    </m:r>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oMath>
                </a14:m>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by the relation</a:t>
                </a: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p:sp>
            <p:nvSpPr>
              <p:cNvPr id="5" name="TextBox 4">
                <a:extLst>
                  <a:ext uri="{FF2B5EF4-FFF2-40B4-BE49-F238E27FC236}">
                    <a16:creationId xmlns:a16="http://schemas.microsoft.com/office/drawing/2014/main" xmlns="" xmlns:a14="http://schemas.microsoft.com/office/drawing/2010/main" id="{90027A5B-CA44-D5B0-90D9-3EB7ABA426FF}"/>
                  </a:ext>
                </a:extLst>
              </p:cNvPr>
              <p:cNvSpPr txBox="1">
                <a:spLocks noRot="1" noChangeAspect="1" noMove="1" noResize="1" noEditPoints="1" noAdjustHandles="1" noChangeArrowheads="1" noChangeShapeType="1" noTextEdit="1"/>
              </p:cNvSpPr>
              <p:nvPr/>
            </p:nvSpPr>
            <p:spPr>
              <a:xfrm>
                <a:off x="1376039" y="2299317"/>
                <a:ext cx="7981025" cy="1938992"/>
              </a:xfrm>
              <a:prstGeom prst="rect">
                <a:avLst/>
              </a:prstGeom>
              <a:blipFill>
                <a:blip r:embed="rId4"/>
                <a:stretch>
                  <a:fillRect l="-1222" t="-2516"/>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xmlns="" id="{1E214936-BD5B-066B-4905-2A87FFEF7054}"/>
              </a:ext>
            </a:extLst>
          </p:cNvPr>
          <p:cNvPicPr>
            <a:picLocks noChangeAspect="1"/>
          </p:cNvPicPr>
          <p:nvPr/>
        </p:nvPicPr>
        <p:blipFill>
          <a:blip r:embed="rId5"/>
          <a:stretch>
            <a:fillRect/>
          </a:stretch>
        </p:blipFill>
        <p:spPr>
          <a:xfrm>
            <a:off x="4305670" y="3922193"/>
            <a:ext cx="5507687" cy="1005138"/>
          </a:xfrm>
          <a:prstGeom prst="rect">
            <a:avLst/>
          </a:prstGeom>
        </p:spPr>
      </p:pic>
    </p:spTree>
    <p:extLst>
      <p:ext uri="{BB962C8B-B14F-4D97-AF65-F5344CB8AC3E}">
        <p14:creationId xmlns:p14="http://schemas.microsoft.com/office/powerpoint/2010/main" xmlns="" val="42946481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xmlns="" Requires="a14">
          <p:sp>
            <p:nvSpPr>
              <p:cNvPr id="2" name="TextBox 1">
                <a:extLst>
                  <a:ext uri="{FF2B5EF4-FFF2-40B4-BE49-F238E27FC236}">
                    <a16:creationId xmlns:a16="http://schemas.microsoft.com/office/drawing/2014/main" id="{E550BCE2-C58C-62FA-CF7C-1F15E16F82DC}"/>
                  </a:ext>
                </a:extLst>
              </p:cNvPr>
              <p:cNvSpPr txBox="1"/>
              <p:nvPr/>
            </p:nvSpPr>
            <p:spPr>
              <a:xfrm>
                <a:off x="1198484" y="337351"/>
                <a:ext cx="10691675" cy="3416320"/>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Why did we get the wrong speed of the wave?</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A wave packet is a superposition of sinusoidal functions whose amplitude is modulated by </a:t>
                </a:r>
                <a14:m>
                  <m:oMath xmlns:m="http://schemas.openxmlformats.org/officeDocument/2006/math">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𝜙</m:t>
                    </m:r>
                  </m:oMath>
                </a14:m>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it consists of ripples within an envelope. The velocity of the ripple is called the phase velocity. And the particle velocity is not the velocity of the ripple it is the velocity of the envelope, called the group velocity. The group velocity can be equal to, less than, or greater than the phase velocity depending on the nature of the medium.</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p:sp>
            <p:nvSpPr>
              <p:cNvPr id="2" name="TextBox 1">
                <a:extLst>
                  <a:ext uri="{FF2B5EF4-FFF2-40B4-BE49-F238E27FC236}">
                    <a16:creationId xmlns:a16="http://schemas.microsoft.com/office/drawing/2014/main" xmlns="" xmlns:a14="http://schemas.microsoft.com/office/drawing/2010/main" id="{E550BCE2-C58C-62FA-CF7C-1F15E16F82DC}"/>
                  </a:ext>
                </a:extLst>
              </p:cNvPr>
              <p:cNvSpPr txBox="1">
                <a:spLocks noRot="1" noChangeAspect="1" noMove="1" noResize="1" noEditPoints="1" noAdjustHandles="1" noChangeArrowheads="1" noChangeShapeType="1" noTextEdit="1"/>
              </p:cNvSpPr>
              <p:nvPr/>
            </p:nvSpPr>
            <p:spPr>
              <a:xfrm>
                <a:off x="1198484" y="337351"/>
                <a:ext cx="10691675" cy="3416320"/>
              </a:xfrm>
              <a:prstGeom prst="rect">
                <a:avLst/>
              </a:prstGeom>
              <a:blipFill>
                <a:blip r:embed="rId2"/>
                <a:stretch>
                  <a:fillRect l="-913" t="-1426" r="-913"/>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xmlns="" id="{2ABEDD18-CBC8-56B6-456D-8983E0AFC8E9}"/>
              </a:ext>
            </a:extLst>
          </p:cNvPr>
          <p:cNvPicPr>
            <a:picLocks noChangeAspect="1"/>
          </p:cNvPicPr>
          <p:nvPr/>
        </p:nvPicPr>
        <p:blipFill>
          <a:blip r:embed="rId3"/>
          <a:stretch>
            <a:fillRect/>
          </a:stretch>
        </p:blipFill>
        <p:spPr>
          <a:xfrm>
            <a:off x="8287952" y="2977668"/>
            <a:ext cx="3602207" cy="2764070"/>
          </a:xfrm>
          <a:prstGeom prst="rect">
            <a:avLst/>
          </a:prstGeom>
        </p:spPr>
      </p:pic>
    </p:spTree>
    <p:extLst>
      <p:ext uri="{BB962C8B-B14F-4D97-AF65-F5344CB8AC3E}">
        <p14:creationId xmlns:p14="http://schemas.microsoft.com/office/powerpoint/2010/main" xmlns="" val="18224359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15564F2D-40F2-2D3E-6383-E70F9A99BCC1}"/>
              </a:ext>
            </a:extLst>
          </p:cNvPr>
          <p:cNvSpPr txBox="1"/>
          <p:nvPr/>
        </p:nvSpPr>
        <p:spPr>
          <a:xfrm>
            <a:off x="2547891" y="-106531"/>
            <a:ext cx="6533965" cy="646331"/>
          </a:xfrm>
          <a:prstGeom prst="rect">
            <a:avLst/>
          </a:prstGeom>
          <a:noFill/>
        </p:spPr>
        <p:txBody>
          <a:bodyPr wrap="square" rtlCol="0">
            <a:spAutoFit/>
          </a:bodyPr>
          <a:lstStyle/>
          <a:p>
            <a:r>
              <a:rPr lang="en-US" sz="3600" dirty="0">
                <a:solidFill>
                  <a:srgbClr val="FF0000"/>
                </a:solidFill>
              </a:rPr>
              <a:t>The Infinite Square Well Potential</a:t>
            </a:r>
          </a:p>
        </p:txBody>
      </p:sp>
      <p:pic>
        <p:nvPicPr>
          <p:cNvPr id="4" name="Picture 3">
            <a:extLst>
              <a:ext uri="{FF2B5EF4-FFF2-40B4-BE49-F238E27FC236}">
                <a16:creationId xmlns:a16="http://schemas.microsoft.com/office/drawing/2014/main" xmlns="" id="{E16BD8A5-B5FD-31F0-772A-CB39FE4F60F5}"/>
              </a:ext>
            </a:extLst>
          </p:cNvPr>
          <p:cNvPicPr>
            <a:picLocks noChangeAspect="1"/>
          </p:cNvPicPr>
          <p:nvPr/>
        </p:nvPicPr>
        <p:blipFill>
          <a:blip r:embed="rId2"/>
          <a:stretch>
            <a:fillRect/>
          </a:stretch>
        </p:blipFill>
        <p:spPr>
          <a:xfrm>
            <a:off x="2860089" y="646853"/>
            <a:ext cx="4572000" cy="942975"/>
          </a:xfrm>
          <a:prstGeom prst="rect">
            <a:avLst/>
          </a:prstGeom>
        </p:spPr>
      </p:pic>
      <p:sp>
        <p:nvSpPr>
          <p:cNvPr id="5" name="TextBox 4">
            <a:extLst>
              <a:ext uri="{FF2B5EF4-FFF2-40B4-BE49-F238E27FC236}">
                <a16:creationId xmlns:a16="http://schemas.microsoft.com/office/drawing/2014/main" xmlns="" id="{EDA1B028-3DF2-1752-570A-BD5F2952DEEE}"/>
              </a:ext>
            </a:extLst>
          </p:cNvPr>
          <p:cNvSpPr txBox="1"/>
          <p:nvPr/>
        </p:nvSpPr>
        <p:spPr>
          <a:xfrm>
            <a:off x="1287262" y="763796"/>
            <a:ext cx="1429305" cy="523220"/>
          </a:xfrm>
          <a:prstGeom prst="rect">
            <a:avLst/>
          </a:prstGeom>
          <a:noFill/>
        </p:spPr>
        <p:txBody>
          <a:bodyPr wrap="square" rtlCol="0">
            <a:spAutoFit/>
          </a:bodyPr>
          <a:lstStyle/>
          <a:p>
            <a:r>
              <a:rPr lang="en-US" sz="2800" dirty="0"/>
              <a:t>Suppose</a:t>
            </a:r>
          </a:p>
        </p:txBody>
      </p:sp>
      <p:pic>
        <p:nvPicPr>
          <p:cNvPr id="7" name="Picture 6">
            <a:extLst>
              <a:ext uri="{FF2B5EF4-FFF2-40B4-BE49-F238E27FC236}">
                <a16:creationId xmlns:a16="http://schemas.microsoft.com/office/drawing/2014/main" xmlns="" id="{20346C80-3E00-952F-F6D2-E71224C7AD79}"/>
              </a:ext>
            </a:extLst>
          </p:cNvPr>
          <p:cNvPicPr>
            <a:picLocks noChangeAspect="1"/>
          </p:cNvPicPr>
          <p:nvPr/>
        </p:nvPicPr>
        <p:blipFill>
          <a:blip r:embed="rId3"/>
          <a:stretch>
            <a:fillRect/>
          </a:stretch>
        </p:blipFill>
        <p:spPr>
          <a:xfrm>
            <a:off x="8185212" y="539800"/>
            <a:ext cx="3641000" cy="2678510"/>
          </a:xfrm>
          <a:prstGeom prst="rect">
            <a:avLst/>
          </a:prstGeom>
        </p:spPr>
      </p:pic>
      <p:sp>
        <p:nvSpPr>
          <p:cNvPr id="10" name="TextBox 9">
            <a:extLst>
              <a:ext uri="{FF2B5EF4-FFF2-40B4-BE49-F238E27FC236}">
                <a16:creationId xmlns:a16="http://schemas.microsoft.com/office/drawing/2014/main" xmlns="" id="{337E8776-89A3-C0CB-906D-1FE3AA6B5CDB}"/>
              </a:ext>
            </a:extLst>
          </p:cNvPr>
          <p:cNvSpPr txBox="1"/>
          <p:nvPr/>
        </p:nvSpPr>
        <p:spPr>
          <a:xfrm>
            <a:off x="173115" y="1872646"/>
            <a:ext cx="7896687" cy="1938992"/>
          </a:xfrm>
          <a:prstGeom prst="rect">
            <a:avLst/>
          </a:prstGeom>
          <a:noFill/>
        </p:spPr>
        <p:txBody>
          <a:bodyPr wrap="square" rtlCol="0">
            <a:spAutoFit/>
          </a:bodyPr>
          <a:lstStyle/>
          <a:p>
            <a:pPr algn="just"/>
            <a:r>
              <a:rPr lang="en-US" sz="2400" dirty="0"/>
              <a:t>A particle in this potential is completely free, except at the two ends (x=0, and x=a), where an infinite force prevents it from escaping. A classical model would be a cart on a frictionless horizontal air track, with perfectly elastic bumpers-it just keeps bouncing back and forth forever.</a:t>
            </a:r>
          </a:p>
        </p:txBody>
      </p:sp>
      <mc:AlternateContent xmlns:mc="http://schemas.openxmlformats.org/markup-compatibility/2006">
        <mc:Choice xmlns:a14="http://schemas.microsoft.com/office/drawing/2010/main" xmlns="" Requires="a14">
          <p:sp>
            <p:nvSpPr>
              <p:cNvPr id="13" name="TextBox 12">
                <a:extLst>
                  <a:ext uri="{FF2B5EF4-FFF2-40B4-BE49-F238E27FC236}">
                    <a16:creationId xmlns:a16="http://schemas.microsoft.com/office/drawing/2014/main" id="{CE586236-DCF1-A46F-0FB4-CAC147B8A4DD}"/>
                  </a:ext>
                </a:extLst>
              </p:cNvPr>
              <p:cNvSpPr txBox="1"/>
              <p:nvPr/>
            </p:nvSpPr>
            <p:spPr>
              <a:xfrm>
                <a:off x="381740" y="4397268"/>
                <a:ext cx="11221375" cy="1384995"/>
              </a:xfrm>
              <a:prstGeom prst="rect">
                <a:avLst/>
              </a:prstGeom>
              <a:noFill/>
            </p:spPr>
            <p:txBody>
              <a:bodyPr wrap="square" rtlCol="0">
                <a:spAutoFit/>
              </a:bodyPr>
              <a:lstStyle/>
              <a:p>
                <a:r>
                  <a:rPr lang="en-US" sz="2800" dirty="0"/>
                  <a:t>Outside the well, the probability of finding the particle is zero so </a:t>
                </a:r>
                <a14:m>
                  <m:oMath xmlns:m="http://schemas.openxmlformats.org/officeDocument/2006/math">
                    <m:r>
                      <a:rPr lang="en-US" sz="2800" i="1" smtClean="0">
                        <a:latin typeface="Cambria Math" panose="02040503050406030204" pitchFamily="18" charset="0"/>
                        <a:ea typeface="Cambria Math" panose="02040503050406030204" pitchFamily="18" charset="0"/>
                      </a:rPr>
                      <m:t>𝜓</m:t>
                    </m:r>
                    <m:d>
                      <m:dPr>
                        <m:ctrlPr>
                          <a:rPr lang="en-US" sz="2800" b="0" i="1" smtClean="0">
                            <a:latin typeface="Cambria Math" panose="02040503050406030204" pitchFamily="18" charset="0"/>
                            <a:ea typeface="Cambria Math" panose="02040503050406030204" pitchFamily="18" charset="0"/>
                          </a:rPr>
                        </m:ctrlPr>
                      </m:dPr>
                      <m:e>
                        <m:r>
                          <a:rPr lang="en-US" sz="2800" b="0" i="1" smtClean="0">
                            <a:latin typeface="Cambria Math" panose="02040503050406030204" pitchFamily="18" charset="0"/>
                            <a:ea typeface="Cambria Math" panose="02040503050406030204" pitchFamily="18" charset="0"/>
                          </a:rPr>
                          <m:t>𝑥</m:t>
                        </m:r>
                      </m:e>
                    </m:d>
                    <m:r>
                      <a:rPr lang="en-US" sz="2800" b="0" i="1" smtClean="0">
                        <a:latin typeface="Cambria Math" panose="02040503050406030204" pitchFamily="18" charset="0"/>
                        <a:ea typeface="Cambria Math" panose="02040503050406030204" pitchFamily="18" charset="0"/>
                      </a:rPr>
                      <m:t>=0.</m:t>
                    </m:r>
                  </m:oMath>
                </a14:m>
                <a:r>
                  <a:rPr lang="en-US" sz="2800" dirty="0"/>
                  <a:t> Inside the well, V=0, so the time-independent Schrodinger equation become</a:t>
                </a:r>
              </a:p>
              <a:p>
                <a:endParaRPr lang="en-US" sz="2800" dirty="0"/>
              </a:p>
            </p:txBody>
          </p:sp>
        </mc:Choice>
        <mc:Fallback>
          <p:sp>
            <p:nvSpPr>
              <p:cNvPr id="13" name="TextBox 12">
                <a:extLst>
                  <a:ext uri="{FF2B5EF4-FFF2-40B4-BE49-F238E27FC236}">
                    <a16:creationId xmlns:a16="http://schemas.microsoft.com/office/drawing/2014/main" xmlns="" xmlns:a14="http://schemas.microsoft.com/office/drawing/2010/main" id="{CE586236-DCF1-A46F-0FB4-CAC147B8A4DD}"/>
                  </a:ext>
                </a:extLst>
              </p:cNvPr>
              <p:cNvSpPr txBox="1">
                <a:spLocks noRot="1" noChangeAspect="1" noMove="1" noResize="1" noEditPoints="1" noAdjustHandles="1" noChangeArrowheads="1" noChangeShapeType="1" noTextEdit="1"/>
              </p:cNvSpPr>
              <p:nvPr/>
            </p:nvSpPr>
            <p:spPr>
              <a:xfrm>
                <a:off x="381740" y="4397268"/>
                <a:ext cx="11221375" cy="1384995"/>
              </a:xfrm>
              <a:prstGeom prst="rect">
                <a:avLst/>
              </a:prstGeom>
              <a:blipFill>
                <a:blip r:embed="rId4"/>
                <a:stretch>
                  <a:fillRect l="-1141" t="-3947" r="-815"/>
                </a:stretch>
              </a:blipFill>
            </p:spPr>
            <p:txBody>
              <a:bodyPr/>
              <a:lstStyle/>
              <a:p>
                <a:r>
                  <a:rPr lang="en-US">
                    <a:noFill/>
                  </a:rPr>
                  <a:t> </a:t>
                </a:r>
              </a:p>
            </p:txBody>
          </p:sp>
        </mc:Fallback>
      </mc:AlternateContent>
      <p:pic>
        <p:nvPicPr>
          <p:cNvPr id="15" name="Picture 14">
            <a:extLst>
              <a:ext uri="{FF2B5EF4-FFF2-40B4-BE49-F238E27FC236}">
                <a16:creationId xmlns:a16="http://schemas.microsoft.com/office/drawing/2014/main" xmlns="" id="{DEF28970-B0D4-0357-67E3-BAFE50DCC00F}"/>
              </a:ext>
            </a:extLst>
          </p:cNvPr>
          <p:cNvPicPr>
            <a:picLocks noChangeAspect="1"/>
          </p:cNvPicPr>
          <p:nvPr/>
        </p:nvPicPr>
        <p:blipFill>
          <a:blip r:embed="rId5"/>
          <a:stretch>
            <a:fillRect/>
          </a:stretch>
        </p:blipFill>
        <p:spPr>
          <a:xfrm>
            <a:off x="4601777" y="5447296"/>
            <a:ext cx="2781300" cy="923925"/>
          </a:xfrm>
          <a:prstGeom prst="rect">
            <a:avLst/>
          </a:prstGeom>
        </p:spPr>
      </p:pic>
    </p:spTree>
    <p:extLst>
      <p:ext uri="{BB962C8B-B14F-4D97-AF65-F5344CB8AC3E}">
        <p14:creationId xmlns:p14="http://schemas.microsoft.com/office/powerpoint/2010/main" xmlns="" val="10485169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xmlns="" id="{F41AEE43-1B05-C9D3-5BA2-F88BB8A74701}"/>
              </a:ext>
            </a:extLst>
          </p:cNvPr>
          <p:cNvPicPr>
            <a:picLocks noChangeAspect="1"/>
          </p:cNvPicPr>
          <p:nvPr/>
        </p:nvPicPr>
        <p:blipFill>
          <a:blip r:embed="rId2"/>
          <a:stretch>
            <a:fillRect/>
          </a:stretch>
        </p:blipFill>
        <p:spPr>
          <a:xfrm>
            <a:off x="895601" y="177426"/>
            <a:ext cx="8435011" cy="1197455"/>
          </a:xfrm>
          <a:prstGeom prst="rect">
            <a:avLst/>
          </a:prstGeom>
        </p:spPr>
      </p:pic>
      <p:sp>
        <p:nvSpPr>
          <p:cNvPr id="4" name="TextBox 3">
            <a:extLst>
              <a:ext uri="{FF2B5EF4-FFF2-40B4-BE49-F238E27FC236}">
                <a16:creationId xmlns:a16="http://schemas.microsoft.com/office/drawing/2014/main" xmlns="" id="{052B51A5-8666-860E-DE86-F0299053864D}"/>
              </a:ext>
            </a:extLst>
          </p:cNvPr>
          <p:cNvSpPr txBox="1"/>
          <p:nvPr/>
        </p:nvSpPr>
        <p:spPr>
          <a:xfrm>
            <a:off x="10419115" y="709127"/>
            <a:ext cx="584856" cy="523220"/>
          </a:xfrm>
          <a:prstGeom prst="rect">
            <a:avLst/>
          </a:prstGeom>
          <a:noFill/>
        </p:spPr>
        <p:txBody>
          <a:bodyPr wrap="square" rtlCol="0">
            <a:spAutoFit/>
          </a:bodyPr>
          <a:lstStyle/>
          <a:p>
            <a:r>
              <a:rPr lang="en-US" sz="2800" dirty="0"/>
              <a:t>(3)</a:t>
            </a:r>
          </a:p>
        </p:txBody>
      </p:sp>
      <p:sp>
        <p:nvSpPr>
          <p:cNvPr id="5" name="TextBox 4">
            <a:extLst>
              <a:ext uri="{FF2B5EF4-FFF2-40B4-BE49-F238E27FC236}">
                <a16:creationId xmlns:a16="http://schemas.microsoft.com/office/drawing/2014/main" xmlns="" id="{03239891-11FF-F011-9A84-5B547F3DA6B1}"/>
              </a:ext>
            </a:extLst>
          </p:cNvPr>
          <p:cNvSpPr txBox="1"/>
          <p:nvPr/>
        </p:nvSpPr>
        <p:spPr>
          <a:xfrm>
            <a:off x="668694" y="1421534"/>
            <a:ext cx="11523306" cy="954107"/>
          </a:xfrm>
          <a:prstGeom prst="rect">
            <a:avLst/>
          </a:prstGeom>
          <a:noFill/>
        </p:spPr>
        <p:txBody>
          <a:bodyPr wrap="square" rtlCol="0">
            <a:spAutoFit/>
          </a:bodyPr>
          <a:lstStyle/>
          <a:p>
            <a:r>
              <a:rPr lang="en-US" sz="2800" dirty="0"/>
              <a:t>Equation (3) is similar to the equation of a classical simple harmonic oscillator.</a:t>
            </a:r>
          </a:p>
          <a:p>
            <a:r>
              <a:rPr lang="en-US" sz="2800" dirty="0"/>
              <a:t>The general solution of the above equation is </a:t>
            </a:r>
          </a:p>
        </p:txBody>
      </p:sp>
      <p:pic>
        <p:nvPicPr>
          <p:cNvPr id="7" name="Picture 6">
            <a:extLst>
              <a:ext uri="{FF2B5EF4-FFF2-40B4-BE49-F238E27FC236}">
                <a16:creationId xmlns:a16="http://schemas.microsoft.com/office/drawing/2014/main" xmlns="" id="{59475E2C-1A83-219F-B7D2-3CD4129BD583}"/>
              </a:ext>
            </a:extLst>
          </p:cNvPr>
          <p:cNvPicPr>
            <a:picLocks noChangeAspect="1"/>
          </p:cNvPicPr>
          <p:nvPr/>
        </p:nvPicPr>
        <p:blipFill>
          <a:blip r:embed="rId3"/>
          <a:stretch>
            <a:fillRect/>
          </a:stretch>
        </p:blipFill>
        <p:spPr>
          <a:xfrm>
            <a:off x="7521931" y="1898587"/>
            <a:ext cx="4276725" cy="447675"/>
          </a:xfrm>
          <a:prstGeom prst="rect">
            <a:avLst/>
          </a:prstGeom>
        </p:spPr>
      </p:pic>
      <p:sp>
        <p:nvSpPr>
          <p:cNvPr id="8" name="TextBox 7">
            <a:extLst>
              <a:ext uri="{FF2B5EF4-FFF2-40B4-BE49-F238E27FC236}">
                <a16:creationId xmlns:a16="http://schemas.microsoft.com/office/drawing/2014/main" xmlns="" id="{1356B9BF-9793-F48F-03F1-050BB24EE88F}"/>
              </a:ext>
            </a:extLst>
          </p:cNvPr>
          <p:cNvSpPr txBox="1"/>
          <p:nvPr/>
        </p:nvSpPr>
        <p:spPr>
          <a:xfrm>
            <a:off x="668694" y="2536836"/>
            <a:ext cx="11243388" cy="954107"/>
          </a:xfrm>
          <a:prstGeom prst="rect">
            <a:avLst/>
          </a:prstGeom>
          <a:noFill/>
        </p:spPr>
        <p:txBody>
          <a:bodyPr wrap="square" rtlCol="0">
            <a:spAutoFit/>
          </a:bodyPr>
          <a:lstStyle/>
          <a:p>
            <a:r>
              <a:rPr lang="en-US" sz="2800" dirty="0"/>
              <a:t>Where A and B are arbitrary constants whose value needs to be determined from the boundary condition.</a:t>
            </a:r>
          </a:p>
        </p:txBody>
      </p:sp>
      <p:pic>
        <p:nvPicPr>
          <p:cNvPr id="10" name="Picture 9">
            <a:extLst>
              <a:ext uri="{FF2B5EF4-FFF2-40B4-BE49-F238E27FC236}">
                <a16:creationId xmlns:a16="http://schemas.microsoft.com/office/drawing/2014/main" xmlns="" id="{6AAD6F6E-4F11-5DDF-4DD8-7102BC889ADE}"/>
              </a:ext>
            </a:extLst>
          </p:cNvPr>
          <p:cNvPicPr>
            <a:picLocks noChangeAspect="1"/>
          </p:cNvPicPr>
          <p:nvPr/>
        </p:nvPicPr>
        <p:blipFill>
          <a:blip r:embed="rId4"/>
          <a:stretch>
            <a:fillRect/>
          </a:stretch>
        </p:blipFill>
        <p:spPr>
          <a:xfrm>
            <a:off x="1035698" y="3490943"/>
            <a:ext cx="5939060" cy="1176296"/>
          </a:xfrm>
          <a:prstGeom prst="rect">
            <a:avLst/>
          </a:prstGeom>
        </p:spPr>
      </p:pic>
      <p:pic>
        <p:nvPicPr>
          <p:cNvPr id="12" name="Picture 11">
            <a:extLst>
              <a:ext uri="{FF2B5EF4-FFF2-40B4-BE49-F238E27FC236}">
                <a16:creationId xmlns:a16="http://schemas.microsoft.com/office/drawing/2014/main" xmlns="" id="{57E1BDA4-A824-2CE0-BECE-EABC6B18DDBA}"/>
              </a:ext>
            </a:extLst>
          </p:cNvPr>
          <p:cNvPicPr>
            <a:picLocks noChangeAspect="1"/>
          </p:cNvPicPr>
          <p:nvPr/>
        </p:nvPicPr>
        <p:blipFill>
          <a:blip r:embed="rId5"/>
          <a:stretch>
            <a:fillRect/>
          </a:stretch>
        </p:blipFill>
        <p:spPr>
          <a:xfrm>
            <a:off x="2043404" y="4905258"/>
            <a:ext cx="4312492" cy="379217"/>
          </a:xfrm>
          <a:prstGeom prst="rect">
            <a:avLst/>
          </a:prstGeom>
        </p:spPr>
      </p:pic>
      <p:sp>
        <p:nvSpPr>
          <p:cNvPr id="13" name="TextBox 12">
            <a:extLst>
              <a:ext uri="{FF2B5EF4-FFF2-40B4-BE49-F238E27FC236}">
                <a16:creationId xmlns:a16="http://schemas.microsoft.com/office/drawing/2014/main" xmlns="" id="{9BEC5055-7E91-10D7-F564-AC42161BD339}"/>
              </a:ext>
            </a:extLst>
          </p:cNvPr>
          <p:cNvSpPr txBox="1"/>
          <p:nvPr/>
        </p:nvSpPr>
        <p:spPr>
          <a:xfrm>
            <a:off x="1530220" y="4833257"/>
            <a:ext cx="606490" cy="523220"/>
          </a:xfrm>
          <a:prstGeom prst="rect">
            <a:avLst/>
          </a:prstGeom>
          <a:noFill/>
        </p:spPr>
        <p:txBody>
          <a:bodyPr wrap="square" rtlCol="0">
            <a:spAutoFit/>
          </a:bodyPr>
          <a:lstStyle/>
          <a:p>
            <a:r>
              <a:rPr lang="en-US" sz="2800" dirty="0"/>
              <a:t>So</a:t>
            </a:r>
          </a:p>
        </p:txBody>
      </p:sp>
      <p:pic>
        <p:nvPicPr>
          <p:cNvPr id="15" name="Picture 14">
            <a:extLst>
              <a:ext uri="{FF2B5EF4-FFF2-40B4-BE49-F238E27FC236}">
                <a16:creationId xmlns:a16="http://schemas.microsoft.com/office/drawing/2014/main" xmlns="" id="{92498366-85A4-E023-4A95-94F1537B67B0}"/>
              </a:ext>
            </a:extLst>
          </p:cNvPr>
          <p:cNvPicPr>
            <a:picLocks noChangeAspect="1"/>
          </p:cNvPicPr>
          <p:nvPr/>
        </p:nvPicPr>
        <p:blipFill>
          <a:blip r:embed="rId6"/>
          <a:stretch>
            <a:fillRect/>
          </a:stretch>
        </p:blipFill>
        <p:spPr>
          <a:xfrm>
            <a:off x="1530220" y="5522494"/>
            <a:ext cx="7116341" cy="799589"/>
          </a:xfrm>
          <a:prstGeom prst="rect">
            <a:avLst/>
          </a:prstGeom>
        </p:spPr>
      </p:pic>
    </p:spTree>
    <p:extLst>
      <p:ext uri="{BB962C8B-B14F-4D97-AF65-F5344CB8AC3E}">
        <p14:creationId xmlns:p14="http://schemas.microsoft.com/office/powerpoint/2010/main" xmlns="" val="34704484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xmlns="" id="{A164DBA8-2127-75AD-2721-8A67F959EC4D}"/>
              </a:ext>
            </a:extLst>
          </p:cNvPr>
          <p:cNvPicPr>
            <a:picLocks noChangeAspect="1"/>
          </p:cNvPicPr>
          <p:nvPr/>
        </p:nvPicPr>
        <p:blipFill>
          <a:blip r:embed="rId2"/>
          <a:stretch>
            <a:fillRect/>
          </a:stretch>
        </p:blipFill>
        <p:spPr>
          <a:xfrm>
            <a:off x="2967135" y="196526"/>
            <a:ext cx="5479596" cy="345560"/>
          </a:xfrm>
          <a:prstGeom prst="rect">
            <a:avLst/>
          </a:prstGeom>
        </p:spPr>
      </p:pic>
      <p:pic>
        <p:nvPicPr>
          <p:cNvPr id="5" name="Picture 4">
            <a:extLst>
              <a:ext uri="{FF2B5EF4-FFF2-40B4-BE49-F238E27FC236}">
                <a16:creationId xmlns:a16="http://schemas.microsoft.com/office/drawing/2014/main" xmlns="" id="{07EE6010-708B-3DF4-E6CF-502A735C19CE}"/>
              </a:ext>
            </a:extLst>
          </p:cNvPr>
          <p:cNvPicPr>
            <a:picLocks noChangeAspect="1"/>
          </p:cNvPicPr>
          <p:nvPr/>
        </p:nvPicPr>
        <p:blipFill>
          <a:blip r:embed="rId3"/>
          <a:stretch>
            <a:fillRect/>
          </a:stretch>
        </p:blipFill>
        <p:spPr>
          <a:xfrm>
            <a:off x="2967135" y="710681"/>
            <a:ext cx="4844532" cy="274867"/>
          </a:xfrm>
          <a:prstGeom prst="rect">
            <a:avLst/>
          </a:prstGeom>
        </p:spPr>
      </p:pic>
      <p:pic>
        <p:nvPicPr>
          <p:cNvPr id="7" name="Picture 6">
            <a:extLst>
              <a:ext uri="{FF2B5EF4-FFF2-40B4-BE49-F238E27FC236}">
                <a16:creationId xmlns:a16="http://schemas.microsoft.com/office/drawing/2014/main" xmlns="" id="{0CD878CF-85B3-6683-F8B7-11DE0532AE85}"/>
              </a:ext>
            </a:extLst>
          </p:cNvPr>
          <p:cNvPicPr>
            <a:picLocks noChangeAspect="1"/>
          </p:cNvPicPr>
          <p:nvPr/>
        </p:nvPicPr>
        <p:blipFill>
          <a:blip r:embed="rId4"/>
          <a:stretch>
            <a:fillRect/>
          </a:stretch>
        </p:blipFill>
        <p:spPr>
          <a:xfrm>
            <a:off x="3062797" y="1132629"/>
            <a:ext cx="4302556" cy="506706"/>
          </a:xfrm>
          <a:prstGeom prst="rect">
            <a:avLst/>
          </a:prstGeom>
        </p:spPr>
      </p:pic>
      <p:pic>
        <p:nvPicPr>
          <p:cNvPr id="9" name="Picture 8">
            <a:extLst>
              <a:ext uri="{FF2B5EF4-FFF2-40B4-BE49-F238E27FC236}">
                <a16:creationId xmlns:a16="http://schemas.microsoft.com/office/drawing/2014/main" xmlns="" id="{B5C0420D-EB4D-A969-7F7F-6697B9D29C1B}"/>
              </a:ext>
            </a:extLst>
          </p:cNvPr>
          <p:cNvPicPr>
            <a:picLocks noChangeAspect="1"/>
          </p:cNvPicPr>
          <p:nvPr/>
        </p:nvPicPr>
        <p:blipFill>
          <a:blip r:embed="rId5"/>
          <a:stretch>
            <a:fillRect/>
          </a:stretch>
        </p:blipFill>
        <p:spPr>
          <a:xfrm>
            <a:off x="662473" y="1786416"/>
            <a:ext cx="10997682" cy="1202613"/>
          </a:xfrm>
          <a:prstGeom prst="rect">
            <a:avLst/>
          </a:prstGeom>
        </p:spPr>
      </p:pic>
      <p:pic>
        <p:nvPicPr>
          <p:cNvPr id="11" name="Picture 10">
            <a:extLst>
              <a:ext uri="{FF2B5EF4-FFF2-40B4-BE49-F238E27FC236}">
                <a16:creationId xmlns:a16="http://schemas.microsoft.com/office/drawing/2014/main" xmlns="" id="{3A849EB4-BD1B-F66D-DC0E-C34F5D3E3BD3}"/>
              </a:ext>
            </a:extLst>
          </p:cNvPr>
          <p:cNvPicPr>
            <a:picLocks noChangeAspect="1"/>
          </p:cNvPicPr>
          <p:nvPr/>
        </p:nvPicPr>
        <p:blipFill>
          <a:blip r:embed="rId6"/>
          <a:stretch>
            <a:fillRect/>
          </a:stretch>
        </p:blipFill>
        <p:spPr>
          <a:xfrm>
            <a:off x="3175810" y="2989029"/>
            <a:ext cx="5062246" cy="813249"/>
          </a:xfrm>
          <a:prstGeom prst="rect">
            <a:avLst/>
          </a:prstGeom>
        </p:spPr>
      </p:pic>
      <p:pic>
        <p:nvPicPr>
          <p:cNvPr id="13" name="Picture 12">
            <a:extLst>
              <a:ext uri="{FF2B5EF4-FFF2-40B4-BE49-F238E27FC236}">
                <a16:creationId xmlns:a16="http://schemas.microsoft.com/office/drawing/2014/main" xmlns="" id="{D0366E56-7192-FB2C-38E4-ED54B8FAE56A}"/>
              </a:ext>
            </a:extLst>
          </p:cNvPr>
          <p:cNvPicPr>
            <a:picLocks noChangeAspect="1"/>
          </p:cNvPicPr>
          <p:nvPr/>
        </p:nvPicPr>
        <p:blipFill>
          <a:blip r:embed="rId7"/>
          <a:stretch>
            <a:fillRect/>
          </a:stretch>
        </p:blipFill>
        <p:spPr>
          <a:xfrm>
            <a:off x="3175810" y="3837752"/>
            <a:ext cx="3609683" cy="353890"/>
          </a:xfrm>
          <a:prstGeom prst="rect">
            <a:avLst/>
          </a:prstGeom>
        </p:spPr>
      </p:pic>
      <p:pic>
        <p:nvPicPr>
          <p:cNvPr id="15" name="Picture 14">
            <a:extLst>
              <a:ext uri="{FF2B5EF4-FFF2-40B4-BE49-F238E27FC236}">
                <a16:creationId xmlns:a16="http://schemas.microsoft.com/office/drawing/2014/main" xmlns="" id="{BCD6AF34-89E5-5884-0E25-134A9885123C}"/>
              </a:ext>
            </a:extLst>
          </p:cNvPr>
          <p:cNvPicPr>
            <a:picLocks noChangeAspect="1"/>
          </p:cNvPicPr>
          <p:nvPr/>
        </p:nvPicPr>
        <p:blipFill>
          <a:blip r:embed="rId8"/>
          <a:stretch>
            <a:fillRect/>
          </a:stretch>
        </p:blipFill>
        <p:spPr>
          <a:xfrm>
            <a:off x="3452326" y="4813583"/>
            <a:ext cx="3230336" cy="911788"/>
          </a:xfrm>
          <a:prstGeom prst="rect">
            <a:avLst/>
          </a:prstGeom>
        </p:spPr>
      </p:pic>
    </p:spTree>
    <p:extLst>
      <p:ext uri="{BB962C8B-B14F-4D97-AF65-F5344CB8AC3E}">
        <p14:creationId xmlns:p14="http://schemas.microsoft.com/office/powerpoint/2010/main" xmlns="" val="7531606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xmlns="" id="{39A2C98E-E823-337D-5A44-28D3AC333F58}"/>
              </a:ext>
            </a:extLst>
          </p:cNvPr>
          <p:cNvPicPr>
            <a:picLocks noChangeAspect="1"/>
          </p:cNvPicPr>
          <p:nvPr/>
        </p:nvPicPr>
        <p:blipFill>
          <a:blip r:embed="rId2"/>
          <a:stretch>
            <a:fillRect/>
          </a:stretch>
        </p:blipFill>
        <p:spPr>
          <a:xfrm>
            <a:off x="2108717" y="182141"/>
            <a:ext cx="7595507" cy="1548440"/>
          </a:xfrm>
          <a:prstGeom prst="rect">
            <a:avLst/>
          </a:prstGeom>
        </p:spPr>
      </p:pic>
      <p:pic>
        <p:nvPicPr>
          <p:cNvPr id="5" name="Picture 4">
            <a:extLst>
              <a:ext uri="{FF2B5EF4-FFF2-40B4-BE49-F238E27FC236}">
                <a16:creationId xmlns:a16="http://schemas.microsoft.com/office/drawing/2014/main" xmlns="" id="{1E72F0CC-0A1D-62C6-0E52-C1FDFC7A5759}"/>
              </a:ext>
            </a:extLst>
          </p:cNvPr>
          <p:cNvPicPr>
            <a:picLocks noChangeAspect="1"/>
          </p:cNvPicPr>
          <p:nvPr/>
        </p:nvPicPr>
        <p:blipFill>
          <a:blip r:embed="rId3"/>
          <a:stretch>
            <a:fillRect/>
          </a:stretch>
        </p:blipFill>
        <p:spPr>
          <a:xfrm>
            <a:off x="1119673" y="1730581"/>
            <a:ext cx="10521820" cy="1078152"/>
          </a:xfrm>
          <a:prstGeom prst="rect">
            <a:avLst/>
          </a:prstGeom>
        </p:spPr>
      </p:pic>
      <p:pic>
        <p:nvPicPr>
          <p:cNvPr id="7" name="Picture 6">
            <a:extLst>
              <a:ext uri="{FF2B5EF4-FFF2-40B4-BE49-F238E27FC236}">
                <a16:creationId xmlns:a16="http://schemas.microsoft.com/office/drawing/2014/main" xmlns="" id="{3BD59CF1-4400-EBEB-1824-5F007665D86E}"/>
              </a:ext>
            </a:extLst>
          </p:cNvPr>
          <p:cNvPicPr>
            <a:picLocks noChangeAspect="1"/>
          </p:cNvPicPr>
          <p:nvPr/>
        </p:nvPicPr>
        <p:blipFill>
          <a:blip r:embed="rId4"/>
          <a:stretch>
            <a:fillRect/>
          </a:stretch>
        </p:blipFill>
        <p:spPr>
          <a:xfrm>
            <a:off x="3598020" y="2736096"/>
            <a:ext cx="3857625" cy="1085850"/>
          </a:xfrm>
          <a:prstGeom prst="rect">
            <a:avLst/>
          </a:prstGeom>
        </p:spPr>
      </p:pic>
      <p:sp>
        <p:nvSpPr>
          <p:cNvPr id="8" name="TextBox 7">
            <a:extLst>
              <a:ext uri="{FF2B5EF4-FFF2-40B4-BE49-F238E27FC236}">
                <a16:creationId xmlns:a16="http://schemas.microsoft.com/office/drawing/2014/main" xmlns="" id="{F9580967-4E89-9075-23E1-246E5E43EC19}"/>
              </a:ext>
            </a:extLst>
          </p:cNvPr>
          <p:cNvSpPr txBox="1"/>
          <p:nvPr/>
        </p:nvSpPr>
        <p:spPr>
          <a:xfrm>
            <a:off x="9137780" y="3181991"/>
            <a:ext cx="830424" cy="523220"/>
          </a:xfrm>
          <a:prstGeom prst="rect">
            <a:avLst/>
          </a:prstGeom>
          <a:noFill/>
        </p:spPr>
        <p:txBody>
          <a:bodyPr wrap="square" rtlCol="0">
            <a:spAutoFit/>
          </a:bodyPr>
          <a:lstStyle/>
          <a:p>
            <a:r>
              <a:rPr lang="en-US" sz="2800" dirty="0"/>
              <a:t>(4)</a:t>
            </a:r>
          </a:p>
        </p:txBody>
      </p:sp>
      <p:sp>
        <p:nvSpPr>
          <p:cNvPr id="9" name="TextBox 8">
            <a:extLst>
              <a:ext uri="{FF2B5EF4-FFF2-40B4-BE49-F238E27FC236}">
                <a16:creationId xmlns:a16="http://schemas.microsoft.com/office/drawing/2014/main" xmlns="" id="{C4335479-328E-6CCF-3D9E-AA7C18566B29}"/>
              </a:ext>
            </a:extLst>
          </p:cNvPr>
          <p:cNvSpPr txBox="1"/>
          <p:nvPr/>
        </p:nvSpPr>
        <p:spPr>
          <a:xfrm>
            <a:off x="928588" y="4031598"/>
            <a:ext cx="10590245" cy="954107"/>
          </a:xfrm>
          <a:prstGeom prst="rect">
            <a:avLst/>
          </a:prstGeom>
          <a:noFill/>
        </p:spPr>
        <p:txBody>
          <a:bodyPr wrap="square" rtlCol="0">
            <a:spAutoFit/>
          </a:bodyPr>
          <a:lstStyle/>
          <a:p>
            <a:r>
              <a:rPr lang="en-US" sz="2800" dirty="0"/>
              <a:t>Equation (4) is the solution of wave function for a square well potential. It is a set of solution, </a:t>
            </a:r>
          </a:p>
        </p:txBody>
      </p:sp>
      <p:pic>
        <p:nvPicPr>
          <p:cNvPr id="11" name="Picture 10">
            <a:extLst>
              <a:ext uri="{FF2B5EF4-FFF2-40B4-BE49-F238E27FC236}">
                <a16:creationId xmlns:a16="http://schemas.microsoft.com/office/drawing/2014/main" xmlns="" id="{00AD39B6-7218-341D-A3D2-1E5AADA4CDBD}"/>
              </a:ext>
            </a:extLst>
          </p:cNvPr>
          <p:cNvPicPr>
            <a:picLocks noChangeAspect="1"/>
          </p:cNvPicPr>
          <p:nvPr/>
        </p:nvPicPr>
        <p:blipFill>
          <a:blip r:embed="rId5"/>
          <a:stretch>
            <a:fillRect/>
          </a:stretch>
        </p:blipFill>
        <p:spPr>
          <a:xfrm>
            <a:off x="2002875" y="5044811"/>
            <a:ext cx="8186249" cy="1751946"/>
          </a:xfrm>
          <a:prstGeom prst="rect">
            <a:avLst/>
          </a:prstGeom>
        </p:spPr>
      </p:pic>
    </p:spTree>
    <p:extLst>
      <p:ext uri="{BB962C8B-B14F-4D97-AF65-F5344CB8AC3E}">
        <p14:creationId xmlns:p14="http://schemas.microsoft.com/office/powerpoint/2010/main" xmlns="" val="40427537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xmlns="" Requires="a14">
          <p:sp>
            <p:nvSpPr>
              <p:cNvPr id="2" name="TextBox 1">
                <a:extLst>
                  <a:ext uri="{FF2B5EF4-FFF2-40B4-BE49-F238E27FC236}">
                    <a16:creationId xmlns:a16="http://schemas.microsoft.com/office/drawing/2014/main" id="{EB262C16-EFED-153D-A576-03A0B0A8FFFF}"/>
                  </a:ext>
                </a:extLst>
              </p:cNvPr>
              <p:cNvSpPr txBox="1"/>
              <p:nvPr/>
            </p:nvSpPr>
            <p:spPr>
              <a:xfrm>
                <a:off x="870012" y="337351"/>
                <a:ext cx="10608816" cy="954107"/>
              </a:xfrm>
              <a:prstGeom prst="rect">
                <a:avLst/>
              </a:prstGeom>
              <a:noFill/>
            </p:spPr>
            <p:txBody>
              <a:bodyPr wrap="square" rtlCol="0">
                <a:spAutoFit/>
              </a:bodyPr>
              <a:lstStyle/>
              <a:p>
                <a:r>
                  <a:rPr lang="en-US" sz="2800" dirty="0"/>
                  <a:t>The solution </a:t>
                </a:r>
                <a14:m>
                  <m:oMath xmlns:m="http://schemas.openxmlformats.org/officeDocument/2006/math">
                    <m:sSub>
                      <m:sSubPr>
                        <m:ctrlPr>
                          <a:rPr lang="en-US" sz="2800" i="1" smtClean="0">
                            <a:latin typeface="Cambria Math" panose="02040503050406030204" pitchFamily="18" charset="0"/>
                          </a:rPr>
                        </m:ctrlPr>
                      </m:sSubPr>
                      <m:e>
                        <m:r>
                          <a:rPr lang="en-US" sz="2800" i="1" smtClean="0">
                            <a:latin typeface="Cambria Math" panose="02040503050406030204" pitchFamily="18" charset="0"/>
                            <a:ea typeface="Cambria Math" panose="02040503050406030204" pitchFamily="18" charset="0"/>
                          </a:rPr>
                          <m:t>𝜓</m:t>
                        </m:r>
                      </m:e>
                      <m:sub>
                        <m:r>
                          <a:rPr lang="en-US" sz="2800" b="0" i="1" smtClean="0">
                            <a:latin typeface="Cambria Math" panose="02040503050406030204" pitchFamily="18" charset="0"/>
                          </a:rPr>
                          <m:t>1</m:t>
                        </m:r>
                      </m:sub>
                    </m:sSub>
                  </m:oMath>
                </a14:m>
                <a:r>
                  <a:rPr lang="en-US" sz="2800" dirty="0"/>
                  <a:t>is called the ground state solution, </a:t>
                </a:r>
                <a14:m>
                  <m:oMath xmlns:m="http://schemas.openxmlformats.org/officeDocument/2006/math">
                    <m:sSub>
                      <m:sSubPr>
                        <m:ctrlPr>
                          <a:rPr lang="en-US" sz="2800" i="1">
                            <a:solidFill>
                              <a:prstClr val="black"/>
                            </a:solidFill>
                            <a:latin typeface="Cambria Math" panose="02040503050406030204" pitchFamily="18" charset="0"/>
                          </a:rPr>
                        </m:ctrlPr>
                      </m:sSubPr>
                      <m:e>
                        <m:r>
                          <a:rPr lang="en-US" sz="2800" i="1">
                            <a:solidFill>
                              <a:prstClr val="black"/>
                            </a:solidFill>
                            <a:latin typeface="Cambria Math" panose="02040503050406030204" pitchFamily="18" charset="0"/>
                            <a:ea typeface="Cambria Math" panose="02040503050406030204" pitchFamily="18" charset="0"/>
                          </a:rPr>
                          <m:t>𝜓</m:t>
                        </m:r>
                      </m:e>
                      <m:sub>
                        <m:r>
                          <a:rPr lang="en-US" sz="2800" b="0" i="1" smtClean="0">
                            <a:solidFill>
                              <a:prstClr val="black"/>
                            </a:solidFill>
                            <a:latin typeface="Cambria Math" panose="02040503050406030204" pitchFamily="18" charset="0"/>
                            <a:ea typeface="Cambria Math" panose="02040503050406030204" pitchFamily="18" charset="0"/>
                          </a:rPr>
                          <m:t>2</m:t>
                        </m:r>
                      </m:sub>
                    </m:sSub>
                  </m:oMath>
                </a14:m>
                <a:r>
                  <a:rPr lang="en-US" sz="2800" dirty="0"/>
                  <a:t> is the 1</a:t>
                </a:r>
                <a:r>
                  <a:rPr lang="en-US" sz="2800" baseline="30000" dirty="0"/>
                  <a:t>st</a:t>
                </a:r>
                <a:r>
                  <a:rPr lang="en-US" sz="2800" dirty="0"/>
                  <a:t> excited state, </a:t>
                </a:r>
                <a14:m>
                  <m:oMath xmlns:m="http://schemas.openxmlformats.org/officeDocument/2006/math">
                    <m:sSub>
                      <m:sSubPr>
                        <m:ctrlPr>
                          <a:rPr lang="en-US" sz="2800" i="1">
                            <a:solidFill>
                              <a:prstClr val="black"/>
                            </a:solidFill>
                            <a:latin typeface="Cambria Math" panose="02040503050406030204" pitchFamily="18" charset="0"/>
                          </a:rPr>
                        </m:ctrlPr>
                      </m:sSubPr>
                      <m:e>
                        <m:r>
                          <a:rPr lang="en-US" sz="2800" i="1">
                            <a:solidFill>
                              <a:prstClr val="black"/>
                            </a:solidFill>
                            <a:latin typeface="Cambria Math" panose="02040503050406030204" pitchFamily="18" charset="0"/>
                            <a:ea typeface="Cambria Math" panose="02040503050406030204" pitchFamily="18" charset="0"/>
                          </a:rPr>
                          <m:t>𝜓</m:t>
                        </m:r>
                      </m:e>
                      <m:sub>
                        <m:r>
                          <a:rPr lang="en-US" sz="2800" b="0" i="1" smtClean="0">
                            <a:solidFill>
                              <a:prstClr val="black"/>
                            </a:solidFill>
                            <a:latin typeface="Cambria Math" panose="02040503050406030204" pitchFamily="18" charset="0"/>
                            <a:ea typeface="Cambria Math" panose="02040503050406030204" pitchFamily="18" charset="0"/>
                          </a:rPr>
                          <m:t>3</m:t>
                        </m:r>
                      </m:sub>
                    </m:sSub>
                  </m:oMath>
                </a14:m>
                <a:r>
                  <a:rPr lang="en-US" sz="2800" dirty="0"/>
                  <a:t> is the 2</a:t>
                </a:r>
                <a:r>
                  <a:rPr lang="en-US" sz="2800" baseline="30000" dirty="0"/>
                  <a:t>nd</a:t>
                </a:r>
                <a:r>
                  <a:rPr lang="en-US" sz="2800" dirty="0"/>
                  <a:t> excited state, and so on. </a:t>
                </a:r>
              </a:p>
            </p:txBody>
          </p:sp>
        </mc:Choice>
        <mc:Fallback>
          <p:sp>
            <p:nvSpPr>
              <p:cNvPr id="2" name="TextBox 1">
                <a:extLst>
                  <a:ext uri="{FF2B5EF4-FFF2-40B4-BE49-F238E27FC236}">
                    <a16:creationId xmlns:a16="http://schemas.microsoft.com/office/drawing/2014/main" xmlns="" xmlns:a14="http://schemas.microsoft.com/office/drawing/2010/main" id="{EB262C16-EFED-153D-A576-03A0B0A8FFFF}"/>
                  </a:ext>
                </a:extLst>
              </p:cNvPr>
              <p:cNvSpPr txBox="1">
                <a:spLocks noRot="1" noChangeAspect="1" noMove="1" noResize="1" noEditPoints="1" noAdjustHandles="1" noChangeArrowheads="1" noChangeShapeType="1" noTextEdit="1"/>
              </p:cNvSpPr>
              <p:nvPr/>
            </p:nvSpPr>
            <p:spPr>
              <a:xfrm>
                <a:off x="870012" y="337351"/>
                <a:ext cx="10608816" cy="954107"/>
              </a:xfrm>
              <a:prstGeom prst="rect">
                <a:avLst/>
              </a:prstGeom>
              <a:blipFill>
                <a:blip r:embed="rId2"/>
                <a:stretch>
                  <a:fillRect l="-1207" t="-5732" b="-1719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xmlns="" Requires="a14">
          <p:sp>
            <p:nvSpPr>
              <p:cNvPr id="3" name="TextBox 2">
                <a:extLst>
                  <a:ext uri="{FF2B5EF4-FFF2-40B4-BE49-F238E27FC236}">
                    <a16:creationId xmlns:a16="http://schemas.microsoft.com/office/drawing/2014/main" id="{F171E527-0D54-A539-B56B-95A382612E3F}"/>
                  </a:ext>
                </a:extLst>
              </p:cNvPr>
              <p:cNvSpPr txBox="1"/>
              <p:nvPr/>
            </p:nvSpPr>
            <p:spPr>
              <a:xfrm>
                <a:off x="4049697" y="1447060"/>
                <a:ext cx="4092605" cy="646331"/>
              </a:xfrm>
              <a:prstGeom prst="rect">
                <a:avLst/>
              </a:prstGeom>
              <a:noFill/>
            </p:spPr>
            <p:txBody>
              <a:bodyPr wrap="square" rtlCol="0">
                <a:spAutoFit/>
              </a:bodyPr>
              <a:lstStyle/>
              <a:p>
                <a:r>
                  <a:rPr lang="en-US" sz="3600" dirty="0">
                    <a:solidFill>
                      <a:srgbClr val="FF0000"/>
                    </a:solidFill>
                  </a:rPr>
                  <a:t>Properties of </a:t>
                </a:r>
                <a14:m>
                  <m:oMath xmlns:m="http://schemas.openxmlformats.org/officeDocument/2006/math">
                    <m:sSub>
                      <m:sSubPr>
                        <m:ctrlPr>
                          <a:rPr lang="en-US" sz="3600" i="1" smtClean="0">
                            <a:solidFill>
                              <a:srgbClr val="FF0000"/>
                            </a:solidFill>
                            <a:latin typeface="Cambria Math" panose="02040503050406030204" pitchFamily="18" charset="0"/>
                          </a:rPr>
                        </m:ctrlPr>
                      </m:sSubPr>
                      <m:e>
                        <m:r>
                          <a:rPr lang="en-US" sz="3600" i="1" smtClean="0">
                            <a:solidFill>
                              <a:srgbClr val="FF0000"/>
                            </a:solidFill>
                            <a:latin typeface="Cambria Math" panose="02040503050406030204" pitchFamily="18" charset="0"/>
                            <a:ea typeface="Cambria Math" panose="02040503050406030204" pitchFamily="18" charset="0"/>
                          </a:rPr>
                          <m:t>𝜓</m:t>
                        </m:r>
                      </m:e>
                      <m:sub>
                        <m:r>
                          <a:rPr lang="en-US" sz="3600" b="0" i="1" smtClean="0">
                            <a:solidFill>
                              <a:srgbClr val="FF0000"/>
                            </a:solidFill>
                            <a:latin typeface="Cambria Math" panose="02040503050406030204" pitchFamily="18" charset="0"/>
                            <a:ea typeface="Cambria Math" panose="02040503050406030204" pitchFamily="18" charset="0"/>
                          </a:rPr>
                          <m:t>𝑛</m:t>
                        </m:r>
                      </m:sub>
                    </m:sSub>
                    <m:r>
                      <a:rPr lang="en-US" sz="3600" b="0" i="1" smtClean="0">
                        <a:solidFill>
                          <a:srgbClr val="FF0000"/>
                        </a:solidFill>
                        <a:latin typeface="Cambria Math" panose="02040503050406030204" pitchFamily="18" charset="0"/>
                      </a:rPr>
                      <m:t>(</m:t>
                    </m:r>
                    <m:r>
                      <a:rPr lang="en-US" sz="3600" b="0" i="1" smtClean="0">
                        <a:solidFill>
                          <a:srgbClr val="FF0000"/>
                        </a:solidFill>
                        <a:latin typeface="Cambria Math" panose="02040503050406030204" pitchFamily="18" charset="0"/>
                      </a:rPr>
                      <m:t>𝑥</m:t>
                    </m:r>
                    <m:r>
                      <a:rPr lang="en-US" sz="3600" b="0" i="1" smtClean="0">
                        <a:solidFill>
                          <a:srgbClr val="FF0000"/>
                        </a:solidFill>
                        <a:latin typeface="Cambria Math" panose="02040503050406030204" pitchFamily="18" charset="0"/>
                      </a:rPr>
                      <m:t>)</m:t>
                    </m:r>
                  </m:oMath>
                </a14:m>
                <a:endParaRPr lang="en-US" sz="3600" dirty="0">
                  <a:solidFill>
                    <a:srgbClr val="FF0000"/>
                  </a:solidFill>
                </a:endParaRPr>
              </a:p>
            </p:txBody>
          </p:sp>
        </mc:Choice>
        <mc:Fallback>
          <p:sp>
            <p:nvSpPr>
              <p:cNvPr id="3" name="TextBox 2">
                <a:extLst>
                  <a:ext uri="{FF2B5EF4-FFF2-40B4-BE49-F238E27FC236}">
                    <a16:creationId xmlns:a16="http://schemas.microsoft.com/office/drawing/2014/main" xmlns="" xmlns:a14="http://schemas.microsoft.com/office/drawing/2010/main" id="{F171E527-0D54-A539-B56B-95A382612E3F}"/>
                  </a:ext>
                </a:extLst>
              </p:cNvPr>
              <p:cNvSpPr txBox="1">
                <a:spLocks noRot="1" noChangeAspect="1" noMove="1" noResize="1" noEditPoints="1" noAdjustHandles="1" noChangeArrowheads="1" noChangeShapeType="1" noTextEdit="1"/>
              </p:cNvSpPr>
              <p:nvPr/>
            </p:nvSpPr>
            <p:spPr>
              <a:xfrm>
                <a:off x="4049697" y="1447060"/>
                <a:ext cx="4092605" cy="646331"/>
              </a:xfrm>
              <a:prstGeom prst="rect">
                <a:avLst/>
              </a:prstGeom>
              <a:blipFill>
                <a:blip r:embed="rId3"/>
                <a:stretch>
                  <a:fillRect l="-4464" t="-14151" b="-34906"/>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xmlns="" id="{0BBFD2ED-5208-07F8-CF6F-24F7A62B137E}"/>
              </a:ext>
            </a:extLst>
          </p:cNvPr>
          <p:cNvPicPr>
            <a:picLocks noChangeAspect="1"/>
          </p:cNvPicPr>
          <p:nvPr/>
        </p:nvPicPr>
        <p:blipFill>
          <a:blip r:embed="rId4"/>
          <a:stretch>
            <a:fillRect/>
          </a:stretch>
        </p:blipFill>
        <p:spPr>
          <a:xfrm>
            <a:off x="590365" y="2248993"/>
            <a:ext cx="11011270" cy="836087"/>
          </a:xfrm>
          <a:prstGeom prst="rect">
            <a:avLst/>
          </a:prstGeom>
        </p:spPr>
      </p:pic>
      <p:pic>
        <p:nvPicPr>
          <p:cNvPr id="7" name="Picture 6">
            <a:extLst>
              <a:ext uri="{FF2B5EF4-FFF2-40B4-BE49-F238E27FC236}">
                <a16:creationId xmlns:a16="http://schemas.microsoft.com/office/drawing/2014/main" xmlns="" id="{15DE8376-9216-E0B1-8C32-FA4E47EE5CCD}"/>
              </a:ext>
            </a:extLst>
          </p:cNvPr>
          <p:cNvPicPr>
            <a:picLocks noChangeAspect="1"/>
          </p:cNvPicPr>
          <p:nvPr/>
        </p:nvPicPr>
        <p:blipFill>
          <a:blip r:embed="rId5"/>
          <a:stretch>
            <a:fillRect/>
          </a:stretch>
        </p:blipFill>
        <p:spPr>
          <a:xfrm>
            <a:off x="590365" y="3212886"/>
            <a:ext cx="11011271" cy="1120070"/>
          </a:xfrm>
          <a:prstGeom prst="rect">
            <a:avLst/>
          </a:prstGeom>
        </p:spPr>
      </p:pic>
      <p:pic>
        <p:nvPicPr>
          <p:cNvPr id="9" name="Picture 8">
            <a:extLst>
              <a:ext uri="{FF2B5EF4-FFF2-40B4-BE49-F238E27FC236}">
                <a16:creationId xmlns:a16="http://schemas.microsoft.com/office/drawing/2014/main" xmlns="" id="{19BFBC89-2B11-789E-C199-B71954322716}"/>
              </a:ext>
            </a:extLst>
          </p:cNvPr>
          <p:cNvPicPr>
            <a:picLocks noChangeAspect="1"/>
          </p:cNvPicPr>
          <p:nvPr/>
        </p:nvPicPr>
        <p:blipFill>
          <a:blip r:embed="rId6"/>
          <a:stretch>
            <a:fillRect/>
          </a:stretch>
        </p:blipFill>
        <p:spPr>
          <a:xfrm>
            <a:off x="1189608" y="4456323"/>
            <a:ext cx="6693531" cy="1505054"/>
          </a:xfrm>
          <a:prstGeom prst="rect">
            <a:avLst/>
          </a:prstGeom>
        </p:spPr>
      </p:pic>
    </p:spTree>
    <p:extLst>
      <p:ext uri="{BB962C8B-B14F-4D97-AF65-F5344CB8AC3E}">
        <p14:creationId xmlns:p14="http://schemas.microsoft.com/office/powerpoint/2010/main" xmlns="" val="419356001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075A3405-ECF4-0FBF-478F-C5200E62D4CC}"/>
              </a:ext>
            </a:extLst>
          </p:cNvPr>
          <p:cNvSpPr txBox="1"/>
          <p:nvPr/>
        </p:nvSpPr>
        <p:spPr>
          <a:xfrm>
            <a:off x="541538" y="0"/>
            <a:ext cx="1411550" cy="646331"/>
          </a:xfrm>
          <a:prstGeom prst="rect">
            <a:avLst/>
          </a:prstGeom>
          <a:noFill/>
        </p:spPr>
        <p:txBody>
          <a:bodyPr wrap="square" rtlCol="0">
            <a:spAutoFit/>
          </a:bodyPr>
          <a:lstStyle/>
          <a:p>
            <a:r>
              <a:rPr lang="en-US" sz="3600" dirty="0"/>
              <a:t>Proof:</a:t>
            </a:r>
          </a:p>
        </p:txBody>
      </p:sp>
      <p:pic>
        <p:nvPicPr>
          <p:cNvPr id="4" name="Picture 3">
            <a:extLst>
              <a:ext uri="{FF2B5EF4-FFF2-40B4-BE49-F238E27FC236}">
                <a16:creationId xmlns:a16="http://schemas.microsoft.com/office/drawing/2014/main" xmlns="" id="{B68C1C29-6970-553E-6392-44C0EB29B2C2}"/>
              </a:ext>
            </a:extLst>
          </p:cNvPr>
          <p:cNvPicPr>
            <a:picLocks noChangeAspect="1"/>
          </p:cNvPicPr>
          <p:nvPr/>
        </p:nvPicPr>
        <p:blipFill>
          <a:blip r:embed="rId2"/>
          <a:stretch>
            <a:fillRect/>
          </a:stretch>
        </p:blipFill>
        <p:spPr>
          <a:xfrm>
            <a:off x="2040301" y="0"/>
            <a:ext cx="8111398" cy="3766536"/>
          </a:xfrm>
          <a:prstGeom prst="rect">
            <a:avLst/>
          </a:prstGeom>
        </p:spPr>
      </p:pic>
      <p:sp>
        <p:nvSpPr>
          <p:cNvPr id="5" name="TextBox 4">
            <a:extLst>
              <a:ext uri="{FF2B5EF4-FFF2-40B4-BE49-F238E27FC236}">
                <a16:creationId xmlns:a16="http://schemas.microsoft.com/office/drawing/2014/main" xmlns="" id="{28FE6167-2096-A992-038E-05AFD3BF24B4}"/>
              </a:ext>
            </a:extLst>
          </p:cNvPr>
          <p:cNvSpPr txBox="1"/>
          <p:nvPr/>
        </p:nvSpPr>
        <p:spPr>
          <a:xfrm>
            <a:off x="435006" y="4296792"/>
            <a:ext cx="11523215" cy="461665"/>
          </a:xfrm>
          <a:prstGeom prst="rect">
            <a:avLst/>
          </a:prstGeom>
          <a:noFill/>
        </p:spPr>
        <p:txBody>
          <a:bodyPr wrap="square" rtlCol="0">
            <a:spAutoFit/>
          </a:bodyPr>
          <a:lstStyle/>
          <a:p>
            <a:r>
              <a:rPr lang="en-US" sz="2400" dirty="0"/>
              <a:t>The normalization and orthogonalization can be done in a single statement as follows:</a:t>
            </a:r>
          </a:p>
        </p:txBody>
      </p:sp>
      <p:pic>
        <p:nvPicPr>
          <p:cNvPr id="7" name="Picture 6">
            <a:extLst>
              <a:ext uri="{FF2B5EF4-FFF2-40B4-BE49-F238E27FC236}">
                <a16:creationId xmlns:a16="http://schemas.microsoft.com/office/drawing/2014/main" xmlns="" id="{69C1E3F6-9373-20DD-9CBB-3C16842F77CE}"/>
              </a:ext>
            </a:extLst>
          </p:cNvPr>
          <p:cNvPicPr>
            <a:picLocks noChangeAspect="1"/>
          </p:cNvPicPr>
          <p:nvPr/>
        </p:nvPicPr>
        <p:blipFill>
          <a:blip r:embed="rId3"/>
          <a:stretch>
            <a:fillRect/>
          </a:stretch>
        </p:blipFill>
        <p:spPr>
          <a:xfrm>
            <a:off x="3533312" y="4758457"/>
            <a:ext cx="3888419" cy="972105"/>
          </a:xfrm>
          <a:prstGeom prst="rect">
            <a:avLst/>
          </a:prstGeom>
        </p:spPr>
      </p:pic>
    </p:spTree>
    <p:extLst>
      <p:ext uri="{BB962C8B-B14F-4D97-AF65-F5344CB8AC3E}">
        <p14:creationId xmlns:p14="http://schemas.microsoft.com/office/powerpoint/2010/main" xmlns="" val="275542488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xmlns="" id="{B61A8402-4C12-F940-D975-F66E667CD8E6}"/>
              </a:ext>
            </a:extLst>
          </p:cNvPr>
          <p:cNvPicPr>
            <a:picLocks noChangeAspect="1"/>
          </p:cNvPicPr>
          <p:nvPr/>
        </p:nvPicPr>
        <p:blipFill>
          <a:blip r:embed="rId2"/>
          <a:stretch>
            <a:fillRect/>
          </a:stretch>
        </p:blipFill>
        <p:spPr>
          <a:xfrm>
            <a:off x="1315559" y="88268"/>
            <a:ext cx="9560881" cy="2217135"/>
          </a:xfrm>
          <a:prstGeom prst="rect">
            <a:avLst/>
          </a:prstGeom>
        </p:spPr>
      </p:pic>
      <p:pic>
        <p:nvPicPr>
          <p:cNvPr id="5" name="Picture 4">
            <a:extLst>
              <a:ext uri="{FF2B5EF4-FFF2-40B4-BE49-F238E27FC236}">
                <a16:creationId xmlns:a16="http://schemas.microsoft.com/office/drawing/2014/main" xmlns="" id="{F90D9153-0999-D127-A797-14C27C987D26}"/>
              </a:ext>
            </a:extLst>
          </p:cNvPr>
          <p:cNvPicPr>
            <a:picLocks noChangeAspect="1"/>
          </p:cNvPicPr>
          <p:nvPr/>
        </p:nvPicPr>
        <p:blipFill>
          <a:blip r:embed="rId3"/>
          <a:stretch>
            <a:fillRect/>
          </a:stretch>
        </p:blipFill>
        <p:spPr>
          <a:xfrm>
            <a:off x="514904" y="2650332"/>
            <a:ext cx="11123721" cy="891858"/>
          </a:xfrm>
          <a:prstGeom prst="rect">
            <a:avLst/>
          </a:prstGeom>
        </p:spPr>
      </p:pic>
      <p:pic>
        <p:nvPicPr>
          <p:cNvPr id="7" name="Picture 6">
            <a:extLst>
              <a:ext uri="{FF2B5EF4-FFF2-40B4-BE49-F238E27FC236}">
                <a16:creationId xmlns:a16="http://schemas.microsoft.com/office/drawing/2014/main" xmlns="" id="{EBAEA4F6-5E05-2060-A382-503FA43FB8C0}"/>
              </a:ext>
            </a:extLst>
          </p:cNvPr>
          <p:cNvPicPr>
            <a:picLocks noChangeAspect="1"/>
          </p:cNvPicPr>
          <p:nvPr/>
        </p:nvPicPr>
        <p:blipFill>
          <a:blip r:embed="rId4"/>
          <a:stretch>
            <a:fillRect/>
          </a:stretch>
        </p:blipFill>
        <p:spPr>
          <a:xfrm>
            <a:off x="3373515" y="3429000"/>
            <a:ext cx="6417354" cy="1083896"/>
          </a:xfrm>
          <a:prstGeom prst="rect">
            <a:avLst/>
          </a:prstGeom>
        </p:spPr>
      </p:pic>
    </p:spTree>
    <p:extLst>
      <p:ext uri="{BB962C8B-B14F-4D97-AF65-F5344CB8AC3E}">
        <p14:creationId xmlns:p14="http://schemas.microsoft.com/office/powerpoint/2010/main" xmlns="" val="17346297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xmlns="" Requires="a14">
          <p:sp>
            <p:nvSpPr>
              <p:cNvPr id="4" name="TextBox 3">
                <a:extLst>
                  <a:ext uri="{FF2B5EF4-FFF2-40B4-BE49-F238E27FC236}">
                    <a16:creationId xmlns:a16="http://schemas.microsoft.com/office/drawing/2014/main" id="{63A669E5-43CD-27FA-11DB-9F53149F472B}"/>
                  </a:ext>
                </a:extLst>
              </p:cNvPr>
              <p:cNvSpPr txBox="1"/>
              <p:nvPr/>
            </p:nvSpPr>
            <p:spPr>
              <a:xfrm>
                <a:off x="425585" y="315519"/>
                <a:ext cx="10711543" cy="830997"/>
              </a:xfrm>
              <a:prstGeom prst="rect">
                <a:avLst/>
              </a:prstGeom>
              <a:noFill/>
            </p:spPr>
            <p:txBody>
              <a:bodyPr wrap="square" rtlCol="0">
                <a:spAutoFit/>
              </a:bodyPr>
              <a:lstStyle/>
              <a:p>
                <a:r>
                  <a:rPr lang="en-US" sz="2400" dirty="0"/>
                  <a:t>The coefficients </a:t>
                </a:r>
                <a14:m>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𝐶</m:t>
                        </m:r>
                      </m:e>
                      <m:sub>
                        <m:r>
                          <a:rPr lang="en-US" sz="2400" b="0" i="1" smtClean="0">
                            <a:latin typeface="Cambria Math" panose="02040503050406030204" pitchFamily="18" charset="0"/>
                          </a:rPr>
                          <m:t>𝑛</m:t>
                        </m:r>
                      </m:sub>
                    </m:sSub>
                  </m:oMath>
                </a14:m>
                <a:r>
                  <a:rPr lang="en-US" sz="2400" dirty="0"/>
                  <a:t> can be evaluated for a given </a:t>
                </a:r>
                <a14:m>
                  <m:oMath xmlns:m="http://schemas.openxmlformats.org/officeDocument/2006/math">
                    <m:r>
                      <a:rPr lang="en-US" sz="2400" b="0" i="1" smtClean="0">
                        <a:latin typeface="Cambria Math" panose="02040503050406030204" pitchFamily="18" charset="0"/>
                      </a:rPr>
                      <m:t>𝑓</m:t>
                    </m:r>
                    <m:r>
                      <a:rPr lang="en-US" sz="2400" b="0" i="1" smtClean="0">
                        <a:latin typeface="Cambria Math" panose="02040503050406030204" pitchFamily="18" charset="0"/>
                      </a:rPr>
                      <m:t>(</m:t>
                    </m:r>
                    <m:r>
                      <a:rPr lang="en-US" sz="2400" b="0" i="1" smtClean="0">
                        <a:latin typeface="Cambria Math" panose="02040503050406030204" pitchFamily="18" charset="0"/>
                      </a:rPr>
                      <m:t>𝑥</m:t>
                    </m:r>
                    <m:r>
                      <a:rPr lang="en-US" sz="2400" b="0" i="1" smtClean="0">
                        <a:latin typeface="Cambria Math" panose="02040503050406030204" pitchFamily="18" charset="0"/>
                      </a:rPr>
                      <m:t>)</m:t>
                    </m:r>
                  </m:oMath>
                </a14:m>
                <a:r>
                  <a:rPr lang="en-US" sz="2400" dirty="0"/>
                  <a:t> by multiplying both side of the above equation by </a:t>
                </a:r>
                <a14:m>
                  <m:oMath xmlns:m="http://schemas.openxmlformats.org/officeDocument/2006/math">
                    <m:sSub>
                      <m:sSubPr>
                        <m:ctrlPr>
                          <a:rPr lang="en-US" sz="2400" i="1" smtClean="0">
                            <a:latin typeface="Cambria Math" panose="02040503050406030204" pitchFamily="18" charset="0"/>
                          </a:rPr>
                        </m:ctrlPr>
                      </m:sSubPr>
                      <m:e>
                        <m:r>
                          <a:rPr lang="en-US" sz="2400" i="1" smtClean="0">
                            <a:latin typeface="Cambria Math" panose="02040503050406030204" pitchFamily="18" charset="0"/>
                            <a:ea typeface="Cambria Math" panose="02040503050406030204" pitchFamily="18" charset="0"/>
                          </a:rPr>
                          <m:t>𝜓</m:t>
                        </m:r>
                      </m:e>
                      <m:sub>
                        <m:r>
                          <a:rPr lang="en-US" sz="2400" b="0" i="1" smtClean="0">
                            <a:latin typeface="Cambria Math" panose="02040503050406030204" pitchFamily="18" charset="0"/>
                          </a:rPr>
                          <m:t>𝑚</m:t>
                        </m:r>
                      </m:sub>
                    </m:sSub>
                    <m:sSup>
                      <m:sSupPr>
                        <m:ctrlPr>
                          <a:rPr lang="en-US" sz="2400" i="1" smtClean="0">
                            <a:latin typeface="Cambria Math" panose="02040503050406030204" pitchFamily="18" charset="0"/>
                          </a:rPr>
                        </m:ctrlPr>
                      </m:sSupPr>
                      <m:e>
                        <m:r>
                          <a:rPr lang="en-US" sz="2400" b="0" i="1" smtClean="0">
                            <a:latin typeface="Cambria Math" panose="02040503050406030204" pitchFamily="18" charset="0"/>
                          </a:rPr>
                          <m:t>(</m:t>
                        </m:r>
                        <m:r>
                          <a:rPr lang="en-US" sz="2400" b="0" i="1" smtClean="0">
                            <a:latin typeface="Cambria Math" panose="02040503050406030204" pitchFamily="18" charset="0"/>
                          </a:rPr>
                          <m:t>𝑥</m:t>
                        </m:r>
                        <m:r>
                          <a:rPr lang="en-US" sz="2400" b="0" i="1" smtClean="0">
                            <a:latin typeface="Cambria Math" panose="02040503050406030204" pitchFamily="18" charset="0"/>
                          </a:rPr>
                          <m:t>)</m:t>
                        </m:r>
                      </m:e>
                      <m:sup>
                        <m:r>
                          <a:rPr lang="en-US" sz="2400" b="0" i="1" smtClean="0">
                            <a:latin typeface="Cambria Math" panose="02040503050406030204" pitchFamily="18" charset="0"/>
                          </a:rPr>
                          <m:t>∗</m:t>
                        </m:r>
                      </m:sup>
                    </m:sSup>
                  </m:oMath>
                </a14:m>
                <a:r>
                  <a:rPr lang="en-US" sz="2400" dirty="0"/>
                  <a:t> and integrating </a:t>
                </a:r>
              </a:p>
            </p:txBody>
          </p:sp>
        </mc:Choice>
        <mc:Fallback>
          <p:sp>
            <p:nvSpPr>
              <p:cNvPr id="4" name="TextBox 3">
                <a:extLst>
                  <a:ext uri="{FF2B5EF4-FFF2-40B4-BE49-F238E27FC236}">
                    <a16:creationId xmlns:a16="http://schemas.microsoft.com/office/drawing/2014/main" xmlns="" xmlns:a14="http://schemas.microsoft.com/office/drawing/2010/main" id="{63A669E5-43CD-27FA-11DB-9F53149F472B}"/>
                  </a:ext>
                </a:extLst>
              </p:cNvPr>
              <p:cNvSpPr txBox="1">
                <a:spLocks noRot="1" noChangeAspect="1" noMove="1" noResize="1" noEditPoints="1" noAdjustHandles="1" noChangeArrowheads="1" noChangeShapeType="1" noTextEdit="1"/>
              </p:cNvSpPr>
              <p:nvPr/>
            </p:nvSpPr>
            <p:spPr>
              <a:xfrm>
                <a:off x="425585" y="315519"/>
                <a:ext cx="10711543" cy="830997"/>
              </a:xfrm>
              <a:prstGeom prst="rect">
                <a:avLst/>
              </a:prstGeom>
              <a:blipFill>
                <a:blip r:embed="rId2"/>
                <a:stretch>
                  <a:fillRect l="-911" t="-5882" r="-171" b="-16176"/>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xmlns="" id="{CFE89915-3672-325B-ABD3-D525094C83B7}"/>
              </a:ext>
            </a:extLst>
          </p:cNvPr>
          <p:cNvPicPr>
            <a:picLocks noChangeAspect="1"/>
          </p:cNvPicPr>
          <p:nvPr/>
        </p:nvPicPr>
        <p:blipFill>
          <a:blip r:embed="rId3"/>
          <a:stretch>
            <a:fillRect/>
          </a:stretch>
        </p:blipFill>
        <p:spPr>
          <a:xfrm>
            <a:off x="985421" y="1146516"/>
            <a:ext cx="8952298" cy="1034853"/>
          </a:xfrm>
          <a:prstGeom prst="rect">
            <a:avLst/>
          </a:prstGeom>
        </p:spPr>
      </p:pic>
      <p:pic>
        <p:nvPicPr>
          <p:cNvPr id="8" name="Picture 7">
            <a:extLst>
              <a:ext uri="{FF2B5EF4-FFF2-40B4-BE49-F238E27FC236}">
                <a16:creationId xmlns:a16="http://schemas.microsoft.com/office/drawing/2014/main" xmlns="" id="{CFE5F05C-FDD5-F6E2-87F9-2C0DD2CF266A}"/>
              </a:ext>
            </a:extLst>
          </p:cNvPr>
          <p:cNvPicPr>
            <a:picLocks noChangeAspect="1"/>
          </p:cNvPicPr>
          <p:nvPr/>
        </p:nvPicPr>
        <p:blipFill>
          <a:blip r:embed="rId4"/>
          <a:stretch>
            <a:fillRect/>
          </a:stretch>
        </p:blipFill>
        <p:spPr>
          <a:xfrm>
            <a:off x="2769447" y="2360119"/>
            <a:ext cx="3126249" cy="844719"/>
          </a:xfrm>
          <a:prstGeom prst="rect">
            <a:avLst/>
          </a:prstGeom>
        </p:spPr>
      </p:pic>
      <p:sp>
        <p:nvSpPr>
          <p:cNvPr id="9" name="TextBox 8">
            <a:extLst>
              <a:ext uri="{FF2B5EF4-FFF2-40B4-BE49-F238E27FC236}">
                <a16:creationId xmlns:a16="http://schemas.microsoft.com/office/drawing/2014/main" xmlns="" id="{9A8B5B65-CDD0-D0A6-F3DF-A04CC270A340}"/>
              </a:ext>
            </a:extLst>
          </p:cNvPr>
          <p:cNvSpPr txBox="1"/>
          <p:nvPr/>
        </p:nvSpPr>
        <p:spPr>
          <a:xfrm>
            <a:off x="648071" y="2459115"/>
            <a:ext cx="1926454" cy="461665"/>
          </a:xfrm>
          <a:prstGeom prst="rect">
            <a:avLst/>
          </a:prstGeom>
          <a:noFill/>
        </p:spPr>
        <p:txBody>
          <a:bodyPr wrap="square" rtlCol="0">
            <a:spAutoFit/>
          </a:bodyPr>
          <a:lstStyle/>
          <a:p>
            <a:r>
              <a:rPr lang="en-US" sz="2400" dirty="0"/>
              <a:t>Which gives</a:t>
            </a:r>
          </a:p>
        </p:txBody>
      </p:sp>
      <p:pic>
        <p:nvPicPr>
          <p:cNvPr id="11" name="Picture 10">
            <a:extLst>
              <a:ext uri="{FF2B5EF4-FFF2-40B4-BE49-F238E27FC236}">
                <a16:creationId xmlns:a16="http://schemas.microsoft.com/office/drawing/2014/main" xmlns="" id="{E80FD21C-F93C-85DD-A48C-9E819D67FB01}"/>
              </a:ext>
            </a:extLst>
          </p:cNvPr>
          <p:cNvPicPr>
            <a:picLocks noChangeAspect="1"/>
          </p:cNvPicPr>
          <p:nvPr/>
        </p:nvPicPr>
        <p:blipFill>
          <a:blip r:embed="rId5"/>
          <a:stretch>
            <a:fillRect/>
          </a:stretch>
        </p:blipFill>
        <p:spPr>
          <a:xfrm>
            <a:off x="3062796" y="3868470"/>
            <a:ext cx="5215938" cy="838142"/>
          </a:xfrm>
          <a:prstGeom prst="rect">
            <a:avLst/>
          </a:prstGeom>
        </p:spPr>
      </p:pic>
      <p:sp>
        <p:nvSpPr>
          <p:cNvPr id="12" name="TextBox 11">
            <a:extLst>
              <a:ext uri="{FF2B5EF4-FFF2-40B4-BE49-F238E27FC236}">
                <a16:creationId xmlns:a16="http://schemas.microsoft.com/office/drawing/2014/main" xmlns="" id="{34C73C28-2B86-77EB-B8A6-3CC26F2D3586}"/>
              </a:ext>
            </a:extLst>
          </p:cNvPr>
          <p:cNvSpPr txBox="1"/>
          <p:nvPr/>
        </p:nvSpPr>
        <p:spPr>
          <a:xfrm>
            <a:off x="745724" y="3429000"/>
            <a:ext cx="8952298" cy="461665"/>
          </a:xfrm>
          <a:prstGeom prst="rect">
            <a:avLst/>
          </a:prstGeom>
          <a:noFill/>
        </p:spPr>
        <p:txBody>
          <a:bodyPr wrap="square" rtlCol="0">
            <a:spAutoFit/>
          </a:bodyPr>
          <a:lstStyle/>
          <a:p>
            <a:r>
              <a:rPr lang="en-US" sz="2400" dirty="0"/>
              <a:t>The stationary states of the infinite square well can now be written as:</a:t>
            </a:r>
          </a:p>
        </p:txBody>
      </p:sp>
      <p:sp>
        <p:nvSpPr>
          <p:cNvPr id="15" name="TextBox 14">
            <a:extLst>
              <a:ext uri="{FF2B5EF4-FFF2-40B4-BE49-F238E27FC236}">
                <a16:creationId xmlns:a16="http://schemas.microsoft.com/office/drawing/2014/main" xmlns="" id="{6DA116D4-890E-71CB-BC57-B2EC24371BC3}"/>
              </a:ext>
            </a:extLst>
          </p:cNvPr>
          <p:cNvSpPr txBox="1"/>
          <p:nvPr/>
        </p:nvSpPr>
        <p:spPr>
          <a:xfrm>
            <a:off x="745724" y="4900474"/>
            <a:ext cx="10120544" cy="830997"/>
          </a:xfrm>
          <a:prstGeom prst="rect">
            <a:avLst/>
          </a:prstGeom>
          <a:noFill/>
        </p:spPr>
        <p:txBody>
          <a:bodyPr wrap="square" rtlCol="0">
            <a:spAutoFit/>
          </a:bodyPr>
          <a:lstStyle/>
          <a:p>
            <a:r>
              <a:rPr lang="en-US" sz="2400" dirty="0"/>
              <a:t>The most general solution to the time-dependent Schrodinger equation is a linear combination of stationary states:</a:t>
            </a:r>
          </a:p>
        </p:txBody>
      </p:sp>
      <p:pic>
        <p:nvPicPr>
          <p:cNvPr id="17" name="Picture 16">
            <a:extLst>
              <a:ext uri="{FF2B5EF4-FFF2-40B4-BE49-F238E27FC236}">
                <a16:creationId xmlns:a16="http://schemas.microsoft.com/office/drawing/2014/main" xmlns="" id="{377627C2-4898-2245-98F1-A16F933B7570}"/>
              </a:ext>
            </a:extLst>
          </p:cNvPr>
          <p:cNvPicPr>
            <a:picLocks noChangeAspect="1"/>
          </p:cNvPicPr>
          <p:nvPr/>
        </p:nvPicPr>
        <p:blipFill>
          <a:blip r:embed="rId6"/>
          <a:stretch>
            <a:fillRect/>
          </a:stretch>
        </p:blipFill>
        <p:spPr>
          <a:xfrm>
            <a:off x="5362113" y="5649686"/>
            <a:ext cx="5410107" cy="960084"/>
          </a:xfrm>
          <a:prstGeom prst="rect">
            <a:avLst/>
          </a:prstGeom>
        </p:spPr>
      </p:pic>
    </p:spTree>
    <p:extLst>
      <p:ext uri="{BB962C8B-B14F-4D97-AF65-F5344CB8AC3E}">
        <p14:creationId xmlns:p14="http://schemas.microsoft.com/office/powerpoint/2010/main" xmlns="" val="149451959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9C768077-F715-9473-85AD-6C377BFFB79D}"/>
              </a:ext>
            </a:extLst>
          </p:cNvPr>
          <p:cNvSpPr txBox="1"/>
          <p:nvPr/>
        </p:nvSpPr>
        <p:spPr>
          <a:xfrm>
            <a:off x="5202316" y="-88777"/>
            <a:ext cx="1606858" cy="584775"/>
          </a:xfrm>
          <a:prstGeom prst="rect">
            <a:avLst/>
          </a:prstGeom>
          <a:noFill/>
        </p:spPr>
        <p:txBody>
          <a:bodyPr wrap="square" rtlCol="0">
            <a:spAutoFit/>
          </a:bodyPr>
          <a:lstStyle/>
          <a:p>
            <a:r>
              <a:rPr lang="en-US" sz="3200" dirty="0">
                <a:solidFill>
                  <a:srgbClr val="FF0000"/>
                </a:solidFill>
              </a:rPr>
              <a:t>Problem</a:t>
            </a:r>
          </a:p>
        </p:txBody>
      </p:sp>
      <mc:AlternateContent xmlns:mc="http://schemas.openxmlformats.org/markup-compatibility/2006">
        <mc:Choice xmlns:a14="http://schemas.microsoft.com/office/drawing/2010/main" xmlns="" Requires="a14">
          <p:sp>
            <p:nvSpPr>
              <p:cNvPr id="5" name="TextBox 4">
                <a:extLst>
                  <a:ext uri="{FF2B5EF4-FFF2-40B4-BE49-F238E27FC236}">
                    <a16:creationId xmlns:a16="http://schemas.microsoft.com/office/drawing/2014/main" id="{691BAA47-435E-FDCE-0A90-549FA4756B12}"/>
                  </a:ext>
                </a:extLst>
              </p:cNvPr>
              <p:cNvSpPr txBox="1"/>
              <p:nvPr/>
            </p:nvSpPr>
            <p:spPr>
              <a:xfrm>
                <a:off x="648070" y="495998"/>
                <a:ext cx="11301274" cy="1200329"/>
              </a:xfrm>
              <a:prstGeom prst="rect">
                <a:avLst/>
              </a:prstGeom>
              <a:noFill/>
            </p:spPr>
            <p:txBody>
              <a:bodyPr wrap="square" rtlCol="0">
                <a:spAutoFit/>
              </a:bodyPr>
              <a:lstStyle/>
              <a:p>
                <a:r>
                  <a:rPr lang="en-US" sz="2400" dirty="0"/>
                  <a:t>A particle in the infinite square well has the initial wave function</a:t>
                </a:r>
              </a:p>
              <a:p>
                <a:pPr algn="ctr"/>
                <a:r>
                  <a:rPr lang="en-US" sz="2400" dirty="0"/>
                  <a:t/>
                </a:r>
                <a14:m>
                  <m:oMath xmlns:m="http://schemas.openxmlformats.org/officeDocument/2006/math">
                    <m:r>
                      <m:rPr>
                        <m:sty m:val="p"/>
                      </m:rPr>
                      <a:rPr lang="el-GR" sz="2400" i="1" smtClean="0">
                        <a:latin typeface="Cambria Math" panose="02040503050406030204" pitchFamily="18" charset="0"/>
                        <a:ea typeface="Cambria Math" panose="02040503050406030204" pitchFamily="18" charset="0"/>
                      </a:rPr>
                      <m:t>Ψ</m:t>
                    </m:r>
                    <m:d>
                      <m:dPr>
                        <m:ctrlPr>
                          <a:rPr lang="en-US" sz="2400" b="0" i="1" smtClean="0">
                            <a:latin typeface="Cambria Math" panose="02040503050406030204" pitchFamily="18" charset="0"/>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𝑥</m:t>
                        </m:r>
                        <m:r>
                          <a:rPr lang="en-US" sz="2400" b="0" i="1" smtClean="0">
                            <a:latin typeface="Cambria Math" panose="02040503050406030204" pitchFamily="18" charset="0"/>
                            <a:ea typeface="Cambria Math" panose="02040503050406030204" pitchFamily="18" charset="0"/>
                          </a:rPr>
                          <m:t>,0</m:t>
                        </m:r>
                      </m:e>
                    </m:d>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𝐴𝑥</m:t>
                    </m:r>
                    <m:d>
                      <m:dPr>
                        <m:ctrlPr>
                          <a:rPr lang="en-US" sz="2400" b="0" i="1" smtClean="0">
                            <a:latin typeface="Cambria Math" panose="02040503050406030204" pitchFamily="18" charset="0"/>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𝑎</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𝑥</m:t>
                        </m:r>
                      </m:e>
                    </m:d>
                    <m:r>
                      <a:rPr lang="en-US" sz="2400" b="0" i="1" smtClean="0">
                        <a:latin typeface="Cambria Math" panose="02040503050406030204" pitchFamily="18" charset="0"/>
                        <a:ea typeface="Cambria Math" panose="02040503050406030204" pitchFamily="18" charset="0"/>
                      </a:rPr>
                      <m:t>,           (0≤</m:t>
                    </m:r>
                    <m:r>
                      <a:rPr lang="en-US" sz="2400" b="0" i="1" smtClean="0">
                        <a:latin typeface="Cambria Math" panose="02040503050406030204" pitchFamily="18" charset="0"/>
                        <a:ea typeface="Cambria Math" panose="02040503050406030204" pitchFamily="18" charset="0"/>
                      </a:rPr>
                      <m:t>𝑥</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𝑎</m:t>
                    </m:r>
                    <m:r>
                      <a:rPr lang="en-US" sz="2400" b="0" i="1" smtClean="0">
                        <a:latin typeface="Cambria Math" panose="02040503050406030204" pitchFamily="18" charset="0"/>
                        <a:ea typeface="Cambria Math" panose="02040503050406030204" pitchFamily="18" charset="0"/>
                      </a:rPr>
                      <m:t>)</m:t>
                    </m:r>
                  </m:oMath>
                </a14:m>
                <a:r>
                  <a:rPr lang="en-US" sz="2400" dirty="0"/>
                  <a:t/>
                </a:r>
              </a:p>
              <a:p>
                <a:r>
                  <a:rPr lang="en-US" sz="2400" dirty="0"/>
                  <a:t>for some constant A. Outside the well</a:t>
                </a:r>
                <a:r>
                  <a:rPr lang="el-GR" sz="2400" dirty="0">
                    <a:solidFill>
                      <a:prstClr val="black"/>
                    </a:solidFill>
                    <a:ea typeface="Cambria Math" panose="02040503050406030204" pitchFamily="18" charset="0"/>
                  </a:rPr>
                  <a:t/>
                </a:r>
                <a14:m>
                  <m:oMath xmlns:m="http://schemas.openxmlformats.org/officeDocument/2006/math">
                    <m:r>
                      <m:rPr>
                        <m:sty m:val="p"/>
                      </m:rPr>
                      <a:rPr lang="el-GR" sz="2400" i="1">
                        <a:solidFill>
                          <a:prstClr val="black"/>
                        </a:solidFill>
                        <a:latin typeface="Cambria Math" panose="02040503050406030204" pitchFamily="18" charset="0"/>
                        <a:ea typeface="Cambria Math" panose="02040503050406030204" pitchFamily="18" charset="0"/>
                      </a:rPr>
                      <m:t>Ψ</m:t>
                    </m:r>
                    <m:r>
                      <a:rPr lang="en-US" sz="2400" b="0" i="1" smtClean="0">
                        <a:solidFill>
                          <a:prstClr val="black"/>
                        </a:solidFill>
                        <a:latin typeface="Cambria Math" panose="02040503050406030204" pitchFamily="18" charset="0"/>
                        <a:ea typeface="Cambria Math" panose="02040503050406030204" pitchFamily="18" charset="0"/>
                      </a:rPr>
                      <m:t>=0</m:t>
                    </m:r>
                  </m:oMath>
                </a14:m>
                <a:r>
                  <a:rPr lang="en-US" sz="2400" dirty="0"/>
                  <a:t> ,  Sketch the wave function. Find </a:t>
                </a:r>
                <a14:m>
                  <m:oMath xmlns:m="http://schemas.openxmlformats.org/officeDocument/2006/math">
                    <m:r>
                      <m:rPr>
                        <m:sty m:val="p"/>
                      </m:rPr>
                      <a:rPr lang="el-GR" sz="2400" i="1">
                        <a:solidFill>
                          <a:prstClr val="black"/>
                        </a:solidFill>
                        <a:latin typeface="Cambria Math" panose="02040503050406030204" pitchFamily="18" charset="0"/>
                        <a:ea typeface="Cambria Math" panose="02040503050406030204" pitchFamily="18" charset="0"/>
                      </a:rPr>
                      <m:t>Ψ</m:t>
                    </m:r>
                    <m:d>
                      <m:dPr>
                        <m:ctrlPr>
                          <a:rPr lang="en-US" sz="2400" i="1">
                            <a:solidFill>
                              <a:prstClr val="black"/>
                            </a:solidFill>
                            <a:latin typeface="Cambria Math" panose="02040503050406030204" pitchFamily="18" charset="0"/>
                            <a:ea typeface="Cambria Math" panose="02040503050406030204" pitchFamily="18" charset="0"/>
                          </a:rPr>
                        </m:ctrlPr>
                      </m:dPr>
                      <m:e>
                        <m:r>
                          <a:rPr lang="en-US" sz="2400" i="1">
                            <a:solidFill>
                              <a:prstClr val="black"/>
                            </a:solidFill>
                            <a:latin typeface="Cambria Math" panose="02040503050406030204" pitchFamily="18" charset="0"/>
                            <a:ea typeface="Cambria Math" panose="02040503050406030204" pitchFamily="18" charset="0"/>
                          </a:rPr>
                          <m:t>𝑥</m:t>
                        </m:r>
                        <m:r>
                          <a:rPr lang="en-US" sz="2400" i="1">
                            <a:solidFill>
                              <a:prstClr val="black"/>
                            </a:solidFill>
                            <a:latin typeface="Cambria Math" panose="02040503050406030204" pitchFamily="18" charset="0"/>
                            <a:ea typeface="Cambria Math" panose="02040503050406030204" pitchFamily="18" charset="0"/>
                          </a:rPr>
                          <m:t>,</m:t>
                        </m:r>
                        <m:r>
                          <a:rPr lang="en-US" sz="2400" b="0" i="1" smtClean="0">
                            <a:solidFill>
                              <a:prstClr val="black"/>
                            </a:solidFill>
                            <a:latin typeface="Cambria Math" panose="02040503050406030204" pitchFamily="18" charset="0"/>
                            <a:ea typeface="Cambria Math" panose="02040503050406030204" pitchFamily="18" charset="0"/>
                          </a:rPr>
                          <m:t>𝑡</m:t>
                        </m:r>
                      </m:e>
                    </m:d>
                  </m:oMath>
                </a14:m>
                <a:endParaRPr lang="en-US" sz="2400" dirty="0"/>
              </a:p>
            </p:txBody>
          </p:sp>
        </mc:Choice>
        <mc:Fallback>
          <p:sp>
            <p:nvSpPr>
              <p:cNvPr id="5" name="TextBox 4">
                <a:extLst>
                  <a:ext uri="{FF2B5EF4-FFF2-40B4-BE49-F238E27FC236}">
                    <a16:creationId xmlns:a16="http://schemas.microsoft.com/office/drawing/2014/main" xmlns="" xmlns:a14="http://schemas.microsoft.com/office/drawing/2010/main" id="{691BAA47-435E-FDCE-0A90-549FA4756B12}"/>
                  </a:ext>
                </a:extLst>
              </p:cNvPr>
              <p:cNvSpPr txBox="1">
                <a:spLocks noRot="1" noChangeAspect="1" noMove="1" noResize="1" noEditPoints="1" noAdjustHandles="1" noChangeArrowheads="1" noChangeShapeType="1" noTextEdit="1"/>
              </p:cNvSpPr>
              <p:nvPr/>
            </p:nvSpPr>
            <p:spPr>
              <a:xfrm>
                <a:off x="648070" y="495998"/>
                <a:ext cx="11301274" cy="1200329"/>
              </a:xfrm>
              <a:prstGeom prst="rect">
                <a:avLst/>
              </a:prstGeom>
              <a:blipFill>
                <a:blip r:embed="rId2"/>
                <a:stretch>
                  <a:fillRect l="-809" t="-4061" b="-10660"/>
                </a:stretch>
              </a:blipFill>
            </p:spPr>
            <p:txBody>
              <a:bodyPr/>
              <a:lstStyle/>
              <a:p>
                <a:r>
                  <a:rPr lang="en-US">
                    <a:noFill/>
                  </a:rPr>
                  <a:t> </a:t>
                </a:r>
              </a:p>
            </p:txBody>
          </p:sp>
        </mc:Fallback>
      </mc:AlternateContent>
      <p:pic>
        <p:nvPicPr>
          <p:cNvPr id="7" name="Picture 6">
            <a:extLst>
              <a:ext uri="{FF2B5EF4-FFF2-40B4-BE49-F238E27FC236}">
                <a16:creationId xmlns:a16="http://schemas.microsoft.com/office/drawing/2014/main" xmlns="" id="{AF092B9C-C03F-6CDC-2304-C8578AF44315}"/>
              </a:ext>
            </a:extLst>
          </p:cNvPr>
          <p:cNvPicPr>
            <a:picLocks noChangeAspect="1"/>
          </p:cNvPicPr>
          <p:nvPr/>
        </p:nvPicPr>
        <p:blipFill>
          <a:blip r:embed="rId3"/>
          <a:stretch>
            <a:fillRect/>
          </a:stretch>
        </p:blipFill>
        <p:spPr>
          <a:xfrm>
            <a:off x="2449237" y="1911520"/>
            <a:ext cx="4513676" cy="2909056"/>
          </a:xfrm>
          <a:prstGeom prst="rect">
            <a:avLst/>
          </a:prstGeom>
        </p:spPr>
      </p:pic>
      <p:pic>
        <p:nvPicPr>
          <p:cNvPr id="9" name="Picture 8">
            <a:extLst>
              <a:ext uri="{FF2B5EF4-FFF2-40B4-BE49-F238E27FC236}">
                <a16:creationId xmlns:a16="http://schemas.microsoft.com/office/drawing/2014/main" xmlns="" id="{8B19B6A5-995B-876B-D3B9-FA6ACF58965E}"/>
              </a:ext>
            </a:extLst>
          </p:cNvPr>
          <p:cNvPicPr>
            <a:picLocks noChangeAspect="1"/>
          </p:cNvPicPr>
          <p:nvPr/>
        </p:nvPicPr>
        <p:blipFill>
          <a:blip r:embed="rId4"/>
          <a:stretch>
            <a:fillRect/>
          </a:stretch>
        </p:blipFill>
        <p:spPr>
          <a:xfrm>
            <a:off x="1876377" y="5035769"/>
            <a:ext cx="7866386" cy="1584481"/>
          </a:xfrm>
          <a:prstGeom prst="rect">
            <a:avLst/>
          </a:prstGeom>
        </p:spPr>
      </p:pic>
    </p:spTree>
    <p:extLst>
      <p:ext uri="{BB962C8B-B14F-4D97-AF65-F5344CB8AC3E}">
        <p14:creationId xmlns:p14="http://schemas.microsoft.com/office/powerpoint/2010/main" xmlns="" val="216189634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3DFB4E36-9391-00AA-005E-C961FC4B8D27}"/>
              </a:ext>
            </a:extLst>
          </p:cNvPr>
          <p:cNvSpPr txBox="1"/>
          <p:nvPr/>
        </p:nvSpPr>
        <p:spPr>
          <a:xfrm>
            <a:off x="821094" y="391886"/>
            <a:ext cx="867747" cy="461665"/>
          </a:xfrm>
          <a:prstGeom prst="rect">
            <a:avLst/>
          </a:prstGeom>
          <a:noFill/>
        </p:spPr>
        <p:txBody>
          <a:bodyPr wrap="square" rtlCol="0">
            <a:spAutoFit/>
          </a:bodyPr>
          <a:lstStyle/>
          <a:p>
            <a:r>
              <a:rPr lang="en-US" sz="2400" dirty="0"/>
              <a:t>So,</a:t>
            </a:r>
          </a:p>
        </p:txBody>
      </p:sp>
      <p:pic>
        <p:nvPicPr>
          <p:cNvPr id="4" name="Picture 3">
            <a:extLst>
              <a:ext uri="{FF2B5EF4-FFF2-40B4-BE49-F238E27FC236}">
                <a16:creationId xmlns:a16="http://schemas.microsoft.com/office/drawing/2014/main" xmlns="" id="{1722C6C5-825F-7F79-4914-482DA704E780}"/>
              </a:ext>
            </a:extLst>
          </p:cNvPr>
          <p:cNvPicPr>
            <a:picLocks noChangeAspect="1"/>
          </p:cNvPicPr>
          <p:nvPr/>
        </p:nvPicPr>
        <p:blipFill>
          <a:blip r:embed="rId2"/>
          <a:stretch>
            <a:fillRect/>
          </a:stretch>
        </p:blipFill>
        <p:spPr>
          <a:xfrm>
            <a:off x="1602605" y="267037"/>
            <a:ext cx="1081987" cy="711362"/>
          </a:xfrm>
          <a:prstGeom prst="rect">
            <a:avLst/>
          </a:prstGeom>
        </p:spPr>
      </p:pic>
      <mc:AlternateContent xmlns:mc="http://schemas.openxmlformats.org/markup-compatibility/2006">
        <mc:Choice xmlns:a14="http://schemas.microsoft.com/office/drawing/2010/main" xmlns="" Requires="a14">
          <p:sp>
            <p:nvSpPr>
              <p:cNvPr id="5" name="TextBox 4">
                <a:extLst>
                  <a:ext uri="{FF2B5EF4-FFF2-40B4-BE49-F238E27FC236}">
                    <a16:creationId xmlns:a16="http://schemas.microsoft.com/office/drawing/2014/main" id="{FC9D216F-80DB-0F3D-37FF-56AB6882A423}"/>
                  </a:ext>
                </a:extLst>
              </p:cNvPr>
              <p:cNvSpPr txBox="1"/>
              <p:nvPr/>
            </p:nvSpPr>
            <p:spPr>
              <a:xfrm>
                <a:off x="3554963" y="391886"/>
                <a:ext cx="7240555" cy="369332"/>
              </a:xfrm>
              <a:prstGeom prst="rect">
                <a:avLst/>
              </a:prstGeom>
              <a:noFill/>
            </p:spPr>
            <p:txBody>
              <a:bodyPr wrap="square" rtlCol="0">
                <a:spAutoFit/>
              </a:bodyPr>
              <a:lstStyle/>
              <a:p>
                <a:r>
                  <a:rPr lang="en-US" dirty="0"/>
                  <a:t>Now we need to find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𝑛</m:t>
                        </m:r>
                      </m:sub>
                    </m:sSub>
                  </m:oMath>
                </a14:m>
                <a:r>
                  <a:rPr lang="en-US" dirty="0"/>
                  <a:t> for the wave function </a:t>
                </a:r>
              </a:p>
            </p:txBody>
          </p:sp>
        </mc:Choice>
        <mc:Fallback>
          <p:sp>
            <p:nvSpPr>
              <p:cNvPr id="5" name="TextBox 4">
                <a:extLst>
                  <a:ext uri="{FF2B5EF4-FFF2-40B4-BE49-F238E27FC236}">
                    <a16:creationId xmlns:a16="http://schemas.microsoft.com/office/drawing/2014/main" xmlns="" xmlns:a14="http://schemas.microsoft.com/office/drawing/2010/main" id="{FC9D216F-80DB-0F3D-37FF-56AB6882A423}"/>
                  </a:ext>
                </a:extLst>
              </p:cNvPr>
              <p:cNvSpPr txBox="1">
                <a:spLocks noRot="1" noChangeAspect="1" noMove="1" noResize="1" noEditPoints="1" noAdjustHandles="1" noChangeArrowheads="1" noChangeShapeType="1" noTextEdit="1"/>
              </p:cNvSpPr>
              <p:nvPr/>
            </p:nvSpPr>
            <p:spPr>
              <a:xfrm>
                <a:off x="3554963" y="391886"/>
                <a:ext cx="7240555" cy="369332"/>
              </a:xfrm>
              <a:prstGeom prst="rect">
                <a:avLst/>
              </a:prstGeom>
              <a:blipFill>
                <a:blip r:embed="rId3"/>
                <a:stretch>
                  <a:fillRect l="-673" t="-8197" b="-24590"/>
                </a:stretch>
              </a:blipFill>
            </p:spPr>
            <p:txBody>
              <a:bodyPr/>
              <a:lstStyle/>
              <a:p>
                <a:r>
                  <a:rPr lang="en-US">
                    <a:noFill/>
                  </a:rPr>
                  <a:t> </a:t>
                </a:r>
              </a:p>
            </p:txBody>
          </p:sp>
        </mc:Fallback>
      </mc:AlternateContent>
      <p:pic>
        <p:nvPicPr>
          <p:cNvPr id="7" name="Picture 6">
            <a:extLst>
              <a:ext uri="{FF2B5EF4-FFF2-40B4-BE49-F238E27FC236}">
                <a16:creationId xmlns:a16="http://schemas.microsoft.com/office/drawing/2014/main" xmlns="" id="{E0061AB9-B5F4-96F8-08C0-99649C2CA83F}"/>
              </a:ext>
            </a:extLst>
          </p:cNvPr>
          <p:cNvPicPr>
            <a:picLocks noChangeAspect="1"/>
          </p:cNvPicPr>
          <p:nvPr/>
        </p:nvPicPr>
        <p:blipFill>
          <a:blip r:embed="rId4"/>
          <a:stretch>
            <a:fillRect/>
          </a:stretch>
        </p:blipFill>
        <p:spPr>
          <a:xfrm>
            <a:off x="727223" y="978399"/>
            <a:ext cx="7591425" cy="5800725"/>
          </a:xfrm>
          <a:prstGeom prst="rect">
            <a:avLst/>
          </a:prstGeom>
        </p:spPr>
      </p:pic>
      <p:pic>
        <p:nvPicPr>
          <p:cNvPr id="9" name="Picture 8">
            <a:extLst>
              <a:ext uri="{FF2B5EF4-FFF2-40B4-BE49-F238E27FC236}">
                <a16:creationId xmlns:a16="http://schemas.microsoft.com/office/drawing/2014/main" xmlns="" id="{ED96B4AE-21FD-C56E-7A45-B43E244C1DE9}"/>
              </a:ext>
            </a:extLst>
          </p:cNvPr>
          <p:cNvPicPr>
            <a:picLocks noChangeAspect="1"/>
          </p:cNvPicPr>
          <p:nvPr/>
        </p:nvPicPr>
        <p:blipFill>
          <a:blip r:embed="rId5"/>
          <a:stretch>
            <a:fillRect/>
          </a:stretch>
        </p:blipFill>
        <p:spPr>
          <a:xfrm>
            <a:off x="5776404" y="5740900"/>
            <a:ext cx="5833599" cy="942018"/>
          </a:xfrm>
          <a:prstGeom prst="rect">
            <a:avLst/>
          </a:prstGeom>
        </p:spPr>
      </p:pic>
    </p:spTree>
    <p:extLst>
      <p:ext uri="{BB962C8B-B14F-4D97-AF65-F5344CB8AC3E}">
        <p14:creationId xmlns:p14="http://schemas.microsoft.com/office/powerpoint/2010/main" xmlns="" val="353202791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BBDF5418-61E3-8610-0D1D-E3CE536B63E5}"/>
              </a:ext>
            </a:extLst>
          </p:cNvPr>
          <p:cNvSpPr txBox="1"/>
          <p:nvPr/>
        </p:nvSpPr>
        <p:spPr>
          <a:xfrm>
            <a:off x="3098307" y="0"/>
            <a:ext cx="6560598" cy="646331"/>
          </a:xfrm>
          <a:prstGeom prst="rect">
            <a:avLst/>
          </a:prstGeom>
          <a:noFill/>
        </p:spPr>
        <p:txBody>
          <a:bodyPr wrap="square" rtlCol="0">
            <a:spAutoFit/>
          </a:bodyPr>
          <a:lstStyle/>
          <a:p>
            <a:r>
              <a:rPr lang="en-US" sz="3600" dirty="0"/>
              <a:t>The Harmonic Oscillator Potential</a:t>
            </a:r>
          </a:p>
        </p:txBody>
      </p:sp>
      <p:sp>
        <p:nvSpPr>
          <p:cNvPr id="3" name="TextBox 2">
            <a:extLst>
              <a:ext uri="{FF2B5EF4-FFF2-40B4-BE49-F238E27FC236}">
                <a16:creationId xmlns:a16="http://schemas.microsoft.com/office/drawing/2014/main" xmlns="" id="{53375C04-BC84-434E-C230-24E51A54EEA5}"/>
              </a:ext>
            </a:extLst>
          </p:cNvPr>
          <p:cNvSpPr txBox="1"/>
          <p:nvPr/>
        </p:nvSpPr>
        <p:spPr>
          <a:xfrm>
            <a:off x="816745" y="1145219"/>
            <a:ext cx="10417311" cy="954107"/>
          </a:xfrm>
          <a:prstGeom prst="rect">
            <a:avLst/>
          </a:prstGeom>
          <a:noFill/>
        </p:spPr>
        <p:txBody>
          <a:bodyPr wrap="square" rtlCol="0">
            <a:spAutoFit/>
          </a:bodyPr>
          <a:lstStyle/>
          <a:p>
            <a:r>
              <a:rPr lang="en-US" sz="2800" dirty="0"/>
              <a:t>For the quantum harmonic oscillator, the potential is of the type </a:t>
            </a:r>
          </a:p>
          <a:p>
            <a:endParaRPr lang="en-US" sz="2800" dirty="0"/>
          </a:p>
        </p:txBody>
      </p:sp>
      <p:pic>
        <p:nvPicPr>
          <p:cNvPr id="7" name="Picture 6">
            <a:extLst>
              <a:ext uri="{FF2B5EF4-FFF2-40B4-BE49-F238E27FC236}">
                <a16:creationId xmlns:a16="http://schemas.microsoft.com/office/drawing/2014/main" xmlns="" id="{C16B678F-8AB3-1BCE-70E7-079471A071FC}"/>
              </a:ext>
            </a:extLst>
          </p:cNvPr>
          <p:cNvPicPr>
            <a:picLocks noChangeAspect="1"/>
          </p:cNvPicPr>
          <p:nvPr/>
        </p:nvPicPr>
        <p:blipFill>
          <a:blip r:embed="rId2"/>
          <a:stretch>
            <a:fillRect/>
          </a:stretch>
        </p:blipFill>
        <p:spPr>
          <a:xfrm>
            <a:off x="4649037" y="1622272"/>
            <a:ext cx="2752725" cy="876300"/>
          </a:xfrm>
          <a:prstGeom prst="rect">
            <a:avLst/>
          </a:prstGeom>
        </p:spPr>
      </p:pic>
      <p:sp>
        <p:nvSpPr>
          <p:cNvPr id="8" name="TextBox 7">
            <a:extLst>
              <a:ext uri="{FF2B5EF4-FFF2-40B4-BE49-F238E27FC236}">
                <a16:creationId xmlns:a16="http://schemas.microsoft.com/office/drawing/2014/main" xmlns="" id="{2B0223CD-7841-5C55-4C05-BF8A33E890AB}"/>
              </a:ext>
            </a:extLst>
          </p:cNvPr>
          <p:cNvSpPr txBox="1"/>
          <p:nvPr/>
        </p:nvSpPr>
        <p:spPr>
          <a:xfrm>
            <a:off x="2215042" y="2438372"/>
            <a:ext cx="1035698" cy="461665"/>
          </a:xfrm>
          <a:prstGeom prst="rect">
            <a:avLst/>
          </a:prstGeom>
          <a:noFill/>
        </p:spPr>
        <p:txBody>
          <a:bodyPr wrap="square" rtlCol="0">
            <a:spAutoFit/>
          </a:bodyPr>
          <a:lstStyle/>
          <a:p>
            <a:r>
              <a:rPr lang="en-US" sz="2400" dirty="0"/>
              <a:t>Where </a:t>
            </a:r>
          </a:p>
        </p:txBody>
      </p:sp>
      <p:pic>
        <p:nvPicPr>
          <p:cNvPr id="10" name="Picture 9">
            <a:extLst>
              <a:ext uri="{FF2B5EF4-FFF2-40B4-BE49-F238E27FC236}">
                <a16:creationId xmlns:a16="http://schemas.microsoft.com/office/drawing/2014/main" xmlns="" id="{5A9EEFF6-3A89-FE3A-0AEF-3360DC1E50D9}"/>
              </a:ext>
            </a:extLst>
          </p:cNvPr>
          <p:cNvPicPr>
            <a:picLocks noChangeAspect="1"/>
          </p:cNvPicPr>
          <p:nvPr/>
        </p:nvPicPr>
        <p:blipFill>
          <a:blip r:embed="rId3"/>
          <a:stretch>
            <a:fillRect/>
          </a:stretch>
        </p:blipFill>
        <p:spPr>
          <a:xfrm>
            <a:off x="4935893" y="2669205"/>
            <a:ext cx="1522639" cy="1043607"/>
          </a:xfrm>
          <a:prstGeom prst="rect">
            <a:avLst/>
          </a:prstGeom>
        </p:spPr>
      </p:pic>
      <p:sp>
        <p:nvSpPr>
          <p:cNvPr id="11" name="TextBox 10">
            <a:extLst>
              <a:ext uri="{FF2B5EF4-FFF2-40B4-BE49-F238E27FC236}">
                <a16:creationId xmlns:a16="http://schemas.microsoft.com/office/drawing/2014/main" xmlns="" id="{9EA72E04-C483-A1C8-AAC2-7CA966469DDC}"/>
              </a:ext>
            </a:extLst>
          </p:cNvPr>
          <p:cNvSpPr txBox="1"/>
          <p:nvPr/>
        </p:nvSpPr>
        <p:spPr>
          <a:xfrm>
            <a:off x="1073020" y="4030824"/>
            <a:ext cx="7268547" cy="461665"/>
          </a:xfrm>
          <a:prstGeom prst="rect">
            <a:avLst/>
          </a:prstGeom>
          <a:noFill/>
        </p:spPr>
        <p:txBody>
          <a:bodyPr wrap="square" rtlCol="0">
            <a:spAutoFit/>
          </a:bodyPr>
          <a:lstStyle/>
          <a:p>
            <a:r>
              <a:rPr lang="en-US" sz="2400" dirty="0"/>
              <a:t>We need to solve the Schrodinger equation of the form</a:t>
            </a:r>
          </a:p>
        </p:txBody>
      </p:sp>
      <p:pic>
        <p:nvPicPr>
          <p:cNvPr id="13" name="Picture 12">
            <a:extLst>
              <a:ext uri="{FF2B5EF4-FFF2-40B4-BE49-F238E27FC236}">
                <a16:creationId xmlns:a16="http://schemas.microsoft.com/office/drawing/2014/main" xmlns="" id="{A2D85797-8958-17C8-8232-9CDBA290BC8F}"/>
              </a:ext>
            </a:extLst>
          </p:cNvPr>
          <p:cNvPicPr>
            <a:picLocks noChangeAspect="1"/>
          </p:cNvPicPr>
          <p:nvPr/>
        </p:nvPicPr>
        <p:blipFill>
          <a:blip r:embed="rId4"/>
          <a:stretch>
            <a:fillRect/>
          </a:stretch>
        </p:blipFill>
        <p:spPr>
          <a:xfrm>
            <a:off x="4237604" y="4775003"/>
            <a:ext cx="4441856" cy="940121"/>
          </a:xfrm>
          <a:prstGeom prst="rect">
            <a:avLst/>
          </a:prstGeom>
        </p:spPr>
      </p:pic>
      <p:sp>
        <p:nvSpPr>
          <p:cNvPr id="14" name="TextBox 13">
            <a:extLst>
              <a:ext uri="{FF2B5EF4-FFF2-40B4-BE49-F238E27FC236}">
                <a16:creationId xmlns:a16="http://schemas.microsoft.com/office/drawing/2014/main" xmlns="" id="{792F7D3E-C9B1-4FCD-7517-BACFB93DBC8F}"/>
              </a:ext>
            </a:extLst>
          </p:cNvPr>
          <p:cNvSpPr txBox="1"/>
          <p:nvPr/>
        </p:nvSpPr>
        <p:spPr>
          <a:xfrm>
            <a:off x="9582539" y="5131838"/>
            <a:ext cx="559837" cy="461665"/>
          </a:xfrm>
          <a:prstGeom prst="rect">
            <a:avLst/>
          </a:prstGeom>
          <a:noFill/>
        </p:spPr>
        <p:txBody>
          <a:bodyPr wrap="square" rtlCol="0">
            <a:spAutoFit/>
          </a:bodyPr>
          <a:lstStyle/>
          <a:p>
            <a:r>
              <a:rPr lang="en-US" sz="2400" dirty="0"/>
              <a:t>(1)</a:t>
            </a:r>
          </a:p>
        </p:txBody>
      </p:sp>
    </p:spTree>
    <p:extLst>
      <p:ext uri="{BB962C8B-B14F-4D97-AF65-F5344CB8AC3E}">
        <p14:creationId xmlns:p14="http://schemas.microsoft.com/office/powerpoint/2010/main" xmlns="" val="159365217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A62CDC34-A044-7572-C99B-3A3A06600DF4}"/>
              </a:ext>
            </a:extLst>
          </p:cNvPr>
          <p:cNvSpPr txBox="1"/>
          <p:nvPr/>
        </p:nvSpPr>
        <p:spPr>
          <a:xfrm>
            <a:off x="1156996" y="205274"/>
            <a:ext cx="4021494" cy="461665"/>
          </a:xfrm>
          <a:prstGeom prst="rect">
            <a:avLst/>
          </a:prstGeom>
          <a:noFill/>
        </p:spPr>
        <p:txBody>
          <a:bodyPr wrap="square" rtlCol="0">
            <a:spAutoFit/>
          </a:bodyPr>
          <a:lstStyle/>
          <a:p>
            <a:r>
              <a:rPr lang="en-US" sz="2400" dirty="0"/>
              <a:t>Let us rewrite equation (1) as</a:t>
            </a:r>
          </a:p>
        </p:txBody>
      </p:sp>
      <p:pic>
        <p:nvPicPr>
          <p:cNvPr id="4" name="Picture 3">
            <a:extLst>
              <a:ext uri="{FF2B5EF4-FFF2-40B4-BE49-F238E27FC236}">
                <a16:creationId xmlns:a16="http://schemas.microsoft.com/office/drawing/2014/main" xmlns="" id="{DF483E31-4D39-E928-B936-5EEF39E04608}"/>
              </a:ext>
            </a:extLst>
          </p:cNvPr>
          <p:cNvPicPr>
            <a:picLocks noChangeAspect="1"/>
          </p:cNvPicPr>
          <p:nvPr/>
        </p:nvPicPr>
        <p:blipFill>
          <a:blip r:embed="rId2"/>
          <a:stretch>
            <a:fillRect/>
          </a:stretch>
        </p:blipFill>
        <p:spPr>
          <a:xfrm>
            <a:off x="3933825" y="740423"/>
            <a:ext cx="4324350" cy="1047750"/>
          </a:xfrm>
          <a:prstGeom prst="rect">
            <a:avLst/>
          </a:prstGeom>
        </p:spPr>
      </p:pic>
      <p:sp>
        <p:nvSpPr>
          <p:cNvPr id="5" name="TextBox 4">
            <a:extLst>
              <a:ext uri="{FF2B5EF4-FFF2-40B4-BE49-F238E27FC236}">
                <a16:creationId xmlns:a16="http://schemas.microsoft.com/office/drawing/2014/main" xmlns="" id="{A443267E-0CEC-B8E3-A27F-1A9155E9A0CC}"/>
              </a:ext>
            </a:extLst>
          </p:cNvPr>
          <p:cNvSpPr txBox="1"/>
          <p:nvPr/>
        </p:nvSpPr>
        <p:spPr>
          <a:xfrm>
            <a:off x="9311951" y="1017037"/>
            <a:ext cx="709127" cy="461665"/>
          </a:xfrm>
          <a:prstGeom prst="rect">
            <a:avLst/>
          </a:prstGeom>
          <a:noFill/>
        </p:spPr>
        <p:txBody>
          <a:bodyPr wrap="square" rtlCol="0">
            <a:spAutoFit/>
          </a:bodyPr>
          <a:lstStyle/>
          <a:p>
            <a:r>
              <a:rPr lang="en-US" sz="2400" dirty="0"/>
              <a:t>(2)</a:t>
            </a:r>
          </a:p>
        </p:txBody>
      </p:sp>
      <p:pic>
        <p:nvPicPr>
          <p:cNvPr id="7" name="Picture 6">
            <a:extLst>
              <a:ext uri="{FF2B5EF4-FFF2-40B4-BE49-F238E27FC236}">
                <a16:creationId xmlns:a16="http://schemas.microsoft.com/office/drawing/2014/main" xmlns="" id="{B8A7B44E-2620-FFCB-7237-E9D6F50AE7DC}"/>
              </a:ext>
            </a:extLst>
          </p:cNvPr>
          <p:cNvPicPr>
            <a:picLocks noChangeAspect="1"/>
          </p:cNvPicPr>
          <p:nvPr/>
        </p:nvPicPr>
        <p:blipFill>
          <a:blip r:embed="rId3"/>
          <a:stretch>
            <a:fillRect/>
          </a:stretch>
        </p:blipFill>
        <p:spPr>
          <a:xfrm>
            <a:off x="1300162" y="1861657"/>
            <a:ext cx="9591675" cy="447675"/>
          </a:xfrm>
          <a:prstGeom prst="rect">
            <a:avLst/>
          </a:prstGeom>
        </p:spPr>
      </p:pic>
      <p:sp>
        <p:nvSpPr>
          <p:cNvPr id="8" name="TextBox 7">
            <a:extLst>
              <a:ext uri="{FF2B5EF4-FFF2-40B4-BE49-F238E27FC236}">
                <a16:creationId xmlns:a16="http://schemas.microsoft.com/office/drawing/2014/main" xmlns="" id="{64D499FB-91DA-AB81-35C3-8838C53F63C4}"/>
              </a:ext>
            </a:extLst>
          </p:cNvPr>
          <p:cNvSpPr txBox="1"/>
          <p:nvPr/>
        </p:nvSpPr>
        <p:spPr>
          <a:xfrm>
            <a:off x="1300161" y="2489240"/>
            <a:ext cx="6845463" cy="461665"/>
          </a:xfrm>
          <a:prstGeom prst="rect">
            <a:avLst/>
          </a:prstGeom>
          <a:noFill/>
        </p:spPr>
        <p:txBody>
          <a:bodyPr wrap="square" rtlCol="0">
            <a:spAutoFit/>
          </a:bodyPr>
          <a:lstStyle/>
          <a:p>
            <a:r>
              <a:rPr lang="en-US" sz="2400" dirty="0"/>
              <a:t>So the Hamiltonian operator H can be written as </a:t>
            </a:r>
          </a:p>
        </p:txBody>
      </p:sp>
      <p:pic>
        <p:nvPicPr>
          <p:cNvPr id="10" name="Picture 9">
            <a:extLst>
              <a:ext uri="{FF2B5EF4-FFF2-40B4-BE49-F238E27FC236}">
                <a16:creationId xmlns:a16="http://schemas.microsoft.com/office/drawing/2014/main" xmlns="" id="{08CABB64-8B04-C367-3918-9CC40888BF4B}"/>
              </a:ext>
            </a:extLst>
          </p:cNvPr>
          <p:cNvPicPr>
            <a:picLocks noChangeAspect="1"/>
          </p:cNvPicPr>
          <p:nvPr/>
        </p:nvPicPr>
        <p:blipFill>
          <a:blip r:embed="rId4"/>
          <a:stretch>
            <a:fillRect/>
          </a:stretch>
        </p:blipFill>
        <p:spPr>
          <a:xfrm>
            <a:off x="4086806" y="2974579"/>
            <a:ext cx="3690451" cy="908842"/>
          </a:xfrm>
          <a:prstGeom prst="rect">
            <a:avLst/>
          </a:prstGeom>
        </p:spPr>
      </p:pic>
      <p:sp>
        <p:nvSpPr>
          <p:cNvPr id="11" name="TextBox 10">
            <a:extLst>
              <a:ext uri="{FF2B5EF4-FFF2-40B4-BE49-F238E27FC236}">
                <a16:creationId xmlns:a16="http://schemas.microsoft.com/office/drawing/2014/main" xmlns="" id="{E9BB97A9-F1AE-DB04-52FF-F6D6CFF82D42}"/>
              </a:ext>
            </a:extLst>
          </p:cNvPr>
          <p:cNvSpPr txBox="1"/>
          <p:nvPr/>
        </p:nvSpPr>
        <p:spPr>
          <a:xfrm>
            <a:off x="1300161" y="4450702"/>
            <a:ext cx="8972843" cy="461665"/>
          </a:xfrm>
          <a:prstGeom prst="rect">
            <a:avLst/>
          </a:prstGeom>
          <a:noFill/>
        </p:spPr>
        <p:txBody>
          <a:bodyPr wrap="square" rtlCol="0">
            <a:spAutoFit/>
          </a:bodyPr>
          <a:lstStyle/>
          <a:p>
            <a:r>
              <a:rPr lang="en-US" sz="2400" dirty="0"/>
              <a:t>Let us define  the quantity</a:t>
            </a:r>
          </a:p>
        </p:txBody>
      </p:sp>
      <p:pic>
        <p:nvPicPr>
          <p:cNvPr id="13" name="Picture 12">
            <a:extLst>
              <a:ext uri="{FF2B5EF4-FFF2-40B4-BE49-F238E27FC236}">
                <a16:creationId xmlns:a16="http://schemas.microsoft.com/office/drawing/2014/main" xmlns="" id="{24A0B229-9775-72F0-5D2D-B3BA2009BA33}"/>
              </a:ext>
            </a:extLst>
          </p:cNvPr>
          <p:cNvPicPr>
            <a:picLocks noChangeAspect="1"/>
          </p:cNvPicPr>
          <p:nvPr/>
        </p:nvPicPr>
        <p:blipFill>
          <a:blip r:embed="rId5"/>
          <a:stretch>
            <a:fillRect/>
          </a:stretch>
        </p:blipFill>
        <p:spPr>
          <a:xfrm>
            <a:off x="4951445" y="4288713"/>
            <a:ext cx="4419600" cy="714375"/>
          </a:xfrm>
          <a:prstGeom prst="rect">
            <a:avLst/>
          </a:prstGeom>
        </p:spPr>
      </p:pic>
      <p:sp>
        <p:nvSpPr>
          <p:cNvPr id="14" name="TextBox 13">
            <a:extLst>
              <a:ext uri="{FF2B5EF4-FFF2-40B4-BE49-F238E27FC236}">
                <a16:creationId xmlns:a16="http://schemas.microsoft.com/office/drawing/2014/main" xmlns="" id="{02F5E597-2CBD-49BF-9DEB-16606B93684A}"/>
              </a:ext>
            </a:extLst>
          </p:cNvPr>
          <p:cNvSpPr txBox="1"/>
          <p:nvPr/>
        </p:nvSpPr>
        <p:spPr>
          <a:xfrm>
            <a:off x="9815804" y="4450702"/>
            <a:ext cx="522514" cy="461665"/>
          </a:xfrm>
          <a:prstGeom prst="rect">
            <a:avLst/>
          </a:prstGeom>
          <a:noFill/>
        </p:spPr>
        <p:txBody>
          <a:bodyPr wrap="square" rtlCol="0">
            <a:spAutoFit/>
          </a:bodyPr>
          <a:lstStyle/>
          <a:p>
            <a:r>
              <a:rPr lang="en-US" sz="2400" dirty="0"/>
              <a:t>(3)</a:t>
            </a:r>
          </a:p>
        </p:txBody>
      </p:sp>
    </p:spTree>
    <p:extLst>
      <p:ext uri="{BB962C8B-B14F-4D97-AF65-F5344CB8AC3E}">
        <p14:creationId xmlns:p14="http://schemas.microsoft.com/office/powerpoint/2010/main" xmlns="" val="198923729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xmlns="" id="{BD9D5750-5F2E-1F15-E76B-065F666BA709}"/>
              </a:ext>
            </a:extLst>
          </p:cNvPr>
          <p:cNvPicPr>
            <a:picLocks noChangeAspect="1"/>
          </p:cNvPicPr>
          <p:nvPr/>
        </p:nvPicPr>
        <p:blipFill>
          <a:blip r:embed="rId2"/>
          <a:stretch>
            <a:fillRect/>
          </a:stretch>
        </p:blipFill>
        <p:spPr>
          <a:xfrm>
            <a:off x="2239347" y="114300"/>
            <a:ext cx="7275739" cy="1940197"/>
          </a:xfrm>
          <a:prstGeom prst="rect">
            <a:avLst/>
          </a:prstGeom>
        </p:spPr>
      </p:pic>
      <p:sp>
        <p:nvSpPr>
          <p:cNvPr id="4" name="TextBox 3">
            <a:extLst>
              <a:ext uri="{FF2B5EF4-FFF2-40B4-BE49-F238E27FC236}">
                <a16:creationId xmlns:a16="http://schemas.microsoft.com/office/drawing/2014/main" xmlns="" id="{209B1FF4-1D47-22D9-8A8B-3FE05E03ADF8}"/>
              </a:ext>
            </a:extLst>
          </p:cNvPr>
          <p:cNvSpPr txBox="1"/>
          <p:nvPr/>
        </p:nvSpPr>
        <p:spPr>
          <a:xfrm>
            <a:off x="1847461" y="2164702"/>
            <a:ext cx="9759820" cy="830997"/>
          </a:xfrm>
          <a:prstGeom prst="rect">
            <a:avLst/>
          </a:prstGeom>
          <a:noFill/>
        </p:spPr>
        <p:txBody>
          <a:bodyPr wrap="square" rtlCol="0">
            <a:spAutoFit/>
          </a:bodyPr>
          <a:lstStyle/>
          <a:p>
            <a:r>
              <a:rPr lang="en-US" sz="2400" dirty="0"/>
              <a:t>Here the term (</a:t>
            </a:r>
            <a:r>
              <a:rPr lang="en-US" sz="2400" dirty="0" err="1"/>
              <a:t>xp-px</a:t>
            </a:r>
            <a:r>
              <a:rPr lang="en-US" sz="2400" dirty="0"/>
              <a:t>) is called the commutation of x and p the position and momentum operator.</a:t>
            </a:r>
          </a:p>
        </p:txBody>
      </p:sp>
      <p:pic>
        <p:nvPicPr>
          <p:cNvPr id="6" name="Picture 5">
            <a:extLst>
              <a:ext uri="{FF2B5EF4-FFF2-40B4-BE49-F238E27FC236}">
                <a16:creationId xmlns:a16="http://schemas.microsoft.com/office/drawing/2014/main" xmlns="" id="{4DCE7F1C-4FC4-A1AC-079D-723118347BD9}"/>
              </a:ext>
            </a:extLst>
          </p:cNvPr>
          <p:cNvPicPr>
            <a:picLocks noChangeAspect="1"/>
          </p:cNvPicPr>
          <p:nvPr/>
        </p:nvPicPr>
        <p:blipFill>
          <a:blip r:embed="rId3"/>
          <a:stretch>
            <a:fillRect/>
          </a:stretch>
        </p:blipFill>
        <p:spPr>
          <a:xfrm>
            <a:off x="4698789" y="2677246"/>
            <a:ext cx="2794422" cy="636905"/>
          </a:xfrm>
          <a:prstGeom prst="rect">
            <a:avLst/>
          </a:prstGeom>
        </p:spPr>
      </p:pic>
      <p:sp>
        <p:nvSpPr>
          <p:cNvPr id="7" name="TextBox 6">
            <a:extLst>
              <a:ext uri="{FF2B5EF4-FFF2-40B4-BE49-F238E27FC236}">
                <a16:creationId xmlns:a16="http://schemas.microsoft.com/office/drawing/2014/main" xmlns="" id="{4E555E65-6E2C-2844-2E33-BFBA92982F03}"/>
              </a:ext>
            </a:extLst>
          </p:cNvPr>
          <p:cNvSpPr txBox="1"/>
          <p:nvPr/>
        </p:nvSpPr>
        <p:spPr>
          <a:xfrm>
            <a:off x="1847461" y="3429000"/>
            <a:ext cx="7343192" cy="461665"/>
          </a:xfrm>
          <a:prstGeom prst="rect">
            <a:avLst/>
          </a:prstGeom>
          <a:noFill/>
        </p:spPr>
        <p:txBody>
          <a:bodyPr wrap="square" rtlCol="0">
            <a:spAutoFit/>
          </a:bodyPr>
          <a:lstStyle/>
          <a:p>
            <a:r>
              <a:rPr lang="en-US" sz="2400" dirty="0"/>
              <a:t>In the commutation relation we can write</a:t>
            </a:r>
          </a:p>
        </p:txBody>
      </p:sp>
      <p:pic>
        <p:nvPicPr>
          <p:cNvPr id="9" name="Picture 8">
            <a:extLst>
              <a:ext uri="{FF2B5EF4-FFF2-40B4-BE49-F238E27FC236}">
                <a16:creationId xmlns:a16="http://schemas.microsoft.com/office/drawing/2014/main" xmlns="" id="{2D1CDE45-F520-4840-2BAE-27D36F4060EA}"/>
              </a:ext>
            </a:extLst>
          </p:cNvPr>
          <p:cNvPicPr>
            <a:picLocks noChangeAspect="1"/>
          </p:cNvPicPr>
          <p:nvPr/>
        </p:nvPicPr>
        <p:blipFill>
          <a:blip r:embed="rId4"/>
          <a:stretch>
            <a:fillRect/>
          </a:stretch>
        </p:blipFill>
        <p:spPr>
          <a:xfrm>
            <a:off x="2413032" y="4143667"/>
            <a:ext cx="6479041" cy="813386"/>
          </a:xfrm>
          <a:prstGeom prst="rect">
            <a:avLst/>
          </a:prstGeom>
        </p:spPr>
      </p:pic>
      <p:sp>
        <p:nvSpPr>
          <p:cNvPr id="10" name="TextBox 9">
            <a:extLst>
              <a:ext uri="{FF2B5EF4-FFF2-40B4-BE49-F238E27FC236}">
                <a16:creationId xmlns:a16="http://schemas.microsoft.com/office/drawing/2014/main" xmlns="" id="{0427E379-1577-87CB-4BB2-2E4B7A4B3C68}"/>
              </a:ext>
            </a:extLst>
          </p:cNvPr>
          <p:cNvSpPr txBox="1"/>
          <p:nvPr/>
        </p:nvSpPr>
        <p:spPr>
          <a:xfrm>
            <a:off x="9927772" y="4327170"/>
            <a:ext cx="625151" cy="461665"/>
          </a:xfrm>
          <a:prstGeom prst="rect">
            <a:avLst/>
          </a:prstGeom>
          <a:noFill/>
        </p:spPr>
        <p:txBody>
          <a:bodyPr wrap="square" rtlCol="0">
            <a:spAutoFit/>
          </a:bodyPr>
          <a:lstStyle/>
          <a:p>
            <a:r>
              <a:rPr lang="en-US" sz="2400" dirty="0"/>
              <a:t>(3)</a:t>
            </a:r>
          </a:p>
        </p:txBody>
      </p:sp>
    </p:spTree>
    <p:extLst>
      <p:ext uri="{BB962C8B-B14F-4D97-AF65-F5344CB8AC3E}">
        <p14:creationId xmlns:p14="http://schemas.microsoft.com/office/powerpoint/2010/main" xmlns="" val="186242315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xmlns="" id="{8EF1BB61-5BA0-ED7E-67BB-0C179CDB9324}"/>
              </a:ext>
            </a:extLst>
          </p:cNvPr>
          <p:cNvPicPr>
            <a:picLocks noChangeAspect="1"/>
          </p:cNvPicPr>
          <p:nvPr/>
        </p:nvPicPr>
        <p:blipFill>
          <a:blip r:embed="rId2"/>
          <a:stretch>
            <a:fillRect/>
          </a:stretch>
        </p:blipFill>
        <p:spPr>
          <a:xfrm>
            <a:off x="724279" y="317398"/>
            <a:ext cx="10743441" cy="1376089"/>
          </a:xfrm>
          <a:prstGeom prst="rect">
            <a:avLst/>
          </a:prstGeom>
        </p:spPr>
      </p:pic>
      <p:sp>
        <p:nvSpPr>
          <p:cNvPr id="3" name="TextBox 2">
            <a:extLst>
              <a:ext uri="{FF2B5EF4-FFF2-40B4-BE49-F238E27FC236}">
                <a16:creationId xmlns:a16="http://schemas.microsoft.com/office/drawing/2014/main" xmlns="" id="{F27015FB-EA3D-CB8E-90BF-531424155B69}"/>
              </a:ext>
            </a:extLst>
          </p:cNvPr>
          <p:cNvSpPr txBox="1"/>
          <p:nvPr/>
        </p:nvSpPr>
        <p:spPr>
          <a:xfrm>
            <a:off x="1669002" y="2032986"/>
            <a:ext cx="5140171" cy="461665"/>
          </a:xfrm>
          <a:prstGeom prst="rect">
            <a:avLst/>
          </a:prstGeom>
          <a:noFill/>
        </p:spPr>
        <p:txBody>
          <a:bodyPr wrap="square" rtlCol="0">
            <a:spAutoFit/>
          </a:bodyPr>
          <a:lstStyle/>
          <a:p>
            <a:r>
              <a:rPr lang="en-US" sz="2400" dirty="0"/>
              <a:t>Which give </a:t>
            </a:r>
          </a:p>
        </p:txBody>
      </p:sp>
      <p:pic>
        <p:nvPicPr>
          <p:cNvPr id="5" name="Picture 4">
            <a:extLst>
              <a:ext uri="{FF2B5EF4-FFF2-40B4-BE49-F238E27FC236}">
                <a16:creationId xmlns:a16="http://schemas.microsoft.com/office/drawing/2014/main" xmlns="" id="{E5A7B458-31D5-F086-C80A-BDC225C531D0}"/>
              </a:ext>
            </a:extLst>
          </p:cNvPr>
          <p:cNvPicPr>
            <a:picLocks noChangeAspect="1"/>
          </p:cNvPicPr>
          <p:nvPr/>
        </p:nvPicPr>
        <p:blipFill>
          <a:blip r:embed="rId3"/>
          <a:stretch>
            <a:fillRect/>
          </a:stretch>
        </p:blipFill>
        <p:spPr>
          <a:xfrm>
            <a:off x="3382393" y="1992275"/>
            <a:ext cx="1443267" cy="543085"/>
          </a:xfrm>
          <a:prstGeom prst="rect">
            <a:avLst/>
          </a:prstGeom>
        </p:spPr>
      </p:pic>
      <p:sp>
        <p:nvSpPr>
          <p:cNvPr id="6" name="TextBox 5">
            <a:extLst>
              <a:ext uri="{FF2B5EF4-FFF2-40B4-BE49-F238E27FC236}">
                <a16:creationId xmlns:a16="http://schemas.microsoft.com/office/drawing/2014/main" xmlns="" id="{DEF94ED6-7125-CB43-FFFB-A0F01A7BD3A4}"/>
              </a:ext>
            </a:extLst>
          </p:cNvPr>
          <p:cNvSpPr txBox="1"/>
          <p:nvPr/>
        </p:nvSpPr>
        <p:spPr>
          <a:xfrm>
            <a:off x="1846555" y="2535360"/>
            <a:ext cx="7359589" cy="461665"/>
          </a:xfrm>
          <a:prstGeom prst="rect">
            <a:avLst/>
          </a:prstGeom>
          <a:noFill/>
        </p:spPr>
        <p:txBody>
          <a:bodyPr wrap="square" rtlCol="0">
            <a:spAutoFit/>
          </a:bodyPr>
          <a:lstStyle/>
          <a:p>
            <a:r>
              <a:rPr lang="en-US" sz="2400" dirty="0"/>
              <a:t>This relation is known as canonical commutation relation.</a:t>
            </a:r>
          </a:p>
        </p:txBody>
      </p:sp>
      <p:sp>
        <p:nvSpPr>
          <p:cNvPr id="7" name="TextBox 6">
            <a:extLst>
              <a:ext uri="{FF2B5EF4-FFF2-40B4-BE49-F238E27FC236}">
                <a16:creationId xmlns:a16="http://schemas.microsoft.com/office/drawing/2014/main" xmlns="" id="{E06F1074-EE64-23DB-61F5-1551DA6D893B}"/>
              </a:ext>
            </a:extLst>
          </p:cNvPr>
          <p:cNvSpPr txBox="1"/>
          <p:nvPr/>
        </p:nvSpPr>
        <p:spPr>
          <a:xfrm>
            <a:off x="1611297" y="3336524"/>
            <a:ext cx="3915052" cy="461665"/>
          </a:xfrm>
          <a:prstGeom prst="rect">
            <a:avLst/>
          </a:prstGeom>
          <a:noFill/>
        </p:spPr>
        <p:txBody>
          <a:bodyPr wrap="square" rtlCol="0">
            <a:spAutoFit/>
          </a:bodyPr>
          <a:lstStyle/>
          <a:p>
            <a:r>
              <a:rPr lang="en-US" sz="2400" dirty="0"/>
              <a:t>Equation (3) now become</a:t>
            </a:r>
          </a:p>
        </p:txBody>
      </p:sp>
      <p:pic>
        <p:nvPicPr>
          <p:cNvPr id="9" name="Picture 8">
            <a:extLst>
              <a:ext uri="{FF2B5EF4-FFF2-40B4-BE49-F238E27FC236}">
                <a16:creationId xmlns:a16="http://schemas.microsoft.com/office/drawing/2014/main" xmlns="" id="{AE1C8F39-8DEC-6ED7-613F-1D95C828F5F9}"/>
              </a:ext>
            </a:extLst>
          </p:cNvPr>
          <p:cNvPicPr>
            <a:picLocks noChangeAspect="1"/>
          </p:cNvPicPr>
          <p:nvPr/>
        </p:nvPicPr>
        <p:blipFill>
          <a:blip r:embed="rId4"/>
          <a:stretch>
            <a:fillRect/>
          </a:stretch>
        </p:blipFill>
        <p:spPr>
          <a:xfrm>
            <a:off x="2280914" y="3767367"/>
            <a:ext cx="6839358" cy="2100773"/>
          </a:xfrm>
          <a:prstGeom prst="rect">
            <a:avLst/>
          </a:prstGeom>
        </p:spPr>
      </p:pic>
      <p:sp>
        <p:nvSpPr>
          <p:cNvPr id="10" name="TextBox 9">
            <a:extLst>
              <a:ext uri="{FF2B5EF4-FFF2-40B4-BE49-F238E27FC236}">
                <a16:creationId xmlns:a16="http://schemas.microsoft.com/office/drawing/2014/main" xmlns="" id="{4D5A52E7-F9CF-2E79-C686-8A083850D369}"/>
              </a:ext>
            </a:extLst>
          </p:cNvPr>
          <p:cNvSpPr txBox="1"/>
          <p:nvPr/>
        </p:nvSpPr>
        <p:spPr>
          <a:xfrm>
            <a:off x="10173810" y="3968318"/>
            <a:ext cx="577048" cy="461665"/>
          </a:xfrm>
          <a:prstGeom prst="rect">
            <a:avLst/>
          </a:prstGeom>
          <a:noFill/>
        </p:spPr>
        <p:txBody>
          <a:bodyPr wrap="square" rtlCol="0">
            <a:spAutoFit/>
          </a:bodyPr>
          <a:lstStyle/>
          <a:p>
            <a:r>
              <a:rPr lang="en-US" sz="2400" dirty="0"/>
              <a:t>(4)</a:t>
            </a:r>
          </a:p>
        </p:txBody>
      </p:sp>
      <p:sp>
        <p:nvSpPr>
          <p:cNvPr id="11" name="TextBox 10">
            <a:extLst>
              <a:ext uri="{FF2B5EF4-FFF2-40B4-BE49-F238E27FC236}">
                <a16:creationId xmlns:a16="http://schemas.microsoft.com/office/drawing/2014/main" xmlns="" id="{0ADF42D1-D43D-0EE5-7D10-5010C3427299}"/>
              </a:ext>
            </a:extLst>
          </p:cNvPr>
          <p:cNvSpPr txBox="1"/>
          <p:nvPr/>
        </p:nvSpPr>
        <p:spPr>
          <a:xfrm>
            <a:off x="10173810" y="5230427"/>
            <a:ext cx="577048" cy="461665"/>
          </a:xfrm>
          <a:prstGeom prst="rect">
            <a:avLst/>
          </a:prstGeom>
          <a:noFill/>
        </p:spPr>
        <p:txBody>
          <a:bodyPr wrap="square" rtlCol="0">
            <a:spAutoFit/>
          </a:bodyPr>
          <a:lstStyle/>
          <a:p>
            <a:r>
              <a:rPr lang="en-US" sz="2400" dirty="0"/>
              <a:t>(5)</a:t>
            </a:r>
          </a:p>
        </p:txBody>
      </p:sp>
    </p:spTree>
    <p:extLst>
      <p:ext uri="{BB962C8B-B14F-4D97-AF65-F5344CB8AC3E}">
        <p14:creationId xmlns:p14="http://schemas.microsoft.com/office/powerpoint/2010/main" xmlns="" val="407230591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F4F2EF51-5BBD-9A81-98BB-6215B303CD6F}"/>
              </a:ext>
            </a:extLst>
          </p:cNvPr>
          <p:cNvSpPr txBox="1"/>
          <p:nvPr/>
        </p:nvSpPr>
        <p:spPr>
          <a:xfrm>
            <a:off x="985421" y="150920"/>
            <a:ext cx="3293616" cy="461665"/>
          </a:xfrm>
          <a:prstGeom prst="rect">
            <a:avLst/>
          </a:prstGeom>
          <a:noFill/>
        </p:spPr>
        <p:txBody>
          <a:bodyPr wrap="square" rtlCol="0">
            <a:spAutoFit/>
          </a:bodyPr>
          <a:lstStyle/>
          <a:p>
            <a:r>
              <a:rPr lang="en-US" sz="2400" dirty="0"/>
              <a:t>Similarly, we can have </a:t>
            </a:r>
          </a:p>
        </p:txBody>
      </p:sp>
      <p:pic>
        <p:nvPicPr>
          <p:cNvPr id="4" name="Picture 3">
            <a:extLst>
              <a:ext uri="{FF2B5EF4-FFF2-40B4-BE49-F238E27FC236}">
                <a16:creationId xmlns:a16="http://schemas.microsoft.com/office/drawing/2014/main" xmlns="" id="{C39F9E09-69AA-101F-3C75-9E5BD2E73EE5}"/>
              </a:ext>
            </a:extLst>
          </p:cNvPr>
          <p:cNvPicPr>
            <a:picLocks noChangeAspect="1"/>
          </p:cNvPicPr>
          <p:nvPr/>
        </p:nvPicPr>
        <p:blipFill>
          <a:blip r:embed="rId2"/>
          <a:stretch>
            <a:fillRect/>
          </a:stretch>
        </p:blipFill>
        <p:spPr>
          <a:xfrm>
            <a:off x="4125903" y="0"/>
            <a:ext cx="2610861" cy="789512"/>
          </a:xfrm>
          <a:prstGeom prst="rect">
            <a:avLst/>
          </a:prstGeom>
        </p:spPr>
      </p:pic>
      <p:sp>
        <p:nvSpPr>
          <p:cNvPr id="5" name="TextBox 4">
            <a:extLst>
              <a:ext uri="{FF2B5EF4-FFF2-40B4-BE49-F238E27FC236}">
                <a16:creationId xmlns:a16="http://schemas.microsoft.com/office/drawing/2014/main" xmlns="" id="{8F38107D-EEBE-07A6-60B5-08EACA6B8C76}"/>
              </a:ext>
            </a:extLst>
          </p:cNvPr>
          <p:cNvSpPr txBox="1"/>
          <p:nvPr/>
        </p:nvSpPr>
        <p:spPr>
          <a:xfrm>
            <a:off x="7572652" y="150920"/>
            <a:ext cx="577049" cy="461665"/>
          </a:xfrm>
          <a:prstGeom prst="rect">
            <a:avLst/>
          </a:prstGeom>
          <a:noFill/>
        </p:spPr>
        <p:txBody>
          <a:bodyPr wrap="square" rtlCol="0">
            <a:spAutoFit/>
          </a:bodyPr>
          <a:lstStyle/>
          <a:p>
            <a:r>
              <a:rPr lang="en-US" sz="2400" dirty="0"/>
              <a:t>(6)</a:t>
            </a:r>
          </a:p>
        </p:txBody>
      </p:sp>
      <p:sp>
        <p:nvSpPr>
          <p:cNvPr id="6" name="TextBox 5">
            <a:extLst>
              <a:ext uri="{FF2B5EF4-FFF2-40B4-BE49-F238E27FC236}">
                <a16:creationId xmlns:a16="http://schemas.microsoft.com/office/drawing/2014/main" xmlns="" id="{70C977B7-484B-DD35-A556-32CC6DAAB8A3}"/>
              </a:ext>
            </a:extLst>
          </p:cNvPr>
          <p:cNvSpPr txBox="1"/>
          <p:nvPr/>
        </p:nvSpPr>
        <p:spPr>
          <a:xfrm>
            <a:off x="985421" y="789512"/>
            <a:ext cx="1260629" cy="461665"/>
          </a:xfrm>
          <a:prstGeom prst="rect">
            <a:avLst/>
          </a:prstGeom>
          <a:noFill/>
        </p:spPr>
        <p:txBody>
          <a:bodyPr wrap="square" rtlCol="0">
            <a:spAutoFit/>
          </a:bodyPr>
          <a:lstStyle/>
          <a:p>
            <a:r>
              <a:rPr lang="en-US" sz="2400" dirty="0"/>
              <a:t>And </a:t>
            </a:r>
          </a:p>
        </p:txBody>
      </p:sp>
      <p:pic>
        <p:nvPicPr>
          <p:cNvPr id="8" name="Picture 7">
            <a:extLst>
              <a:ext uri="{FF2B5EF4-FFF2-40B4-BE49-F238E27FC236}">
                <a16:creationId xmlns:a16="http://schemas.microsoft.com/office/drawing/2014/main" xmlns="" id="{F33437AE-D592-E02D-E001-3D42F098686D}"/>
              </a:ext>
            </a:extLst>
          </p:cNvPr>
          <p:cNvPicPr>
            <a:picLocks noChangeAspect="1"/>
          </p:cNvPicPr>
          <p:nvPr/>
        </p:nvPicPr>
        <p:blipFill>
          <a:blip r:embed="rId3"/>
          <a:stretch>
            <a:fillRect/>
          </a:stretch>
        </p:blipFill>
        <p:spPr>
          <a:xfrm>
            <a:off x="4009565" y="940432"/>
            <a:ext cx="2843536" cy="927571"/>
          </a:xfrm>
          <a:prstGeom prst="rect">
            <a:avLst/>
          </a:prstGeom>
        </p:spPr>
      </p:pic>
      <p:sp>
        <p:nvSpPr>
          <p:cNvPr id="9" name="TextBox 8">
            <a:extLst>
              <a:ext uri="{FF2B5EF4-FFF2-40B4-BE49-F238E27FC236}">
                <a16:creationId xmlns:a16="http://schemas.microsoft.com/office/drawing/2014/main" xmlns="" id="{DE106DBC-ACA7-7870-0448-311EBFCEE187}"/>
              </a:ext>
            </a:extLst>
          </p:cNvPr>
          <p:cNvSpPr txBox="1"/>
          <p:nvPr/>
        </p:nvSpPr>
        <p:spPr>
          <a:xfrm>
            <a:off x="7572652" y="1250576"/>
            <a:ext cx="577049" cy="461665"/>
          </a:xfrm>
          <a:prstGeom prst="rect">
            <a:avLst/>
          </a:prstGeom>
          <a:noFill/>
        </p:spPr>
        <p:txBody>
          <a:bodyPr wrap="square" rtlCol="0">
            <a:spAutoFit/>
          </a:bodyPr>
          <a:lstStyle/>
          <a:p>
            <a:r>
              <a:rPr lang="en-US" sz="2400" dirty="0"/>
              <a:t>(7)</a:t>
            </a:r>
          </a:p>
        </p:txBody>
      </p:sp>
      <p:sp>
        <p:nvSpPr>
          <p:cNvPr id="10" name="TextBox 9">
            <a:extLst>
              <a:ext uri="{FF2B5EF4-FFF2-40B4-BE49-F238E27FC236}">
                <a16:creationId xmlns:a16="http://schemas.microsoft.com/office/drawing/2014/main" xmlns="" id="{23148B47-12D7-48E8-9DC6-1555ADD26D42}"/>
              </a:ext>
            </a:extLst>
          </p:cNvPr>
          <p:cNvSpPr txBox="1"/>
          <p:nvPr/>
        </p:nvSpPr>
        <p:spPr>
          <a:xfrm>
            <a:off x="743511" y="2288347"/>
            <a:ext cx="5186772" cy="461665"/>
          </a:xfrm>
          <a:prstGeom prst="rect">
            <a:avLst/>
          </a:prstGeom>
          <a:noFill/>
        </p:spPr>
        <p:txBody>
          <a:bodyPr wrap="square" rtlCol="0">
            <a:spAutoFit/>
          </a:bodyPr>
          <a:lstStyle/>
          <a:p>
            <a:r>
              <a:rPr lang="en-US" sz="2400" dirty="0"/>
              <a:t>So, the operator a has the properties </a:t>
            </a:r>
          </a:p>
        </p:txBody>
      </p:sp>
      <p:pic>
        <p:nvPicPr>
          <p:cNvPr id="12" name="Picture 11">
            <a:extLst>
              <a:ext uri="{FF2B5EF4-FFF2-40B4-BE49-F238E27FC236}">
                <a16:creationId xmlns:a16="http://schemas.microsoft.com/office/drawing/2014/main" xmlns="" id="{7B0F849C-C190-4A56-F79F-CEFF656B1BEB}"/>
              </a:ext>
            </a:extLst>
          </p:cNvPr>
          <p:cNvPicPr>
            <a:picLocks noChangeAspect="1"/>
          </p:cNvPicPr>
          <p:nvPr/>
        </p:nvPicPr>
        <p:blipFill>
          <a:blip r:embed="rId4"/>
          <a:stretch>
            <a:fillRect/>
          </a:stretch>
        </p:blipFill>
        <p:spPr>
          <a:xfrm>
            <a:off x="5874153" y="2224588"/>
            <a:ext cx="1957896" cy="589182"/>
          </a:xfrm>
          <a:prstGeom prst="rect">
            <a:avLst/>
          </a:prstGeom>
        </p:spPr>
      </p:pic>
      <p:sp>
        <p:nvSpPr>
          <p:cNvPr id="13" name="TextBox 12">
            <a:extLst>
              <a:ext uri="{FF2B5EF4-FFF2-40B4-BE49-F238E27FC236}">
                <a16:creationId xmlns:a16="http://schemas.microsoft.com/office/drawing/2014/main" xmlns="" id="{0E4AD0FF-9F98-9E7A-FFF2-F95D0900E555}"/>
              </a:ext>
            </a:extLst>
          </p:cNvPr>
          <p:cNvSpPr txBox="1"/>
          <p:nvPr/>
        </p:nvSpPr>
        <p:spPr>
          <a:xfrm>
            <a:off x="843379" y="3355759"/>
            <a:ext cx="8806648" cy="461665"/>
          </a:xfrm>
          <a:prstGeom prst="rect">
            <a:avLst/>
          </a:prstGeom>
          <a:noFill/>
        </p:spPr>
        <p:txBody>
          <a:bodyPr wrap="square" rtlCol="0">
            <a:spAutoFit/>
          </a:bodyPr>
          <a:lstStyle/>
          <a:p>
            <a:r>
              <a:rPr lang="en-US" sz="2400" dirty="0"/>
              <a:t>The Schrodinger equation (1) become</a:t>
            </a:r>
          </a:p>
        </p:txBody>
      </p:sp>
      <p:pic>
        <p:nvPicPr>
          <p:cNvPr id="15" name="Picture 14">
            <a:extLst>
              <a:ext uri="{FF2B5EF4-FFF2-40B4-BE49-F238E27FC236}">
                <a16:creationId xmlns:a16="http://schemas.microsoft.com/office/drawing/2014/main" xmlns="" id="{B1BDB179-5089-61BB-71F3-9CA94EC27D21}"/>
              </a:ext>
            </a:extLst>
          </p:cNvPr>
          <p:cNvPicPr>
            <a:picLocks noChangeAspect="1"/>
          </p:cNvPicPr>
          <p:nvPr/>
        </p:nvPicPr>
        <p:blipFill>
          <a:blip r:embed="rId5"/>
          <a:stretch>
            <a:fillRect/>
          </a:stretch>
        </p:blipFill>
        <p:spPr>
          <a:xfrm>
            <a:off x="4510503" y="3816507"/>
            <a:ext cx="4020937" cy="1005234"/>
          </a:xfrm>
          <a:prstGeom prst="rect">
            <a:avLst/>
          </a:prstGeom>
        </p:spPr>
      </p:pic>
      <p:sp>
        <p:nvSpPr>
          <p:cNvPr id="16" name="TextBox 15">
            <a:extLst>
              <a:ext uri="{FF2B5EF4-FFF2-40B4-BE49-F238E27FC236}">
                <a16:creationId xmlns:a16="http://schemas.microsoft.com/office/drawing/2014/main" xmlns="" id="{CEF9E28A-BE95-F07F-635E-CD730DA89DAE}"/>
              </a:ext>
            </a:extLst>
          </p:cNvPr>
          <p:cNvSpPr txBox="1"/>
          <p:nvPr/>
        </p:nvSpPr>
        <p:spPr>
          <a:xfrm>
            <a:off x="8904302" y="4088291"/>
            <a:ext cx="745725" cy="461665"/>
          </a:xfrm>
          <a:prstGeom prst="rect">
            <a:avLst/>
          </a:prstGeom>
          <a:noFill/>
        </p:spPr>
        <p:txBody>
          <a:bodyPr wrap="square" rtlCol="0">
            <a:spAutoFit/>
          </a:bodyPr>
          <a:lstStyle/>
          <a:p>
            <a:r>
              <a:rPr lang="en-US" sz="2400" dirty="0"/>
              <a:t>(8)</a:t>
            </a:r>
          </a:p>
        </p:txBody>
      </p:sp>
    </p:spTree>
    <p:extLst>
      <p:ext uri="{BB962C8B-B14F-4D97-AF65-F5344CB8AC3E}">
        <p14:creationId xmlns:p14="http://schemas.microsoft.com/office/powerpoint/2010/main" xmlns="" val="291682265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xmlns="" Requires="a14">
          <p:sp>
            <p:nvSpPr>
              <p:cNvPr id="2" name="TextBox 1">
                <a:extLst>
                  <a:ext uri="{FF2B5EF4-FFF2-40B4-BE49-F238E27FC236}">
                    <a16:creationId xmlns:a16="http://schemas.microsoft.com/office/drawing/2014/main" id="{8D9D9EA5-385A-857D-9BB0-4A5FCDB1385A}"/>
                  </a:ext>
                </a:extLst>
              </p:cNvPr>
              <p:cNvSpPr txBox="1"/>
              <p:nvPr/>
            </p:nvSpPr>
            <p:spPr>
              <a:xfrm>
                <a:off x="621437" y="390617"/>
                <a:ext cx="10733103" cy="646331"/>
              </a:xfrm>
              <a:prstGeom prst="rect">
                <a:avLst/>
              </a:prstGeom>
              <a:noFill/>
            </p:spPr>
            <p:txBody>
              <a:bodyPr wrap="square" rtlCol="0">
                <a:spAutoFit/>
              </a:bodyPr>
              <a:lstStyle/>
              <a:p>
                <a:r>
                  <a:rPr lang="en-US" dirty="0"/>
                  <a:t>Now if </a:t>
                </a:r>
                <a14:m>
                  <m:oMath xmlns:m="http://schemas.openxmlformats.org/officeDocument/2006/math">
                    <m:r>
                      <a:rPr lang="en-US" i="1" smtClean="0">
                        <a:latin typeface="Cambria Math" panose="02040503050406030204" pitchFamily="18" charset="0"/>
                        <a:ea typeface="Cambria Math" panose="02040503050406030204" pitchFamily="18" charset="0"/>
                      </a:rPr>
                      <m:t>𝜓</m:t>
                    </m:r>
                  </m:oMath>
                </a14:m>
                <a:r>
                  <a:rPr lang="en-US" dirty="0"/>
                  <a:t> satisfies the Schrodinger equation with energy </a:t>
                </a:r>
                <a14:m>
                  <m:oMath xmlns:m="http://schemas.openxmlformats.org/officeDocument/2006/math">
                    <m:r>
                      <a:rPr lang="en-US" b="0" i="1" smtClean="0">
                        <a:latin typeface="Cambria Math" panose="02040503050406030204" pitchFamily="18" charset="0"/>
                      </a:rPr>
                      <m:t>𝐸</m:t>
                    </m:r>
                  </m:oMath>
                </a14:m>
                <a:r>
                  <a:rPr lang="en-US" dirty="0"/>
                  <a:t>, then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m:t>
                        </m:r>
                      </m:sub>
                    </m:sSub>
                    <m:r>
                      <a:rPr lang="en-US" i="1" smtClean="0">
                        <a:latin typeface="Cambria Math" panose="02040503050406030204" pitchFamily="18" charset="0"/>
                        <a:ea typeface="Cambria Math" panose="02040503050406030204" pitchFamily="18" charset="0"/>
                      </a:rPr>
                      <m:t>𝜓</m:t>
                    </m:r>
                  </m:oMath>
                </a14:m>
                <a:r>
                  <a:rPr lang="en-US" dirty="0"/>
                  <a:t> satisfies the Schrodinger equation with energy </a:t>
                </a:r>
                <a14:m>
                  <m:oMath xmlns:m="http://schemas.openxmlformats.org/officeDocument/2006/math">
                    <m:d>
                      <m:dPr>
                        <m:ctrlPr>
                          <a:rPr lang="en-US" b="0" i="1" smtClean="0">
                            <a:latin typeface="Cambria Math" panose="02040503050406030204" pitchFamily="18" charset="0"/>
                          </a:rPr>
                        </m:ctrlPr>
                      </m:dPr>
                      <m:e>
                        <m:r>
                          <a:rPr lang="en-US" b="0" i="1" smtClean="0">
                            <a:latin typeface="Cambria Math" panose="02040503050406030204" pitchFamily="18" charset="0"/>
                          </a:rPr>
                          <m:t>𝐸</m:t>
                        </m:r>
                        <m:r>
                          <a:rPr lang="en-US" b="0" i="1" smtClean="0">
                            <a:latin typeface="Cambria Math" panose="02040503050406030204" pitchFamily="18" charset="0"/>
                          </a:rPr>
                          <m:t>+ℏ</m:t>
                        </m:r>
                        <m:r>
                          <a:rPr lang="en-US" b="0" i="1" smtClean="0">
                            <a:latin typeface="Cambria Math" panose="02040503050406030204" pitchFamily="18" charset="0"/>
                            <a:ea typeface="Cambria Math" panose="02040503050406030204" pitchFamily="18" charset="0"/>
                          </a:rPr>
                          <m:t>𝜔</m:t>
                        </m:r>
                      </m:e>
                    </m:d>
                    <m:r>
                      <a:rPr lang="en-US" b="0" i="0" smtClean="0">
                        <a:latin typeface="Cambria Math" panose="02040503050406030204" pitchFamily="18" charset="0"/>
                        <a:ea typeface="Cambria Math" panose="02040503050406030204" pitchFamily="18" charset="0"/>
                      </a:rPr>
                      <m:t>.</m:t>
                    </m:r>
                  </m:oMath>
                </a14:m>
                <a:r>
                  <a:rPr lang="en-US" dirty="0"/>
                  <a:t> That is </a:t>
                </a:r>
              </a:p>
            </p:txBody>
          </p:sp>
        </mc:Choice>
        <mc:Fallback>
          <p:sp>
            <p:nvSpPr>
              <p:cNvPr id="2" name="TextBox 1">
                <a:extLst>
                  <a:ext uri="{FF2B5EF4-FFF2-40B4-BE49-F238E27FC236}">
                    <a16:creationId xmlns:a16="http://schemas.microsoft.com/office/drawing/2014/main" xmlns="" xmlns:a14="http://schemas.microsoft.com/office/drawing/2010/main" id="{8D9D9EA5-385A-857D-9BB0-4A5FCDB1385A}"/>
                  </a:ext>
                </a:extLst>
              </p:cNvPr>
              <p:cNvSpPr txBox="1">
                <a:spLocks noRot="1" noChangeAspect="1" noMove="1" noResize="1" noEditPoints="1" noAdjustHandles="1" noChangeArrowheads="1" noChangeShapeType="1" noTextEdit="1"/>
              </p:cNvSpPr>
              <p:nvPr/>
            </p:nvSpPr>
            <p:spPr>
              <a:xfrm>
                <a:off x="621437" y="390617"/>
                <a:ext cx="10733103" cy="646331"/>
              </a:xfrm>
              <a:prstGeom prst="rect">
                <a:avLst/>
              </a:prstGeom>
              <a:blipFill>
                <a:blip r:embed="rId2"/>
                <a:stretch>
                  <a:fillRect l="-511" t="-4717" b="-14151"/>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xmlns="" id="{0C7A6DB1-DFCF-7C62-4ABC-8477297B0D43}"/>
              </a:ext>
            </a:extLst>
          </p:cNvPr>
          <p:cNvPicPr>
            <a:picLocks noChangeAspect="1"/>
          </p:cNvPicPr>
          <p:nvPr/>
        </p:nvPicPr>
        <p:blipFill>
          <a:blip r:embed="rId3"/>
          <a:stretch>
            <a:fillRect/>
          </a:stretch>
        </p:blipFill>
        <p:spPr>
          <a:xfrm>
            <a:off x="2920753" y="1036948"/>
            <a:ext cx="3563182" cy="412333"/>
          </a:xfrm>
          <a:prstGeom prst="rect">
            <a:avLst/>
          </a:prstGeom>
        </p:spPr>
      </p:pic>
      <p:pic>
        <p:nvPicPr>
          <p:cNvPr id="6" name="Picture 5">
            <a:extLst>
              <a:ext uri="{FF2B5EF4-FFF2-40B4-BE49-F238E27FC236}">
                <a16:creationId xmlns:a16="http://schemas.microsoft.com/office/drawing/2014/main" xmlns="" id="{728A6F12-EF95-EFBA-65DA-CD44490ADA2B}"/>
              </a:ext>
            </a:extLst>
          </p:cNvPr>
          <p:cNvPicPr>
            <a:picLocks noChangeAspect="1"/>
          </p:cNvPicPr>
          <p:nvPr/>
        </p:nvPicPr>
        <p:blipFill>
          <a:blip r:embed="rId4"/>
          <a:stretch>
            <a:fillRect/>
          </a:stretch>
        </p:blipFill>
        <p:spPr>
          <a:xfrm>
            <a:off x="1284303" y="3028117"/>
            <a:ext cx="9623394" cy="2696665"/>
          </a:xfrm>
          <a:prstGeom prst="rect">
            <a:avLst/>
          </a:prstGeom>
        </p:spPr>
      </p:pic>
      <p:sp>
        <p:nvSpPr>
          <p:cNvPr id="7" name="TextBox 6">
            <a:extLst>
              <a:ext uri="{FF2B5EF4-FFF2-40B4-BE49-F238E27FC236}">
                <a16:creationId xmlns:a16="http://schemas.microsoft.com/office/drawing/2014/main" xmlns="" id="{2CA12A12-37FA-1483-C1D8-59C3A5FF0541}"/>
              </a:ext>
            </a:extLst>
          </p:cNvPr>
          <p:cNvSpPr txBox="1"/>
          <p:nvPr/>
        </p:nvSpPr>
        <p:spPr>
          <a:xfrm>
            <a:off x="782715" y="2602794"/>
            <a:ext cx="1003176" cy="461665"/>
          </a:xfrm>
          <a:prstGeom prst="rect">
            <a:avLst/>
          </a:prstGeom>
          <a:noFill/>
        </p:spPr>
        <p:txBody>
          <a:bodyPr wrap="square" rtlCol="0">
            <a:spAutoFit/>
          </a:bodyPr>
          <a:lstStyle/>
          <a:p>
            <a:r>
              <a:rPr lang="en-US" sz="2400" dirty="0"/>
              <a:t>Proof:</a:t>
            </a:r>
          </a:p>
        </p:txBody>
      </p:sp>
    </p:spTree>
    <p:extLst>
      <p:ext uri="{BB962C8B-B14F-4D97-AF65-F5344CB8AC3E}">
        <p14:creationId xmlns:p14="http://schemas.microsoft.com/office/powerpoint/2010/main" xmlns="" val="109447652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xmlns="" id="{FDB496B9-2AF3-4E04-78EC-1E2DB2B0B0D3}"/>
              </a:ext>
            </a:extLst>
          </p:cNvPr>
          <p:cNvPicPr>
            <a:picLocks noChangeAspect="1"/>
          </p:cNvPicPr>
          <p:nvPr/>
        </p:nvPicPr>
        <p:blipFill>
          <a:blip r:embed="rId2"/>
          <a:stretch>
            <a:fillRect/>
          </a:stretch>
        </p:blipFill>
        <p:spPr>
          <a:xfrm>
            <a:off x="452761" y="145557"/>
            <a:ext cx="10850177" cy="3619500"/>
          </a:xfrm>
          <a:prstGeom prst="rect">
            <a:avLst/>
          </a:prstGeom>
        </p:spPr>
      </p:pic>
      <p:pic>
        <p:nvPicPr>
          <p:cNvPr id="5" name="Picture 4">
            <a:extLst>
              <a:ext uri="{FF2B5EF4-FFF2-40B4-BE49-F238E27FC236}">
                <a16:creationId xmlns:a16="http://schemas.microsoft.com/office/drawing/2014/main" xmlns="" id="{16C71E5E-B86E-7078-C7C3-B10245F64964}"/>
              </a:ext>
            </a:extLst>
          </p:cNvPr>
          <p:cNvPicPr>
            <a:picLocks noChangeAspect="1"/>
          </p:cNvPicPr>
          <p:nvPr/>
        </p:nvPicPr>
        <p:blipFill>
          <a:blip r:embed="rId3"/>
          <a:stretch>
            <a:fillRect/>
          </a:stretch>
        </p:blipFill>
        <p:spPr>
          <a:xfrm>
            <a:off x="452761" y="4447473"/>
            <a:ext cx="11100046" cy="1604826"/>
          </a:xfrm>
          <a:prstGeom prst="rect">
            <a:avLst/>
          </a:prstGeom>
        </p:spPr>
      </p:pic>
    </p:spTree>
    <p:extLst>
      <p:ext uri="{BB962C8B-B14F-4D97-AF65-F5344CB8AC3E}">
        <p14:creationId xmlns:p14="http://schemas.microsoft.com/office/powerpoint/2010/main" xmlns="" val="186047877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xmlns="" Requires="a14">
          <p:sp>
            <p:nvSpPr>
              <p:cNvPr id="4" name="TextBox 3">
                <a:extLst>
                  <a:ext uri="{FF2B5EF4-FFF2-40B4-BE49-F238E27FC236}">
                    <a16:creationId xmlns:a16="http://schemas.microsoft.com/office/drawing/2014/main" id="{696D66CC-C2B9-EE6A-C891-0FE06453EF9D}"/>
                  </a:ext>
                </a:extLst>
              </p:cNvPr>
              <p:cNvSpPr txBox="1"/>
              <p:nvPr/>
            </p:nvSpPr>
            <p:spPr>
              <a:xfrm>
                <a:off x="437965" y="186431"/>
                <a:ext cx="11461072" cy="1200329"/>
              </a:xfrm>
              <a:prstGeom prst="rect">
                <a:avLst/>
              </a:prstGeom>
              <a:noFill/>
            </p:spPr>
            <p:txBody>
              <a:bodyPr wrap="square" rtlCol="0">
                <a:spAutoFit/>
              </a:bodyPr>
              <a:lstStyle/>
              <a:p>
                <a:r>
                  <a:rPr lang="en-US" sz="2400" dirty="0"/>
                  <a:t>If we apply the lowering operator repeatedly eventually, we will reach a state with energy zero, which does not exist! So there is a lower value </a:t>
                </a:r>
                <a14:m>
                  <m:oMath xmlns:m="http://schemas.openxmlformats.org/officeDocument/2006/math">
                    <m:sSub>
                      <m:sSubPr>
                        <m:ctrlPr>
                          <a:rPr lang="en-US" sz="2400" i="1" smtClean="0">
                            <a:latin typeface="Cambria Math" panose="02040503050406030204" pitchFamily="18" charset="0"/>
                          </a:rPr>
                        </m:ctrlPr>
                      </m:sSubPr>
                      <m:e>
                        <m:r>
                          <a:rPr lang="en-US" sz="2400" i="1" smtClean="0">
                            <a:latin typeface="Cambria Math" panose="02040503050406030204" pitchFamily="18" charset="0"/>
                            <a:ea typeface="Cambria Math" panose="02040503050406030204" pitchFamily="18" charset="0"/>
                          </a:rPr>
                          <m:t>𝜓</m:t>
                        </m:r>
                      </m:e>
                      <m:sub>
                        <m:r>
                          <a:rPr lang="en-US" sz="2400" b="0" i="1" smtClean="0">
                            <a:latin typeface="Cambria Math" panose="02040503050406030204" pitchFamily="18" charset="0"/>
                          </a:rPr>
                          <m:t>0</m:t>
                        </m:r>
                      </m:sub>
                    </m:sSub>
                  </m:oMath>
                </a14:m>
                <a:r>
                  <a:rPr lang="en-US" sz="2400" dirty="0"/>
                  <a:t> for which </a:t>
                </a:r>
                <a14:m>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𝑎</m:t>
                        </m:r>
                      </m:e>
                      <m:sub>
                        <m:r>
                          <a:rPr lang="en-US" sz="2400" b="0" i="1" smtClean="0">
                            <a:latin typeface="Cambria Math" panose="02040503050406030204" pitchFamily="18" charset="0"/>
                          </a:rPr>
                          <m:t>−</m:t>
                        </m:r>
                      </m:sub>
                    </m:sSub>
                    <m:sSub>
                      <m:sSubPr>
                        <m:ctrlPr>
                          <a:rPr lang="en-US" sz="2400" i="1" smtClean="0">
                            <a:latin typeface="Cambria Math" panose="02040503050406030204" pitchFamily="18" charset="0"/>
                          </a:rPr>
                        </m:ctrlPr>
                      </m:sSubPr>
                      <m:e>
                        <m:r>
                          <a:rPr lang="en-US" sz="2400" i="1" smtClean="0">
                            <a:latin typeface="Cambria Math" panose="02040503050406030204" pitchFamily="18" charset="0"/>
                            <a:ea typeface="Cambria Math" panose="02040503050406030204" pitchFamily="18" charset="0"/>
                          </a:rPr>
                          <m:t>𝜓</m:t>
                        </m:r>
                      </m:e>
                      <m:sub>
                        <m:r>
                          <a:rPr lang="en-US" sz="2400" b="0" i="1" smtClean="0">
                            <a:latin typeface="Cambria Math" panose="02040503050406030204" pitchFamily="18" charset="0"/>
                          </a:rPr>
                          <m:t>0</m:t>
                        </m:r>
                      </m:sub>
                    </m:sSub>
                    <m:r>
                      <a:rPr lang="en-US" sz="2400" b="0" i="1" smtClean="0">
                        <a:latin typeface="Cambria Math" panose="02040503050406030204" pitchFamily="18" charset="0"/>
                      </a:rPr>
                      <m:t>=0</m:t>
                    </m:r>
                  </m:oMath>
                </a14:m>
                <a:r>
                  <a:rPr lang="en-US" sz="2400" dirty="0"/>
                  <a:t>. So, from equation (3) we can write </a:t>
                </a:r>
              </a:p>
            </p:txBody>
          </p:sp>
        </mc:Choice>
        <mc:Fallback>
          <p:sp>
            <p:nvSpPr>
              <p:cNvPr id="4" name="TextBox 3">
                <a:extLst>
                  <a:ext uri="{FF2B5EF4-FFF2-40B4-BE49-F238E27FC236}">
                    <a16:creationId xmlns:a16="http://schemas.microsoft.com/office/drawing/2014/main" xmlns="" xmlns:a14="http://schemas.microsoft.com/office/drawing/2010/main" id="{696D66CC-C2B9-EE6A-C891-0FE06453EF9D}"/>
                  </a:ext>
                </a:extLst>
              </p:cNvPr>
              <p:cNvSpPr txBox="1">
                <a:spLocks noRot="1" noChangeAspect="1" noMove="1" noResize="1" noEditPoints="1" noAdjustHandles="1" noChangeArrowheads="1" noChangeShapeType="1" noTextEdit="1"/>
              </p:cNvSpPr>
              <p:nvPr/>
            </p:nvSpPr>
            <p:spPr>
              <a:xfrm>
                <a:off x="437965" y="186431"/>
                <a:ext cx="11461072" cy="1200329"/>
              </a:xfrm>
              <a:prstGeom prst="rect">
                <a:avLst/>
              </a:prstGeom>
              <a:blipFill>
                <a:blip r:embed="rId2"/>
                <a:stretch>
                  <a:fillRect l="-851" t="-4082" b="-11224"/>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xmlns="" id="{0D916440-D2B9-6519-9A89-8C85155B64C6}"/>
              </a:ext>
            </a:extLst>
          </p:cNvPr>
          <p:cNvPicPr>
            <a:picLocks noChangeAspect="1"/>
          </p:cNvPicPr>
          <p:nvPr/>
        </p:nvPicPr>
        <p:blipFill>
          <a:blip r:embed="rId3"/>
          <a:stretch>
            <a:fillRect/>
          </a:stretch>
        </p:blipFill>
        <p:spPr>
          <a:xfrm>
            <a:off x="3524435" y="1292610"/>
            <a:ext cx="4242555" cy="862627"/>
          </a:xfrm>
          <a:prstGeom prst="rect">
            <a:avLst/>
          </a:prstGeom>
        </p:spPr>
      </p:pic>
      <p:sp>
        <p:nvSpPr>
          <p:cNvPr id="8" name="TextBox 7">
            <a:extLst>
              <a:ext uri="{FF2B5EF4-FFF2-40B4-BE49-F238E27FC236}">
                <a16:creationId xmlns:a16="http://schemas.microsoft.com/office/drawing/2014/main" xmlns="" id="{C7FFC4BA-22C0-6BE1-0737-4908DBC900CD}"/>
              </a:ext>
            </a:extLst>
          </p:cNvPr>
          <p:cNvSpPr txBox="1"/>
          <p:nvPr/>
        </p:nvSpPr>
        <p:spPr>
          <a:xfrm>
            <a:off x="8611340" y="1493090"/>
            <a:ext cx="736846" cy="461665"/>
          </a:xfrm>
          <a:prstGeom prst="rect">
            <a:avLst/>
          </a:prstGeom>
          <a:noFill/>
        </p:spPr>
        <p:txBody>
          <a:bodyPr wrap="square" rtlCol="0">
            <a:spAutoFit/>
          </a:bodyPr>
          <a:lstStyle/>
          <a:p>
            <a:r>
              <a:rPr lang="en-US" sz="2400" dirty="0"/>
              <a:t>(9)</a:t>
            </a:r>
          </a:p>
        </p:txBody>
      </p:sp>
      <p:pic>
        <p:nvPicPr>
          <p:cNvPr id="10" name="Picture 9">
            <a:extLst>
              <a:ext uri="{FF2B5EF4-FFF2-40B4-BE49-F238E27FC236}">
                <a16:creationId xmlns:a16="http://schemas.microsoft.com/office/drawing/2014/main" xmlns="" id="{B7167024-FEEC-6D60-8331-F659178A4F2C}"/>
              </a:ext>
            </a:extLst>
          </p:cNvPr>
          <p:cNvPicPr>
            <a:picLocks noChangeAspect="1"/>
          </p:cNvPicPr>
          <p:nvPr/>
        </p:nvPicPr>
        <p:blipFill>
          <a:blip r:embed="rId4"/>
          <a:stretch>
            <a:fillRect/>
          </a:stretch>
        </p:blipFill>
        <p:spPr>
          <a:xfrm>
            <a:off x="3861786" y="2384579"/>
            <a:ext cx="2455138" cy="753110"/>
          </a:xfrm>
          <a:prstGeom prst="rect">
            <a:avLst/>
          </a:prstGeom>
        </p:spPr>
      </p:pic>
      <p:pic>
        <p:nvPicPr>
          <p:cNvPr id="12" name="Picture 11">
            <a:extLst>
              <a:ext uri="{FF2B5EF4-FFF2-40B4-BE49-F238E27FC236}">
                <a16:creationId xmlns:a16="http://schemas.microsoft.com/office/drawing/2014/main" xmlns="" id="{FB4EA0EA-7B51-DED1-CE80-2197D34FD029}"/>
              </a:ext>
            </a:extLst>
          </p:cNvPr>
          <p:cNvPicPr>
            <a:picLocks noChangeAspect="1"/>
          </p:cNvPicPr>
          <p:nvPr/>
        </p:nvPicPr>
        <p:blipFill>
          <a:blip r:embed="rId5"/>
          <a:stretch>
            <a:fillRect/>
          </a:stretch>
        </p:blipFill>
        <p:spPr>
          <a:xfrm>
            <a:off x="1429305" y="3658914"/>
            <a:ext cx="9292950" cy="2416965"/>
          </a:xfrm>
          <a:prstGeom prst="rect">
            <a:avLst/>
          </a:prstGeom>
        </p:spPr>
      </p:pic>
    </p:spTree>
    <p:extLst>
      <p:ext uri="{BB962C8B-B14F-4D97-AF65-F5344CB8AC3E}">
        <p14:creationId xmlns:p14="http://schemas.microsoft.com/office/powerpoint/2010/main" xmlns="" val="172132515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xmlns="" id="{ECA83A79-ED7C-BE83-F040-19AB05747CD6}"/>
              </a:ext>
            </a:extLst>
          </p:cNvPr>
          <p:cNvPicPr>
            <a:picLocks noChangeAspect="1"/>
          </p:cNvPicPr>
          <p:nvPr/>
        </p:nvPicPr>
        <p:blipFill>
          <a:blip r:embed="rId2"/>
          <a:stretch>
            <a:fillRect/>
          </a:stretch>
        </p:blipFill>
        <p:spPr>
          <a:xfrm>
            <a:off x="1660124" y="118138"/>
            <a:ext cx="8240524" cy="2127912"/>
          </a:xfrm>
          <a:prstGeom prst="rect">
            <a:avLst/>
          </a:prstGeom>
        </p:spPr>
      </p:pic>
      <p:pic>
        <p:nvPicPr>
          <p:cNvPr id="5" name="Picture 4">
            <a:extLst>
              <a:ext uri="{FF2B5EF4-FFF2-40B4-BE49-F238E27FC236}">
                <a16:creationId xmlns:a16="http://schemas.microsoft.com/office/drawing/2014/main" xmlns="" id="{A3D627BF-5E9A-77EE-7412-3D0C07FC7341}"/>
              </a:ext>
            </a:extLst>
          </p:cNvPr>
          <p:cNvPicPr>
            <a:picLocks noChangeAspect="1"/>
          </p:cNvPicPr>
          <p:nvPr/>
        </p:nvPicPr>
        <p:blipFill>
          <a:blip r:embed="rId3"/>
          <a:stretch>
            <a:fillRect/>
          </a:stretch>
        </p:blipFill>
        <p:spPr>
          <a:xfrm>
            <a:off x="5690586" y="2405793"/>
            <a:ext cx="3793354" cy="1023207"/>
          </a:xfrm>
          <a:prstGeom prst="rect">
            <a:avLst/>
          </a:prstGeom>
        </p:spPr>
      </p:pic>
      <p:sp>
        <p:nvSpPr>
          <p:cNvPr id="6" name="TextBox 5">
            <a:extLst>
              <a:ext uri="{FF2B5EF4-FFF2-40B4-BE49-F238E27FC236}">
                <a16:creationId xmlns:a16="http://schemas.microsoft.com/office/drawing/2014/main" xmlns="" id="{2F01150E-818B-5494-64F0-FD4DE7E1340B}"/>
              </a:ext>
            </a:extLst>
          </p:cNvPr>
          <p:cNvSpPr txBox="1"/>
          <p:nvPr/>
        </p:nvSpPr>
        <p:spPr>
          <a:xfrm>
            <a:off x="10262586" y="2636668"/>
            <a:ext cx="798991" cy="461665"/>
          </a:xfrm>
          <a:prstGeom prst="rect">
            <a:avLst/>
          </a:prstGeom>
          <a:noFill/>
        </p:spPr>
        <p:txBody>
          <a:bodyPr wrap="square" rtlCol="0">
            <a:spAutoFit/>
          </a:bodyPr>
          <a:lstStyle/>
          <a:p>
            <a:r>
              <a:rPr lang="en-US" sz="2400" dirty="0"/>
              <a:t>(10)</a:t>
            </a:r>
          </a:p>
        </p:txBody>
      </p:sp>
    </p:spTree>
    <p:extLst>
      <p:ext uri="{BB962C8B-B14F-4D97-AF65-F5344CB8AC3E}">
        <p14:creationId xmlns:p14="http://schemas.microsoft.com/office/powerpoint/2010/main" xmlns="" val="163731825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xmlns="" id="{22165E08-6823-EBD3-5DE7-9C92BFAB0C6F}"/>
              </a:ext>
            </a:extLst>
          </p:cNvPr>
          <p:cNvSpPr txBox="1"/>
          <p:nvPr/>
        </p:nvSpPr>
        <p:spPr>
          <a:xfrm>
            <a:off x="385665" y="102637"/>
            <a:ext cx="10671111" cy="461665"/>
          </a:xfrm>
          <a:prstGeom prst="rect">
            <a:avLst/>
          </a:prstGeom>
          <a:noFill/>
        </p:spPr>
        <p:txBody>
          <a:bodyPr wrap="square" rtlCol="0">
            <a:spAutoFit/>
          </a:bodyPr>
          <a:lstStyle/>
          <a:p>
            <a:r>
              <a:rPr lang="en-US" sz="2400" dirty="0"/>
              <a:t>To determine the energy of this state we plug it into the Schrodinger equation (8) as, </a:t>
            </a:r>
          </a:p>
        </p:txBody>
      </p:sp>
      <p:pic>
        <p:nvPicPr>
          <p:cNvPr id="6" name="Picture 5">
            <a:extLst>
              <a:ext uri="{FF2B5EF4-FFF2-40B4-BE49-F238E27FC236}">
                <a16:creationId xmlns:a16="http://schemas.microsoft.com/office/drawing/2014/main" xmlns="" id="{0CA048D7-B45B-DEB7-077A-359D8233D8E4}"/>
              </a:ext>
            </a:extLst>
          </p:cNvPr>
          <p:cNvPicPr>
            <a:picLocks noChangeAspect="1"/>
          </p:cNvPicPr>
          <p:nvPr/>
        </p:nvPicPr>
        <p:blipFill>
          <a:blip r:embed="rId2"/>
          <a:stretch>
            <a:fillRect/>
          </a:stretch>
        </p:blipFill>
        <p:spPr>
          <a:xfrm>
            <a:off x="3708724" y="727206"/>
            <a:ext cx="4438650" cy="514350"/>
          </a:xfrm>
          <a:prstGeom prst="rect">
            <a:avLst/>
          </a:prstGeom>
        </p:spPr>
      </p:pic>
      <mc:AlternateContent xmlns:mc="http://schemas.openxmlformats.org/markup-compatibility/2006">
        <mc:Choice xmlns:a14="http://schemas.microsoft.com/office/drawing/2010/main" xmlns="" Requires="a14">
          <p:sp>
            <p:nvSpPr>
              <p:cNvPr id="7" name="TextBox 6">
                <a:extLst>
                  <a:ext uri="{FF2B5EF4-FFF2-40B4-BE49-F238E27FC236}">
                    <a16:creationId xmlns:a16="http://schemas.microsoft.com/office/drawing/2014/main" id="{DE9ACBB3-B019-2259-AB67-FD3C778CA088}"/>
                  </a:ext>
                </a:extLst>
              </p:cNvPr>
              <p:cNvSpPr txBox="1"/>
              <p:nvPr/>
            </p:nvSpPr>
            <p:spPr>
              <a:xfrm>
                <a:off x="793102" y="1464906"/>
                <a:ext cx="4737686" cy="461665"/>
              </a:xfrm>
              <a:prstGeom prst="rect">
                <a:avLst/>
              </a:prstGeom>
              <a:noFill/>
            </p:spPr>
            <p:txBody>
              <a:bodyPr wrap="square" rtlCol="0">
                <a:spAutoFit/>
              </a:bodyPr>
              <a:lstStyle/>
              <a:p>
                <a:r>
                  <a:rPr lang="en-US" sz="2400" dirty="0"/>
                  <a:t>We must use the fact that </a:t>
                </a:r>
                <a14:m>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𝑎</m:t>
                        </m:r>
                      </m:e>
                      <m:sub>
                        <m:r>
                          <a:rPr lang="en-US" sz="2400" b="0" i="1" smtClean="0">
                            <a:latin typeface="Cambria Math" panose="02040503050406030204" pitchFamily="18" charset="0"/>
                          </a:rPr>
                          <m:t>−</m:t>
                        </m:r>
                      </m:sub>
                    </m:sSub>
                    <m:sSub>
                      <m:sSubPr>
                        <m:ctrlPr>
                          <a:rPr lang="en-US" sz="2400" i="1" smtClean="0">
                            <a:latin typeface="Cambria Math" panose="02040503050406030204" pitchFamily="18" charset="0"/>
                          </a:rPr>
                        </m:ctrlPr>
                      </m:sSubPr>
                      <m:e>
                        <m:r>
                          <a:rPr lang="en-US" sz="2400" i="1" smtClean="0">
                            <a:latin typeface="Cambria Math" panose="02040503050406030204" pitchFamily="18" charset="0"/>
                            <a:ea typeface="Cambria Math" panose="02040503050406030204" pitchFamily="18" charset="0"/>
                          </a:rPr>
                          <m:t>𝜓</m:t>
                        </m:r>
                      </m:e>
                      <m:sub>
                        <m:r>
                          <a:rPr lang="en-US" sz="2400" b="0" i="1" smtClean="0">
                            <a:latin typeface="Cambria Math" panose="02040503050406030204" pitchFamily="18" charset="0"/>
                          </a:rPr>
                          <m:t>0</m:t>
                        </m:r>
                      </m:sub>
                    </m:sSub>
                    <m:r>
                      <a:rPr lang="en-US" sz="2400" b="0" i="1" smtClean="0">
                        <a:latin typeface="Cambria Math" panose="02040503050406030204" pitchFamily="18" charset="0"/>
                      </a:rPr>
                      <m:t>=0</m:t>
                    </m:r>
                  </m:oMath>
                </a14:m>
                <a:endParaRPr lang="en-US" sz="2400" dirty="0"/>
              </a:p>
            </p:txBody>
          </p:sp>
        </mc:Choice>
        <mc:Fallback>
          <p:sp>
            <p:nvSpPr>
              <p:cNvPr id="7" name="TextBox 6">
                <a:extLst>
                  <a:ext uri="{FF2B5EF4-FFF2-40B4-BE49-F238E27FC236}">
                    <a16:creationId xmlns:a16="http://schemas.microsoft.com/office/drawing/2014/main" xmlns="" xmlns:a14="http://schemas.microsoft.com/office/drawing/2010/main" id="{DE9ACBB3-B019-2259-AB67-FD3C778CA088}"/>
                  </a:ext>
                </a:extLst>
              </p:cNvPr>
              <p:cNvSpPr txBox="1">
                <a:spLocks noRot="1" noChangeAspect="1" noMove="1" noResize="1" noEditPoints="1" noAdjustHandles="1" noChangeArrowheads="1" noChangeShapeType="1" noTextEdit="1"/>
              </p:cNvSpPr>
              <p:nvPr/>
            </p:nvSpPr>
            <p:spPr>
              <a:xfrm>
                <a:off x="793102" y="1464906"/>
                <a:ext cx="4737686" cy="461665"/>
              </a:xfrm>
              <a:prstGeom prst="rect">
                <a:avLst/>
              </a:prstGeom>
              <a:blipFill>
                <a:blip r:embed="rId3"/>
                <a:stretch>
                  <a:fillRect l="-1931" t="-10526" b="-28947"/>
                </a:stretch>
              </a:blipFill>
            </p:spPr>
            <p:txBody>
              <a:bodyPr/>
              <a:lstStyle/>
              <a:p>
                <a:r>
                  <a:rPr lang="en-US">
                    <a:noFill/>
                  </a:rPr>
                  <a:t> </a:t>
                </a:r>
              </a:p>
            </p:txBody>
          </p:sp>
        </mc:Fallback>
      </mc:AlternateContent>
      <p:pic>
        <p:nvPicPr>
          <p:cNvPr id="9" name="Picture 8">
            <a:extLst>
              <a:ext uri="{FF2B5EF4-FFF2-40B4-BE49-F238E27FC236}">
                <a16:creationId xmlns:a16="http://schemas.microsoft.com/office/drawing/2014/main" xmlns="" id="{D68ED4DE-ED37-627A-44A5-619555F719F1}"/>
              </a:ext>
            </a:extLst>
          </p:cNvPr>
          <p:cNvPicPr>
            <a:picLocks noChangeAspect="1"/>
          </p:cNvPicPr>
          <p:nvPr/>
        </p:nvPicPr>
        <p:blipFill>
          <a:blip r:embed="rId4"/>
          <a:stretch>
            <a:fillRect/>
          </a:stretch>
        </p:blipFill>
        <p:spPr>
          <a:xfrm>
            <a:off x="621315" y="2216296"/>
            <a:ext cx="10725390" cy="1161450"/>
          </a:xfrm>
          <a:prstGeom prst="rect">
            <a:avLst/>
          </a:prstGeom>
        </p:spPr>
      </p:pic>
      <p:pic>
        <p:nvPicPr>
          <p:cNvPr id="11" name="Picture 10">
            <a:extLst>
              <a:ext uri="{FF2B5EF4-FFF2-40B4-BE49-F238E27FC236}">
                <a16:creationId xmlns:a16="http://schemas.microsoft.com/office/drawing/2014/main" xmlns="" id="{E4C59D9E-D3B0-9C0A-9CC5-4FA813C3DB49}"/>
              </a:ext>
            </a:extLst>
          </p:cNvPr>
          <p:cNvPicPr>
            <a:picLocks noChangeAspect="1"/>
          </p:cNvPicPr>
          <p:nvPr/>
        </p:nvPicPr>
        <p:blipFill>
          <a:blip r:embed="rId5"/>
          <a:stretch>
            <a:fillRect/>
          </a:stretch>
        </p:blipFill>
        <p:spPr>
          <a:xfrm>
            <a:off x="1997475" y="4078534"/>
            <a:ext cx="6512588" cy="754413"/>
          </a:xfrm>
          <a:prstGeom prst="rect">
            <a:avLst/>
          </a:prstGeom>
        </p:spPr>
      </p:pic>
      <p:pic>
        <p:nvPicPr>
          <p:cNvPr id="13" name="Picture 12">
            <a:extLst>
              <a:ext uri="{FF2B5EF4-FFF2-40B4-BE49-F238E27FC236}">
                <a16:creationId xmlns:a16="http://schemas.microsoft.com/office/drawing/2014/main" xmlns="" id="{650358EC-9C7A-696F-0935-681984BE9790}"/>
              </a:ext>
            </a:extLst>
          </p:cNvPr>
          <p:cNvPicPr>
            <a:picLocks noChangeAspect="1"/>
          </p:cNvPicPr>
          <p:nvPr/>
        </p:nvPicPr>
        <p:blipFill>
          <a:blip r:embed="rId6"/>
          <a:stretch>
            <a:fillRect/>
          </a:stretch>
        </p:blipFill>
        <p:spPr>
          <a:xfrm>
            <a:off x="2525161" y="5029740"/>
            <a:ext cx="5457216" cy="382671"/>
          </a:xfrm>
          <a:prstGeom prst="rect">
            <a:avLst/>
          </a:prstGeom>
        </p:spPr>
      </p:pic>
    </p:spTree>
    <p:extLst>
      <p:ext uri="{BB962C8B-B14F-4D97-AF65-F5344CB8AC3E}">
        <p14:creationId xmlns:p14="http://schemas.microsoft.com/office/powerpoint/2010/main" xmlns="" val="315752054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424022" y="0"/>
            <a:ext cx="6763110" cy="584775"/>
          </a:xfrm>
          <a:prstGeom prst="rect">
            <a:avLst/>
          </a:prstGeom>
          <a:noFill/>
        </p:spPr>
        <p:txBody>
          <a:bodyPr wrap="square" rtlCol="0">
            <a:spAutoFit/>
          </a:bodyPr>
          <a:lstStyle/>
          <a:p>
            <a:r>
              <a:rPr lang="en-US" sz="3200" dirty="0" smtClean="0"/>
              <a:t>The Bound States and Scattering States</a:t>
            </a:r>
            <a:endParaRPr lang="en-US" sz="3200" dirty="0"/>
          </a:p>
        </p:txBody>
      </p:sp>
      <p:sp>
        <p:nvSpPr>
          <p:cNvPr id="4" name="TextBox 3"/>
          <p:cNvSpPr txBox="1"/>
          <p:nvPr/>
        </p:nvSpPr>
        <p:spPr>
          <a:xfrm>
            <a:off x="345057" y="612475"/>
            <a:ext cx="11231593" cy="1938992"/>
          </a:xfrm>
          <a:prstGeom prst="rect">
            <a:avLst/>
          </a:prstGeom>
          <a:noFill/>
        </p:spPr>
        <p:txBody>
          <a:bodyPr wrap="square" rtlCol="0">
            <a:spAutoFit/>
          </a:bodyPr>
          <a:lstStyle/>
          <a:p>
            <a:r>
              <a:rPr lang="en-US" sz="2400" dirty="0" smtClean="0"/>
              <a:t>In classical mechanics a one-dimensional time-independent potential can give rise to two rather </a:t>
            </a:r>
            <a:r>
              <a:rPr lang="en-US" sz="2400" dirty="0" smtClean="0">
                <a:solidFill>
                  <a:srgbClr val="FF0000"/>
                </a:solidFill>
              </a:rPr>
              <a:t>different kinds of motion</a:t>
            </a:r>
            <a:r>
              <a:rPr lang="en-US" sz="2400" dirty="0" smtClean="0"/>
              <a:t>.</a:t>
            </a:r>
          </a:p>
          <a:p>
            <a:r>
              <a:rPr lang="en-US" sz="2400" dirty="0" smtClean="0"/>
              <a:t>If V(x) rises higher than the particle’s total energy (E) on either side, then the particle is stuck in the potential well- it rocks back and forth between the </a:t>
            </a:r>
            <a:r>
              <a:rPr lang="en-US" sz="2400" dirty="0" smtClean="0">
                <a:solidFill>
                  <a:srgbClr val="FF0000"/>
                </a:solidFill>
              </a:rPr>
              <a:t>turning points</a:t>
            </a:r>
            <a:r>
              <a:rPr lang="en-US" sz="2400" dirty="0" smtClean="0"/>
              <a:t>, but it cannot escape. We call this a </a:t>
            </a:r>
            <a:r>
              <a:rPr lang="en-US" sz="2400" dirty="0" smtClean="0">
                <a:solidFill>
                  <a:srgbClr val="FF0000"/>
                </a:solidFill>
              </a:rPr>
              <a:t>bound state</a:t>
            </a:r>
            <a:r>
              <a:rPr lang="en-US" sz="2400" dirty="0" smtClean="0"/>
              <a:t>.</a:t>
            </a:r>
            <a:endParaRPr lang="en-US" sz="2400" dirty="0"/>
          </a:p>
        </p:txBody>
      </p:sp>
      <p:pic>
        <p:nvPicPr>
          <p:cNvPr id="1027" name="Picture 3"/>
          <p:cNvPicPr>
            <a:picLocks noChangeAspect="1" noChangeArrowheads="1"/>
          </p:cNvPicPr>
          <p:nvPr/>
        </p:nvPicPr>
        <p:blipFill>
          <a:blip r:embed="rId2"/>
          <a:srcRect/>
          <a:stretch>
            <a:fillRect/>
          </a:stretch>
        </p:blipFill>
        <p:spPr bwMode="auto">
          <a:xfrm>
            <a:off x="3308301" y="2950234"/>
            <a:ext cx="4445499" cy="2803585"/>
          </a:xfrm>
          <a:prstGeom prst="rect">
            <a:avLst/>
          </a:prstGeom>
          <a:noFill/>
          <a:ln w="9525">
            <a:noFill/>
            <a:miter lim="800000"/>
            <a:headEnd/>
            <a:tailEnd/>
          </a:ln>
          <a:effec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14068" y="0"/>
            <a:ext cx="10972800" cy="1200329"/>
          </a:xfrm>
          <a:prstGeom prst="rect">
            <a:avLst/>
          </a:prstGeom>
          <a:noFill/>
        </p:spPr>
        <p:txBody>
          <a:bodyPr wrap="square" rtlCol="0">
            <a:spAutoFit/>
          </a:bodyPr>
          <a:lstStyle/>
          <a:p>
            <a:r>
              <a:rPr lang="en-US" sz="2400" dirty="0" smtClean="0"/>
              <a:t>If E exceeds V(x) on one side (or both), then the particle comes in from infinity, slows down or speeds up under the influence of the potential, and returns to infinity. We call this a </a:t>
            </a:r>
            <a:r>
              <a:rPr lang="en-US" sz="2400" dirty="0" smtClean="0">
                <a:solidFill>
                  <a:srgbClr val="FF0000"/>
                </a:solidFill>
              </a:rPr>
              <a:t>scattering state</a:t>
            </a:r>
            <a:r>
              <a:rPr lang="en-US" sz="2400" dirty="0" smtClean="0"/>
              <a:t>.</a:t>
            </a:r>
            <a:endParaRPr lang="en-US" sz="2400" dirty="0"/>
          </a:p>
        </p:txBody>
      </p:sp>
      <p:pic>
        <p:nvPicPr>
          <p:cNvPr id="2052" name="Picture 4"/>
          <p:cNvPicPr>
            <a:picLocks noChangeAspect="1" noChangeArrowheads="1"/>
          </p:cNvPicPr>
          <p:nvPr/>
        </p:nvPicPr>
        <p:blipFill>
          <a:blip r:embed="rId2"/>
          <a:srcRect/>
          <a:stretch>
            <a:fillRect/>
          </a:stretch>
        </p:blipFill>
        <p:spPr bwMode="auto">
          <a:xfrm>
            <a:off x="3476443" y="732527"/>
            <a:ext cx="6299711" cy="1924201"/>
          </a:xfrm>
          <a:prstGeom prst="rect">
            <a:avLst/>
          </a:prstGeom>
          <a:noFill/>
          <a:ln w="9525">
            <a:noFill/>
            <a:miter lim="800000"/>
            <a:headEnd/>
            <a:tailEnd/>
          </a:ln>
          <a:effectLst/>
        </p:spPr>
      </p:pic>
      <p:pic>
        <p:nvPicPr>
          <p:cNvPr id="2053" name="Picture 5"/>
          <p:cNvPicPr>
            <a:picLocks noChangeAspect="1" noChangeArrowheads="1"/>
          </p:cNvPicPr>
          <p:nvPr/>
        </p:nvPicPr>
        <p:blipFill>
          <a:blip r:embed="rId3"/>
          <a:srcRect/>
          <a:stretch>
            <a:fillRect/>
          </a:stretch>
        </p:blipFill>
        <p:spPr bwMode="auto">
          <a:xfrm>
            <a:off x="1854679" y="2660889"/>
            <a:ext cx="6773533" cy="939868"/>
          </a:xfrm>
          <a:prstGeom prst="rect">
            <a:avLst/>
          </a:prstGeom>
          <a:noFill/>
          <a:ln w="9525">
            <a:noFill/>
            <a:miter lim="800000"/>
            <a:headEnd/>
            <a:tailEnd/>
          </a:ln>
          <a:effectLst/>
        </p:spPr>
      </p:pic>
      <p:grpSp>
        <p:nvGrpSpPr>
          <p:cNvPr id="10" name="Group 9"/>
          <p:cNvGrpSpPr/>
          <p:nvPr/>
        </p:nvGrpSpPr>
        <p:grpSpPr>
          <a:xfrm>
            <a:off x="845389" y="3761117"/>
            <a:ext cx="8445260" cy="1308805"/>
            <a:chOff x="845389" y="3761117"/>
            <a:chExt cx="8445260" cy="1308805"/>
          </a:xfrm>
        </p:grpSpPr>
        <p:sp>
          <p:nvSpPr>
            <p:cNvPr id="8" name="TextBox 7"/>
            <p:cNvSpPr txBox="1"/>
            <p:nvPr/>
          </p:nvSpPr>
          <p:spPr>
            <a:xfrm>
              <a:off x="845389" y="3761117"/>
              <a:ext cx="8445260" cy="461665"/>
            </a:xfrm>
            <a:prstGeom prst="rect">
              <a:avLst/>
            </a:prstGeom>
            <a:noFill/>
          </p:spPr>
          <p:txBody>
            <a:bodyPr wrap="square" rtlCol="0">
              <a:spAutoFit/>
            </a:bodyPr>
            <a:lstStyle/>
            <a:p>
              <a:r>
                <a:rPr lang="en-US" sz="2400" dirty="0" smtClean="0"/>
                <a:t>In “real life” most potentials go to zero at infinity, in which case</a:t>
              </a:r>
              <a:endParaRPr lang="en-US" sz="2400" dirty="0"/>
            </a:p>
          </p:txBody>
        </p:sp>
        <p:pic>
          <p:nvPicPr>
            <p:cNvPr id="2055" name="Picture 7"/>
            <p:cNvPicPr>
              <a:picLocks noChangeAspect="1" noChangeArrowheads="1"/>
            </p:cNvPicPr>
            <p:nvPr/>
          </p:nvPicPr>
          <p:blipFill>
            <a:blip r:embed="rId4"/>
            <a:srcRect/>
            <a:stretch>
              <a:fillRect/>
            </a:stretch>
          </p:blipFill>
          <p:spPr bwMode="auto">
            <a:xfrm>
              <a:off x="2191109" y="4161167"/>
              <a:ext cx="4312130" cy="908755"/>
            </a:xfrm>
            <a:prstGeom prst="rect">
              <a:avLst/>
            </a:prstGeom>
            <a:noFill/>
            <a:ln w="9525">
              <a:noFill/>
              <a:miter lim="800000"/>
              <a:headEnd/>
              <a:tailEnd/>
            </a:ln>
            <a:effectLst/>
          </p:spPr>
        </p:pic>
      </p:grpSp>
      <p:grpSp>
        <p:nvGrpSpPr>
          <p:cNvPr id="13" name="Group 12"/>
          <p:cNvGrpSpPr/>
          <p:nvPr/>
        </p:nvGrpSpPr>
        <p:grpSpPr>
          <a:xfrm>
            <a:off x="735672" y="5389892"/>
            <a:ext cx="11011888" cy="1154861"/>
            <a:chOff x="709793" y="5131099"/>
            <a:chExt cx="11011888" cy="1154861"/>
          </a:xfrm>
        </p:grpSpPr>
        <p:pic>
          <p:nvPicPr>
            <p:cNvPr id="2056" name="Picture 8"/>
            <p:cNvPicPr>
              <a:picLocks noChangeAspect="1" noChangeArrowheads="1"/>
            </p:cNvPicPr>
            <p:nvPr/>
          </p:nvPicPr>
          <p:blipFill>
            <a:blip r:embed="rId5"/>
            <a:srcRect/>
            <a:stretch>
              <a:fillRect/>
            </a:stretch>
          </p:blipFill>
          <p:spPr bwMode="auto">
            <a:xfrm>
              <a:off x="743307" y="5131099"/>
              <a:ext cx="10978374" cy="777995"/>
            </a:xfrm>
            <a:prstGeom prst="rect">
              <a:avLst/>
            </a:prstGeom>
            <a:noFill/>
            <a:ln w="9525">
              <a:noFill/>
              <a:miter lim="800000"/>
              <a:headEnd/>
              <a:tailEnd/>
            </a:ln>
            <a:effectLst/>
          </p:spPr>
        </p:pic>
        <p:pic>
          <p:nvPicPr>
            <p:cNvPr id="2057" name="Picture 9"/>
            <p:cNvPicPr>
              <a:picLocks noChangeAspect="1" noChangeArrowheads="1"/>
            </p:cNvPicPr>
            <p:nvPr/>
          </p:nvPicPr>
          <p:blipFill>
            <a:blip r:embed="rId6"/>
            <a:srcRect/>
            <a:stretch>
              <a:fillRect/>
            </a:stretch>
          </p:blipFill>
          <p:spPr bwMode="auto">
            <a:xfrm>
              <a:off x="709793" y="5885910"/>
              <a:ext cx="6562725" cy="400050"/>
            </a:xfrm>
            <a:prstGeom prst="rect">
              <a:avLst/>
            </a:prstGeom>
            <a:noFill/>
            <a:ln w="9525">
              <a:noFill/>
              <a:miter lim="800000"/>
              <a:headEnd/>
              <a:tailEnd/>
            </a:ln>
            <a:effectLst/>
          </p:spPr>
        </p:pic>
      </p:gr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795623" y="0"/>
            <a:ext cx="4304581" cy="523220"/>
          </a:xfrm>
          <a:prstGeom prst="rect">
            <a:avLst/>
          </a:prstGeom>
          <a:noFill/>
        </p:spPr>
        <p:txBody>
          <a:bodyPr wrap="square" rtlCol="0">
            <a:spAutoFit/>
          </a:bodyPr>
          <a:lstStyle/>
          <a:p>
            <a:r>
              <a:rPr lang="en-US" sz="2800" dirty="0" smtClean="0"/>
              <a:t>The Delta-function Potential</a:t>
            </a:r>
            <a:endParaRPr lang="en-US" sz="2800" dirty="0"/>
          </a:p>
        </p:txBody>
      </p:sp>
      <p:pic>
        <p:nvPicPr>
          <p:cNvPr id="1026" name="Picture 2"/>
          <p:cNvPicPr>
            <a:picLocks noChangeAspect="1" noChangeArrowheads="1"/>
          </p:cNvPicPr>
          <p:nvPr/>
        </p:nvPicPr>
        <p:blipFill>
          <a:blip r:embed="rId2"/>
          <a:srcRect/>
          <a:stretch>
            <a:fillRect/>
          </a:stretch>
        </p:blipFill>
        <p:spPr bwMode="auto">
          <a:xfrm>
            <a:off x="310550" y="539421"/>
            <a:ext cx="3350643" cy="2032103"/>
          </a:xfrm>
          <a:prstGeom prst="rect">
            <a:avLst/>
          </a:prstGeom>
          <a:noFill/>
          <a:ln w="9525">
            <a:noFill/>
            <a:miter lim="800000"/>
            <a:headEnd/>
            <a:tailEnd/>
          </a:ln>
          <a:effectLst/>
        </p:spPr>
      </p:pic>
      <p:pic>
        <p:nvPicPr>
          <p:cNvPr id="1027" name="Picture 3"/>
          <p:cNvPicPr>
            <a:picLocks noChangeAspect="1" noChangeArrowheads="1"/>
          </p:cNvPicPr>
          <p:nvPr/>
        </p:nvPicPr>
        <p:blipFill>
          <a:blip r:embed="rId3"/>
          <a:srcRect/>
          <a:stretch>
            <a:fillRect/>
          </a:stretch>
        </p:blipFill>
        <p:spPr bwMode="auto">
          <a:xfrm>
            <a:off x="3804249" y="920062"/>
            <a:ext cx="8143336" cy="1516081"/>
          </a:xfrm>
          <a:prstGeom prst="rect">
            <a:avLst/>
          </a:prstGeom>
          <a:noFill/>
          <a:ln w="9525">
            <a:noFill/>
            <a:miter lim="800000"/>
            <a:headEnd/>
            <a:tailEnd/>
          </a:ln>
          <a:effectLst/>
        </p:spPr>
      </p:pic>
      <p:grpSp>
        <p:nvGrpSpPr>
          <p:cNvPr id="7" name="Group 6"/>
          <p:cNvGrpSpPr/>
          <p:nvPr/>
        </p:nvGrpSpPr>
        <p:grpSpPr>
          <a:xfrm>
            <a:off x="854012" y="3071004"/>
            <a:ext cx="10673753" cy="361025"/>
            <a:chOff x="414066" y="3088256"/>
            <a:chExt cx="10673753" cy="361025"/>
          </a:xfrm>
        </p:grpSpPr>
        <p:pic>
          <p:nvPicPr>
            <p:cNvPr id="1028" name="Picture 4"/>
            <p:cNvPicPr>
              <a:picLocks noChangeAspect="1" noChangeArrowheads="1"/>
            </p:cNvPicPr>
            <p:nvPr/>
          </p:nvPicPr>
          <p:blipFill>
            <a:blip r:embed="rId4"/>
            <a:srcRect/>
            <a:stretch>
              <a:fillRect/>
            </a:stretch>
          </p:blipFill>
          <p:spPr bwMode="auto">
            <a:xfrm>
              <a:off x="414066" y="3115036"/>
              <a:ext cx="6350659" cy="334245"/>
            </a:xfrm>
            <a:prstGeom prst="rect">
              <a:avLst/>
            </a:prstGeom>
            <a:noFill/>
            <a:ln w="9525">
              <a:noFill/>
              <a:miter lim="800000"/>
              <a:headEnd/>
              <a:tailEnd/>
            </a:ln>
            <a:effectLst/>
          </p:spPr>
        </p:pic>
        <p:pic>
          <p:nvPicPr>
            <p:cNvPr id="1029" name="Picture 5"/>
            <p:cNvPicPr>
              <a:picLocks noChangeAspect="1" noChangeArrowheads="1"/>
            </p:cNvPicPr>
            <p:nvPr/>
          </p:nvPicPr>
          <p:blipFill>
            <a:blip r:embed="rId5"/>
            <a:srcRect/>
            <a:stretch>
              <a:fillRect/>
            </a:stretch>
          </p:blipFill>
          <p:spPr bwMode="auto">
            <a:xfrm>
              <a:off x="6728604" y="3088256"/>
              <a:ext cx="4359215" cy="356461"/>
            </a:xfrm>
            <a:prstGeom prst="rect">
              <a:avLst/>
            </a:prstGeom>
            <a:noFill/>
            <a:ln w="9525">
              <a:noFill/>
              <a:miter lim="800000"/>
              <a:headEnd/>
              <a:tailEnd/>
            </a:ln>
            <a:effectLst/>
          </p:spPr>
        </p:pic>
      </p:grpSp>
      <p:pic>
        <p:nvPicPr>
          <p:cNvPr id="1030" name="Picture 6"/>
          <p:cNvPicPr>
            <a:picLocks noChangeAspect="1" noChangeArrowheads="1"/>
          </p:cNvPicPr>
          <p:nvPr/>
        </p:nvPicPr>
        <p:blipFill>
          <a:blip r:embed="rId6"/>
          <a:srcRect/>
          <a:stretch>
            <a:fillRect/>
          </a:stretch>
        </p:blipFill>
        <p:spPr bwMode="auto">
          <a:xfrm>
            <a:off x="3987021" y="3559115"/>
            <a:ext cx="4476750" cy="533400"/>
          </a:xfrm>
          <a:prstGeom prst="rect">
            <a:avLst/>
          </a:prstGeom>
          <a:noFill/>
          <a:ln w="9525">
            <a:noFill/>
            <a:miter lim="800000"/>
            <a:headEnd/>
            <a:tailEnd/>
          </a:ln>
          <a:effectLst/>
        </p:spPr>
      </p:pic>
      <p:grpSp>
        <p:nvGrpSpPr>
          <p:cNvPr id="11" name="Group 10"/>
          <p:cNvGrpSpPr/>
          <p:nvPr/>
        </p:nvGrpSpPr>
        <p:grpSpPr>
          <a:xfrm>
            <a:off x="2303253" y="2654872"/>
            <a:ext cx="7101071" cy="341644"/>
            <a:chOff x="715992" y="4147241"/>
            <a:chExt cx="7101071" cy="341644"/>
          </a:xfrm>
        </p:grpSpPr>
        <p:pic>
          <p:nvPicPr>
            <p:cNvPr id="1031" name="Picture 7"/>
            <p:cNvPicPr>
              <a:picLocks noChangeAspect="1" noChangeArrowheads="1"/>
            </p:cNvPicPr>
            <p:nvPr/>
          </p:nvPicPr>
          <p:blipFill>
            <a:blip r:embed="rId7"/>
            <a:srcRect/>
            <a:stretch>
              <a:fillRect/>
            </a:stretch>
          </p:blipFill>
          <p:spPr bwMode="auto">
            <a:xfrm>
              <a:off x="715992" y="4192170"/>
              <a:ext cx="4190460" cy="282747"/>
            </a:xfrm>
            <a:prstGeom prst="rect">
              <a:avLst/>
            </a:prstGeom>
            <a:noFill/>
            <a:ln w="9525">
              <a:noFill/>
              <a:miter lim="800000"/>
              <a:headEnd/>
              <a:tailEnd/>
            </a:ln>
            <a:effectLst/>
          </p:spPr>
        </p:pic>
        <p:pic>
          <p:nvPicPr>
            <p:cNvPr id="1032" name="Picture 8"/>
            <p:cNvPicPr>
              <a:picLocks noChangeAspect="1" noChangeArrowheads="1"/>
            </p:cNvPicPr>
            <p:nvPr/>
          </p:nvPicPr>
          <p:blipFill>
            <a:blip r:embed="rId8"/>
            <a:srcRect/>
            <a:stretch>
              <a:fillRect/>
            </a:stretch>
          </p:blipFill>
          <p:spPr bwMode="auto">
            <a:xfrm>
              <a:off x="4917060" y="4147241"/>
              <a:ext cx="2900003" cy="341644"/>
            </a:xfrm>
            <a:prstGeom prst="rect">
              <a:avLst/>
            </a:prstGeom>
            <a:noFill/>
            <a:ln w="9525">
              <a:noFill/>
              <a:miter lim="800000"/>
              <a:headEnd/>
              <a:tailEnd/>
            </a:ln>
            <a:effectLst/>
          </p:spPr>
        </p:pic>
      </p:grpSp>
      <p:pic>
        <p:nvPicPr>
          <p:cNvPr id="1033" name="Picture 9"/>
          <p:cNvPicPr>
            <a:picLocks noChangeAspect="1" noChangeArrowheads="1"/>
          </p:cNvPicPr>
          <p:nvPr/>
        </p:nvPicPr>
        <p:blipFill>
          <a:blip r:embed="rId9"/>
          <a:srcRect/>
          <a:stretch>
            <a:fillRect/>
          </a:stretch>
        </p:blipFill>
        <p:spPr bwMode="auto">
          <a:xfrm>
            <a:off x="1992701" y="4251206"/>
            <a:ext cx="8079357" cy="1351403"/>
          </a:xfrm>
          <a:prstGeom prst="rect">
            <a:avLst/>
          </a:prstGeom>
          <a:noFill/>
          <a:ln w="9525">
            <a:noFill/>
            <a:miter lim="800000"/>
            <a:headEnd/>
            <a:tailEnd/>
          </a:ln>
          <a:effectLst/>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3355676" y="261488"/>
            <a:ext cx="4233324" cy="820678"/>
            <a:chOff x="3355676" y="261488"/>
            <a:chExt cx="4233324" cy="820678"/>
          </a:xfrm>
        </p:grpSpPr>
        <p:pic>
          <p:nvPicPr>
            <p:cNvPr id="2050" name="Picture 2"/>
            <p:cNvPicPr>
              <a:picLocks noChangeAspect="1" noChangeArrowheads="1"/>
            </p:cNvPicPr>
            <p:nvPr/>
          </p:nvPicPr>
          <p:blipFill>
            <a:blip r:embed="rId2"/>
            <a:srcRect/>
            <a:stretch>
              <a:fillRect/>
            </a:stretch>
          </p:blipFill>
          <p:spPr bwMode="auto">
            <a:xfrm>
              <a:off x="3355676" y="261488"/>
              <a:ext cx="4233324" cy="302895"/>
            </a:xfrm>
            <a:prstGeom prst="rect">
              <a:avLst/>
            </a:prstGeom>
            <a:noFill/>
            <a:ln w="9525">
              <a:noFill/>
              <a:miter lim="800000"/>
              <a:headEnd/>
              <a:tailEnd/>
            </a:ln>
            <a:effectLst/>
          </p:spPr>
        </p:pic>
        <p:pic>
          <p:nvPicPr>
            <p:cNvPr id="2051" name="Picture 3"/>
            <p:cNvPicPr>
              <a:picLocks noChangeAspect="1" noChangeArrowheads="1"/>
            </p:cNvPicPr>
            <p:nvPr/>
          </p:nvPicPr>
          <p:blipFill>
            <a:blip r:embed="rId3"/>
            <a:srcRect/>
            <a:stretch>
              <a:fillRect/>
            </a:stretch>
          </p:blipFill>
          <p:spPr bwMode="auto">
            <a:xfrm>
              <a:off x="3658409" y="634491"/>
              <a:ext cx="2390775" cy="447675"/>
            </a:xfrm>
            <a:prstGeom prst="rect">
              <a:avLst/>
            </a:prstGeom>
            <a:noFill/>
            <a:ln w="9525">
              <a:noFill/>
              <a:miter lim="800000"/>
              <a:headEnd/>
              <a:tailEnd/>
            </a:ln>
            <a:effectLst/>
          </p:spPr>
        </p:pic>
      </p:grpSp>
      <p:pic>
        <p:nvPicPr>
          <p:cNvPr id="2052" name="Picture 4"/>
          <p:cNvPicPr>
            <a:picLocks noChangeAspect="1" noChangeArrowheads="1"/>
          </p:cNvPicPr>
          <p:nvPr/>
        </p:nvPicPr>
        <p:blipFill>
          <a:blip r:embed="rId4"/>
          <a:srcRect/>
          <a:stretch>
            <a:fillRect/>
          </a:stretch>
        </p:blipFill>
        <p:spPr bwMode="auto">
          <a:xfrm>
            <a:off x="7021902" y="733604"/>
            <a:ext cx="3321979" cy="179914"/>
          </a:xfrm>
          <a:prstGeom prst="rect">
            <a:avLst/>
          </a:prstGeom>
          <a:noFill/>
          <a:ln w="9525">
            <a:noFill/>
            <a:miter lim="800000"/>
            <a:headEnd/>
            <a:tailEnd/>
          </a:ln>
          <a:effectLst/>
        </p:spPr>
      </p:pic>
      <p:pic>
        <p:nvPicPr>
          <p:cNvPr id="2053" name="Picture 5"/>
          <p:cNvPicPr>
            <a:picLocks noChangeAspect="1" noChangeArrowheads="1"/>
          </p:cNvPicPr>
          <p:nvPr/>
        </p:nvPicPr>
        <p:blipFill>
          <a:blip r:embed="rId5"/>
          <a:srcRect/>
          <a:stretch>
            <a:fillRect/>
          </a:stretch>
        </p:blipFill>
        <p:spPr bwMode="auto">
          <a:xfrm>
            <a:off x="655607" y="1567044"/>
            <a:ext cx="2834676" cy="317314"/>
          </a:xfrm>
          <a:prstGeom prst="rect">
            <a:avLst/>
          </a:prstGeom>
          <a:noFill/>
          <a:ln w="9525">
            <a:noFill/>
            <a:miter lim="800000"/>
            <a:headEnd/>
            <a:tailEnd/>
          </a:ln>
          <a:effectLst/>
        </p:spPr>
      </p:pic>
      <p:pic>
        <p:nvPicPr>
          <p:cNvPr id="2054" name="Picture 6"/>
          <p:cNvPicPr>
            <a:picLocks noChangeAspect="1" noChangeArrowheads="1"/>
          </p:cNvPicPr>
          <p:nvPr/>
        </p:nvPicPr>
        <p:blipFill>
          <a:blip r:embed="rId6"/>
          <a:srcRect/>
          <a:stretch>
            <a:fillRect/>
          </a:stretch>
        </p:blipFill>
        <p:spPr bwMode="auto">
          <a:xfrm>
            <a:off x="3735236" y="1628148"/>
            <a:ext cx="3763813" cy="837324"/>
          </a:xfrm>
          <a:prstGeom prst="rect">
            <a:avLst/>
          </a:prstGeom>
          <a:noFill/>
          <a:ln w="9525">
            <a:noFill/>
            <a:miter lim="800000"/>
            <a:headEnd/>
            <a:tailEnd/>
          </a:ln>
          <a:effectLst/>
        </p:spPr>
      </p:pic>
      <p:pic>
        <p:nvPicPr>
          <p:cNvPr id="2055" name="Picture 7"/>
          <p:cNvPicPr>
            <a:picLocks noChangeAspect="1" noChangeArrowheads="1"/>
          </p:cNvPicPr>
          <p:nvPr/>
        </p:nvPicPr>
        <p:blipFill>
          <a:blip r:embed="rId7"/>
          <a:srcRect/>
          <a:stretch>
            <a:fillRect/>
          </a:stretch>
        </p:blipFill>
        <p:spPr bwMode="auto">
          <a:xfrm>
            <a:off x="1104181" y="2660351"/>
            <a:ext cx="9022781" cy="757697"/>
          </a:xfrm>
          <a:prstGeom prst="rect">
            <a:avLst/>
          </a:prstGeom>
          <a:noFill/>
          <a:ln w="9525">
            <a:noFill/>
            <a:miter lim="800000"/>
            <a:headEnd/>
            <a:tailEnd/>
          </a:ln>
          <a:effectLst/>
        </p:spPr>
      </p:pic>
      <p:pic>
        <p:nvPicPr>
          <p:cNvPr id="2056" name="Picture 8"/>
          <p:cNvPicPr>
            <a:picLocks noChangeAspect="1" noChangeArrowheads="1"/>
          </p:cNvPicPr>
          <p:nvPr/>
        </p:nvPicPr>
        <p:blipFill>
          <a:blip r:embed="rId8"/>
          <a:srcRect/>
          <a:stretch>
            <a:fillRect/>
          </a:stretch>
        </p:blipFill>
        <p:spPr bwMode="auto">
          <a:xfrm>
            <a:off x="1906438" y="3748808"/>
            <a:ext cx="6468014" cy="2163816"/>
          </a:xfrm>
          <a:prstGeom prst="rect">
            <a:avLst/>
          </a:prstGeom>
          <a:noFill/>
          <a:ln w="9525">
            <a:noFill/>
            <a:miter lim="800000"/>
            <a:headEnd/>
            <a:tailEnd/>
          </a:ln>
          <a:effectLst/>
        </p:spPr>
      </p:pic>
      <p:pic>
        <p:nvPicPr>
          <p:cNvPr id="2057" name="Picture 9"/>
          <p:cNvPicPr>
            <a:picLocks noChangeAspect="1" noChangeArrowheads="1"/>
          </p:cNvPicPr>
          <p:nvPr/>
        </p:nvPicPr>
        <p:blipFill>
          <a:blip r:embed="rId9"/>
          <a:srcRect/>
          <a:stretch>
            <a:fillRect/>
          </a:stretch>
        </p:blipFill>
        <p:spPr bwMode="auto">
          <a:xfrm>
            <a:off x="2096219" y="5951060"/>
            <a:ext cx="6989643" cy="323814"/>
          </a:xfrm>
          <a:prstGeom prst="rect">
            <a:avLst/>
          </a:prstGeom>
          <a:noFill/>
          <a:ln w="9525">
            <a:noFill/>
            <a:miter lim="800000"/>
            <a:headEnd/>
            <a:tailEnd/>
          </a:ln>
          <a:effectLst/>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srcRect/>
          <a:stretch>
            <a:fillRect/>
          </a:stretch>
        </p:blipFill>
        <p:spPr bwMode="auto">
          <a:xfrm>
            <a:off x="1587260" y="367971"/>
            <a:ext cx="2404613" cy="329901"/>
          </a:xfrm>
          <a:prstGeom prst="rect">
            <a:avLst/>
          </a:prstGeom>
          <a:noFill/>
          <a:ln w="9525">
            <a:noFill/>
            <a:miter lim="800000"/>
            <a:headEnd/>
            <a:tailEnd/>
          </a:ln>
          <a:effectLst/>
        </p:spPr>
      </p:pic>
      <p:pic>
        <p:nvPicPr>
          <p:cNvPr id="3075" name="Picture 3"/>
          <p:cNvPicPr>
            <a:picLocks noChangeAspect="1" noChangeArrowheads="1"/>
          </p:cNvPicPr>
          <p:nvPr/>
        </p:nvPicPr>
        <p:blipFill>
          <a:blip r:embed="rId3"/>
          <a:srcRect/>
          <a:stretch>
            <a:fillRect/>
          </a:stretch>
        </p:blipFill>
        <p:spPr bwMode="auto">
          <a:xfrm>
            <a:off x="4311590" y="325108"/>
            <a:ext cx="3448050" cy="514350"/>
          </a:xfrm>
          <a:prstGeom prst="rect">
            <a:avLst/>
          </a:prstGeom>
          <a:noFill/>
          <a:ln w="9525">
            <a:noFill/>
            <a:miter lim="800000"/>
            <a:headEnd/>
            <a:tailEnd/>
          </a:ln>
          <a:effectLst/>
        </p:spPr>
      </p:pic>
      <p:pic>
        <p:nvPicPr>
          <p:cNvPr id="3076" name="Picture 4"/>
          <p:cNvPicPr>
            <a:picLocks noChangeAspect="1" noChangeArrowheads="1"/>
          </p:cNvPicPr>
          <p:nvPr/>
        </p:nvPicPr>
        <p:blipFill>
          <a:blip r:embed="rId4"/>
          <a:srcRect/>
          <a:stretch>
            <a:fillRect/>
          </a:stretch>
        </p:blipFill>
        <p:spPr bwMode="auto">
          <a:xfrm>
            <a:off x="1492369" y="1054220"/>
            <a:ext cx="8320716" cy="347354"/>
          </a:xfrm>
          <a:prstGeom prst="rect">
            <a:avLst/>
          </a:prstGeom>
          <a:noFill/>
          <a:ln w="9525">
            <a:noFill/>
            <a:miter lim="800000"/>
            <a:headEnd/>
            <a:tailEnd/>
          </a:ln>
          <a:effectLst/>
        </p:spPr>
      </p:pic>
      <p:pic>
        <p:nvPicPr>
          <p:cNvPr id="3077" name="Picture 5"/>
          <p:cNvPicPr>
            <a:picLocks noChangeAspect="1" noChangeArrowheads="1"/>
          </p:cNvPicPr>
          <p:nvPr/>
        </p:nvPicPr>
        <p:blipFill>
          <a:blip r:embed="rId5"/>
          <a:srcRect/>
          <a:stretch>
            <a:fillRect/>
          </a:stretch>
        </p:blipFill>
        <p:spPr bwMode="auto">
          <a:xfrm>
            <a:off x="3712684" y="1442049"/>
            <a:ext cx="3800475" cy="609600"/>
          </a:xfrm>
          <a:prstGeom prst="rect">
            <a:avLst/>
          </a:prstGeom>
          <a:noFill/>
          <a:ln w="9525">
            <a:noFill/>
            <a:miter lim="800000"/>
            <a:headEnd/>
            <a:tailEnd/>
          </a:ln>
          <a:effectLst/>
        </p:spPr>
      </p:pic>
      <p:grpSp>
        <p:nvGrpSpPr>
          <p:cNvPr id="8" name="Group 7"/>
          <p:cNvGrpSpPr/>
          <p:nvPr/>
        </p:nvGrpSpPr>
        <p:grpSpPr>
          <a:xfrm>
            <a:off x="1233578" y="2330481"/>
            <a:ext cx="9842020" cy="1040780"/>
            <a:chOff x="1233578" y="2330481"/>
            <a:chExt cx="9842020" cy="1040780"/>
          </a:xfrm>
        </p:grpSpPr>
        <p:pic>
          <p:nvPicPr>
            <p:cNvPr id="3078" name="Picture 6"/>
            <p:cNvPicPr>
              <a:picLocks noChangeAspect="1" noChangeArrowheads="1"/>
            </p:cNvPicPr>
            <p:nvPr/>
          </p:nvPicPr>
          <p:blipFill>
            <a:blip r:embed="rId6"/>
            <a:srcRect/>
            <a:stretch>
              <a:fillRect/>
            </a:stretch>
          </p:blipFill>
          <p:spPr bwMode="auto">
            <a:xfrm>
              <a:off x="1302589" y="2330481"/>
              <a:ext cx="9773009" cy="714536"/>
            </a:xfrm>
            <a:prstGeom prst="rect">
              <a:avLst/>
            </a:prstGeom>
            <a:noFill/>
            <a:ln w="9525">
              <a:noFill/>
              <a:miter lim="800000"/>
              <a:headEnd/>
              <a:tailEnd/>
            </a:ln>
            <a:effectLst/>
          </p:spPr>
        </p:pic>
        <p:pic>
          <p:nvPicPr>
            <p:cNvPr id="3079" name="Picture 7"/>
            <p:cNvPicPr>
              <a:picLocks noChangeAspect="1" noChangeArrowheads="1"/>
            </p:cNvPicPr>
            <p:nvPr/>
          </p:nvPicPr>
          <p:blipFill>
            <a:blip r:embed="rId7"/>
            <a:srcRect/>
            <a:stretch>
              <a:fillRect/>
            </a:stretch>
          </p:blipFill>
          <p:spPr bwMode="auto">
            <a:xfrm>
              <a:off x="1233578" y="3039194"/>
              <a:ext cx="1185952" cy="332067"/>
            </a:xfrm>
            <a:prstGeom prst="rect">
              <a:avLst/>
            </a:prstGeom>
            <a:noFill/>
            <a:ln w="9525">
              <a:noFill/>
              <a:miter lim="800000"/>
              <a:headEnd/>
              <a:tailEnd/>
            </a:ln>
            <a:effectLst/>
          </p:spPr>
        </p:pic>
      </p:grpSp>
      <p:pic>
        <p:nvPicPr>
          <p:cNvPr id="3080" name="Picture 8"/>
          <p:cNvPicPr>
            <a:picLocks noChangeAspect="1" noChangeArrowheads="1"/>
          </p:cNvPicPr>
          <p:nvPr/>
        </p:nvPicPr>
        <p:blipFill>
          <a:blip r:embed="rId8"/>
          <a:srcRect/>
          <a:stretch>
            <a:fillRect/>
          </a:stretch>
        </p:blipFill>
        <p:spPr bwMode="auto">
          <a:xfrm>
            <a:off x="3665598" y="3266986"/>
            <a:ext cx="4067175" cy="600075"/>
          </a:xfrm>
          <a:prstGeom prst="rect">
            <a:avLst/>
          </a:prstGeom>
          <a:noFill/>
          <a:ln w="9525">
            <a:noFill/>
            <a:miter lim="800000"/>
            <a:headEnd/>
            <a:tailEnd/>
          </a:ln>
          <a:effectLst/>
        </p:spPr>
      </p:pic>
      <p:sp>
        <p:nvSpPr>
          <p:cNvPr id="10" name="TextBox 9"/>
          <p:cNvSpPr txBox="1"/>
          <p:nvPr/>
        </p:nvSpPr>
        <p:spPr>
          <a:xfrm>
            <a:off x="1345721" y="4054415"/>
            <a:ext cx="7746521" cy="461665"/>
          </a:xfrm>
          <a:prstGeom prst="rect">
            <a:avLst/>
          </a:prstGeom>
          <a:noFill/>
        </p:spPr>
        <p:txBody>
          <a:bodyPr wrap="square" rtlCol="0">
            <a:spAutoFit/>
          </a:bodyPr>
          <a:lstStyle/>
          <a:p>
            <a:r>
              <a:rPr lang="en-US" sz="2400" dirty="0" smtClean="0"/>
              <a:t>The boundary conditions of the wave function are</a:t>
            </a:r>
            <a:endParaRPr lang="en-US" sz="2400" dirty="0"/>
          </a:p>
        </p:txBody>
      </p:sp>
      <p:pic>
        <p:nvPicPr>
          <p:cNvPr id="3081" name="Picture 9"/>
          <p:cNvPicPr>
            <a:picLocks noChangeAspect="1" noChangeArrowheads="1"/>
          </p:cNvPicPr>
          <p:nvPr/>
        </p:nvPicPr>
        <p:blipFill>
          <a:blip r:embed="rId9"/>
          <a:srcRect/>
          <a:stretch>
            <a:fillRect/>
          </a:stretch>
        </p:blipFill>
        <p:spPr bwMode="auto">
          <a:xfrm>
            <a:off x="1509622" y="4808060"/>
            <a:ext cx="8754373" cy="749172"/>
          </a:xfrm>
          <a:prstGeom prst="rect">
            <a:avLst/>
          </a:prstGeom>
          <a:noFill/>
          <a:ln w="9525">
            <a:noFill/>
            <a:miter lim="800000"/>
            <a:headEnd/>
            <a:tailEnd/>
          </a:ln>
          <a:effectLst/>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srcRect/>
          <a:stretch>
            <a:fillRect/>
          </a:stretch>
        </p:blipFill>
        <p:spPr bwMode="auto">
          <a:xfrm>
            <a:off x="1966823" y="258973"/>
            <a:ext cx="7676521" cy="1406976"/>
          </a:xfrm>
          <a:prstGeom prst="rect">
            <a:avLst/>
          </a:prstGeom>
          <a:noFill/>
          <a:ln w="9525">
            <a:noFill/>
            <a:miter lim="800000"/>
            <a:headEnd/>
            <a:tailEnd/>
          </a:ln>
          <a:effectLst/>
        </p:spPr>
      </p:pic>
      <p:pic>
        <p:nvPicPr>
          <p:cNvPr id="4099" name="Picture 3"/>
          <p:cNvPicPr>
            <a:picLocks noChangeAspect="1" noChangeArrowheads="1"/>
          </p:cNvPicPr>
          <p:nvPr/>
        </p:nvPicPr>
        <p:blipFill>
          <a:blip r:embed="rId3"/>
          <a:srcRect/>
          <a:stretch>
            <a:fillRect/>
          </a:stretch>
        </p:blipFill>
        <p:spPr bwMode="auto">
          <a:xfrm>
            <a:off x="284672" y="778984"/>
            <a:ext cx="4455364" cy="2203135"/>
          </a:xfrm>
          <a:prstGeom prst="rect">
            <a:avLst/>
          </a:prstGeom>
          <a:noFill/>
          <a:ln w="9525">
            <a:noFill/>
            <a:miter lim="800000"/>
            <a:headEnd/>
            <a:tailEnd/>
          </a:ln>
          <a:effectLst/>
        </p:spPr>
      </p:pic>
      <p:sp>
        <p:nvSpPr>
          <p:cNvPr id="4" name="TextBox 3"/>
          <p:cNvSpPr txBox="1"/>
          <p:nvPr/>
        </p:nvSpPr>
        <p:spPr>
          <a:xfrm>
            <a:off x="4917056" y="2001328"/>
            <a:ext cx="6685471" cy="1200329"/>
          </a:xfrm>
          <a:prstGeom prst="rect">
            <a:avLst/>
          </a:prstGeom>
          <a:noFill/>
        </p:spPr>
        <p:txBody>
          <a:bodyPr wrap="square" rtlCol="0">
            <a:spAutoFit/>
          </a:bodyPr>
          <a:lstStyle/>
          <a:p>
            <a:r>
              <a:rPr lang="en-US" sz="2400" dirty="0" smtClean="0"/>
              <a:t>Now we need to show that the derivative of wave function is continuous everywhere except at x=0, the 2</a:t>
            </a:r>
            <a:r>
              <a:rPr lang="en-US" sz="2400" baseline="30000" dirty="0" smtClean="0"/>
              <a:t>nd</a:t>
            </a:r>
            <a:r>
              <a:rPr lang="en-US" sz="2400" dirty="0" smtClean="0"/>
              <a:t> boundary condition</a:t>
            </a:r>
            <a:endParaRPr lang="en-US" sz="2400" dirty="0"/>
          </a:p>
        </p:txBody>
      </p:sp>
      <p:pic>
        <p:nvPicPr>
          <p:cNvPr id="4100" name="Picture 4"/>
          <p:cNvPicPr>
            <a:picLocks noChangeAspect="1" noChangeArrowheads="1"/>
          </p:cNvPicPr>
          <p:nvPr/>
        </p:nvPicPr>
        <p:blipFill>
          <a:blip r:embed="rId4"/>
          <a:srcRect/>
          <a:stretch>
            <a:fillRect/>
          </a:stretch>
        </p:blipFill>
        <p:spPr bwMode="auto">
          <a:xfrm>
            <a:off x="914400" y="3336537"/>
            <a:ext cx="9663832" cy="616840"/>
          </a:xfrm>
          <a:prstGeom prst="rect">
            <a:avLst/>
          </a:prstGeom>
          <a:noFill/>
          <a:ln w="9525">
            <a:noFill/>
            <a:miter lim="800000"/>
            <a:headEnd/>
            <a:tailEnd/>
          </a:ln>
          <a:effectLst/>
        </p:spPr>
      </p:pic>
      <p:pic>
        <p:nvPicPr>
          <p:cNvPr id="4101" name="Picture 5"/>
          <p:cNvPicPr>
            <a:picLocks noChangeAspect="1" noChangeArrowheads="1"/>
          </p:cNvPicPr>
          <p:nvPr/>
        </p:nvPicPr>
        <p:blipFill>
          <a:blip r:embed="rId5"/>
          <a:srcRect/>
          <a:stretch>
            <a:fillRect/>
          </a:stretch>
        </p:blipFill>
        <p:spPr bwMode="auto">
          <a:xfrm>
            <a:off x="2596551" y="3948022"/>
            <a:ext cx="7953646" cy="930834"/>
          </a:xfrm>
          <a:prstGeom prst="rect">
            <a:avLst/>
          </a:prstGeom>
          <a:noFill/>
          <a:ln w="9525">
            <a:noFill/>
            <a:miter lim="800000"/>
            <a:headEnd/>
            <a:tailEnd/>
          </a:ln>
          <a:effectLst/>
        </p:spPr>
      </p:pic>
      <p:pic>
        <p:nvPicPr>
          <p:cNvPr id="4102" name="Picture 6"/>
          <p:cNvPicPr>
            <a:picLocks noChangeAspect="1" noChangeArrowheads="1"/>
          </p:cNvPicPr>
          <p:nvPr/>
        </p:nvPicPr>
        <p:blipFill>
          <a:blip r:embed="rId6"/>
          <a:srcRect/>
          <a:stretch>
            <a:fillRect/>
          </a:stretch>
        </p:blipFill>
        <p:spPr bwMode="auto">
          <a:xfrm>
            <a:off x="802257" y="5124090"/>
            <a:ext cx="10597000" cy="1085385"/>
          </a:xfrm>
          <a:prstGeom prst="rect">
            <a:avLst/>
          </a:prstGeom>
          <a:noFill/>
          <a:ln w="9525">
            <a:noFill/>
            <a:miter lim="800000"/>
            <a:headEnd/>
            <a:tailEnd/>
          </a:ln>
          <a:effectLst/>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srcRect/>
          <a:stretch>
            <a:fillRect/>
          </a:stretch>
        </p:blipFill>
        <p:spPr bwMode="auto">
          <a:xfrm>
            <a:off x="1915063" y="189242"/>
            <a:ext cx="8996273" cy="1069368"/>
          </a:xfrm>
          <a:prstGeom prst="rect">
            <a:avLst/>
          </a:prstGeom>
          <a:noFill/>
          <a:ln w="9525">
            <a:noFill/>
            <a:miter lim="800000"/>
            <a:headEnd/>
            <a:tailEnd/>
          </a:ln>
          <a:effectLst/>
        </p:spPr>
      </p:pic>
      <p:pic>
        <p:nvPicPr>
          <p:cNvPr id="5123" name="Picture 3"/>
          <p:cNvPicPr>
            <a:picLocks noChangeAspect="1" noChangeArrowheads="1"/>
          </p:cNvPicPr>
          <p:nvPr/>
        </p:nvPicPr>
        <p:blipFill>
          <a:blip r:embed="rId3"/>
          <a:srcRect/>
          <a:stretch>
            <a:fillRect/>
          </a:stretch>
        </p:blipFill>
        <p:spPr bwMode="auto">
          <a:xfrm>
            <a:off x="1587260" y="1487608"/>
            <a:ext cx="9257222" cy="1051957"/>
          </a:xfrm>
          <a:prstGeom prst="rect">
            <a:avLst/>
          </a:prstGeom>
          <a:noFill/>
          <a:ln w="9525">
            <a:noFill/>
            <a:miter lim="800000"/>
            <a:headEnd/>
            <a:tailEnd/>
          </a:ln>
          <a:effectLst/>
        </p:spPr>
      </p:pic>
      <p:pic>
        <p:nvPicPr>
          <p:cNvPr id="5124" name="Picture 4"/>
          <p:cNvPicPr>
            <a:picLocks noChangeAspect="1" noChangeArrowheads="1"/>
          </p:cNvPicPr>
          <p:nvPr/>
        </p:nvPicPr>
        <p:blipFill>
          <a:blip r:embed="rId4"/>
          <a:srcRect/>
          <a:stretch>
            <a:fillRect/>
          </a:stretch>
        </p:blipFill>
        <p:spPr bwMode="auto">
          <a:xfrm>
            <a:off x="4278701" y="2598708"/>
            <a:ext cx="3376343" cy="1017993"/>
          </a:xfrm>
          <a:prstGeom prst="rect">
            <a:avLst/>
          </a:prstGeom>
          <a:noFill/>
          <a:ln w="9525">
            <a:noFill/>
            <a:miter lim="800000"/>
            <a:headEnd/>
            <a:tailEnd/>
          </a:ln>
          <a:effectLst/>
        </p:spPr>
      </p:pic>
      <p:pic>
        <p:nvPicPr>
          <p:cNvPr id="5125" name="Picture 5"/>
          <p:cNvPicPr>
            <a:picLocks noChangeAspect="1" noChangeArrowheads="1"/>
          </p:cNvPicPr>
          <p:nvPr/>
        </p:nvPicPr>
        <p:blipFill>
          <a:blip r:embed="rId5"/>
          <a:srcRect/>
          <a:stretch>
            <a:fillRect/>
          </a:stretch>
        </p:blipFill>
        <p:spPr bwMode="auto">
          <a:xfrm>
            <a:off x="1130060" y="3799489"/>
            <a:ext cx="2566449" cy="377646"/>
          </a:xfrm>
          <a:prstGeom prst="rect">
            <a:avLst/>
          </a:prstGeom>
          <a:noFill/>
          <a:ln w="9525">
            <a:noFill/>
            <a:miter lim="800000"/>
            <a:headEnd/>
            <a:tailEnd/>
          </a:ln>
          <a:effectLst/>
        </p:spPr>
      </p:pic>
      <p:pic>
        <p:nvPicPr>
          <p:cNvPr id="5126" name="Picture 6"/>
          <p:cNvPicPr>
            <a:picLocks noChangeAspect="1" noChangeArrowheads="1"/>
          </p:cNvPicPr>
          <p:nvPr/>
        </p:nvPicPr>
        <p:blipFill>
          <a:blip r:embed="rId6"/>
          <a:srcRect/>
          <a:stretch>
            <a:fillRect/>
          </a:stretch>
        </p:blipFill>
        <p:spPr bwMode="auto">
          <a:xfrm>
            <a:off x="2035834" y="4309434"/>
            <a:ext cx="8705940" cy="1032755"/>
          </a:xfrm>
          <a:prstGeom prst="rect">
            <a:avLst/>
          </a:prstGeom>
          <a:noFill/>
          <a:ln w="9525">
            <a:noFill/>
            <a:miter lim="800000"/>
            <a:headEnd/>
            <a:tailEnd/>
          </a:ln>
          <a:effectLst/>
        </p:spPr>
      </p:pic>
      <p:pic>
        <p:nvPicPr>
          <p:cNvPr id="5127" name="Picture 7"/>
          <p:cNvPicPr>
            <a:picLocks noChangeAspect="1" noChangeArrowheads="1"/>
          </p:cNvPicPr>
          <p:nvPr/>
        </p:nvPicPr>
        <p:blipFill>
          <a:blip r:embed="rId7"/>
          <a:srcRect/>
          <a:stretch>
            <a:fillRect/>
          </a:stretch>
        </p:blipFill>
        <p:spPr bwMode="auto">
          <a:xfrm>
            <a:off x="2691441" y="5715179"/>
            <a:ext cx="6112265" cy="315151"/>
          </a:xfrm>
          <a:prstGeom prst="rect">
            <a:avLst/>
          </a:prstGeom>
          <a:noFill/>
          <a:ln w="9525">
            <a:noFill/>
            <a:miter lim="800000"/>
            <a:headEnd/>
            <a:tailEnd/>
          </a:ln>
          <a:effectLst/>
        </p:spPr>
      </p:pic>
      <p:pic>
        <p:nvPicPr>
          <p:cNvPr id="5128" name="Picture 8"/>
          <p:cNvPicPr>
            <a:picLocks noChangeAspect="1" noChangeArrowheads="1"/>
          </p:cNvPicPr>
          <p:nvPr/>
        </p:nvPicPr>
        <p:blipFill>
          <a:blip r:embed="rId8"/>
          <a:srcRect/>
          <a:stretch>
            <a:fillRect/>
          </a:stretch>
        </p:blipFill>
        <p:spPr bwMode="auto">
          <a:xfrm>
            <a:off x="9049110" y="5555591"/>
            <a:ext cx="1297826" cy="701969"/>
          </a:xfrm>
          <a:prstGeom prst="rect">
            <a:avLst/>
          </a:prstGeom>
          <a:noFill/>
          <a:ln w="9525">
            <a:noFill/>
            <a:miter lim="800000"/>
            <a:headEnd/>
            <a:tailEnd/>
          </a:ln>
          <a:effectLst/>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srcRect/>
          <a:stretch>
            <a:fillRect/>
          </a:stretch>
        </p:blipFill>
        <p:spPr bwMode="auto">
          <a:xfrm>
            <a:off x="2182483" y="279910"/>
            <a:ext cx="2792353" cy="364867"/>
          </a:xfrm>
          <a:prstGeom prst="rect">
            <a:avLst/>
          </a:prstGeom>
          <a:noFill/>
          <a:ln w="9525">
            <a:noFill/>
            <a:miter lim="800000"/>
            <a:headEnd/>
            <a:tailEnd/>
          </a:ln>
          <a:effectLst/>
        </p:spPr>
      </p:pic>
      <p:pic>
        <p:nvPicPr>
          <p:cNvPr id="6147" name="Picture 3"/>
          <p:cNvPicPr>
            <a:picLocks noChangeAspect="1" noChangeArrowheads="1"/>
          </p:cNvPicPr>
          <p:nvPr/>
        </p:nvPicPr>
        <p:blipFill>
          <a:blip r:embed="rId3"/>
          <a:srcRect/>
          <a:stretch>
            <a:fillRect/>
          </a:stretch>
        </p:blipFill>
        <p:spPr bwMode="auto">
          <a:xfrm>
            <a:off x="5287993" y="144673"/>
            <a:ext cx="2641211" cy="795981"/>
          </a:xfrm>
          <a:prstGeom prst="rect">
            <a:avLst/>
          </a:prstGeom>
          <a:noFill/>
          <a:ln w="9525">
            <a:noFill/>
            <a:miter lim="800000"/>
            <a:headEnd/>
            <a:tailEnd/>
          </a:ln>
          <a:effectLst/>
        </p:spPr>
      </p:pic>
      <p:pic>
        <p:nvPicPr>
          <p:cNvPr id="6148" name="Picture 4"/>
          <p:cNvPicPr>
            <a:picLocks noChangeAspect="1" noChangeArrowheads="1"/>
          </p:cNvPicPr>
          <p:nvPr/>
        </p:nvPicPr>
        <p:blipFill>
          <a:blip r:embed="rId4"/>
          <a:srcRect/>
          <a:stretch>
            <a:fillRect/>
          </a:stretch>
        </p:blipFill>
        <p:spPr bwMode="auto">
          <a:xfrm>
            <a:off x="2173855" y="1040382"/>
            <a:ext cx="7822721" cy="1429151"/>
          </a:xfrm>
          <a:prstGeom prst="rect">
            <a:avLst/>
          </a:prstGeom>
          <a:noFill/>
          <a:ln w="9525">
            <a:noFill/>
            <a:miter lim="800000"/>
            <a:headEnd/>
            <a:tailEnd/>
          </a:ln>
          <a:effectLst/>
        </p:spPr>
      </p:pic>
      <p:pic>
        <p:nvPicPr>
          <p:cNvPr id="6149" name="Picture 5"/>
          <p:cNvPicPr>
            <a:picLocks noChangeAspect="1" noChangeArrowheads="1"/>
          </p:cNvPicPr>
          <p:nvPr/>
        </p:nvPicPr>
        <p:blipFill>
          <a:blip r:embed="rId5"/>
          <a:srcRect/>
          <a:stretch>
            <a:fillRect/>
          </a:stretch>
        </p:blipFill>
        <p:spPr bwMode="auto">
          <a:xfrm>
            <a:off x="3571337" y="2628900"/>
            <a:ext cx="6611428" cy="1322286"/>
          </a:xfrm>
          <a:prstGeom prst="rect">
            <a:avLst/>
          </a:prstGeom>
          <a:noFill/>
          <a:ln w="9525">
            <a:noFill/>
            <a:miter lim="800000"/>
            <a:headEnd/>
            <a:tailEnd/>
          </a:ln>
          <a:effectLst/>
        </p:spPr>
      </p:pic>
      <p:grpSp>
        <p:nvGrpSpPr>
          <p:cNvPr id="8" name="Group 7"/>
          <p:cNvGrpSpPr/>
          <p:nvPr/>
        </p:nvGrpSpPr>
        <p:grpSpPr>
          <a:xfrm>
            <a:off x="336430" y="4406301"/>
            <a:ext cx="11238872" cy="403697"/>
            <a:chOff x="336430" y="4406301"/>
            <a:chExt cx="11238872" cy="403697"/>
          </a:xfrm>
        </p:grpSpPr>
        <p:pic>
          <p:nvPicPr>
            <p:cNvPr id="6150" name="Picture 6"/>
            <p:cNvPicPr>
              <a:picLocks noChangeAspect="1" noChangeArrowheads="1"/>
            </p:cNvPicPr>
            <p:nvPr/>
          </p:nvPicPr>
          <p:blipFill>
            <a:blip r:embed="rId6"/>
            <a:srcRect/>
            <a:stretch>
              <a:fillRect/>
            </a:stretch>
          </p:blipFill>
          <p:spPr bwMode="auto">
            <a:xfrm>
              <a:off x="336430" y="4406301"/>
              <a:ext cx="9822702" cy="399984"/>
            </a:xfrm>
            <a:prstGeom prst="rect">
              <a:avLst/>
            </a:prstGeom>
            <a:noFill/>
            <a:ln w="9525">
              <a:noFill/>
              <a:miter lim="800000"/>
              <a:headEnd/>
              <a:tailEnd/>
            </a:ln>
            <a:effectLst/>
          </p:spPr>
        </p:pic>
        <p:pic>
          <p:nvPicPr>
            <p:cNvPr id="6151" name="Picture 7"/>
            <p:cNvPicPr>
              <a:picLocks noChangeAspect="1" noChangeArrowheads="1"/>
            </p:cNvPicPr>
            <p:nvPr/>
          </p:nvPicPr>
          <p:blipFill>
            <a:blip r:embed="rId7"/>
            <a:srcRect/>
            <a:stretch>
              <a:fillRect/>
            </a:stretch>
          </p:blipFill>
          <p:spPr bwMode="auto">
            <a:xfrm>
              <a:off x="10153291" y="4504786"/>
              <a:ext cx="1422011" cy="305212"/>
            </a:xfrm>
            <a:prstGeom prst="rect">
              <a:avLst/>
            </a:prstGeom>
            <a:noFill/>
            <a:ln w="9525">
              <a:noFill/>
              <a:miter lim="800000"/>
              <a:headEnd/>
              <a:tailEnd/>
            </a:ln>
            <a:effectLst/>
          </p:spPr>
        </p:pic>
      </p:grpSp>
      <p:pic>
        <p:nvPicPr>
          <p:cNvPr id="6152" name="Picture 8"/>
          <p:cNvPicPr>
            <a:picLocks noChangeAspect="1" noChangeArrowheads="1"/>
          </p:cNvPicPr>
          <p:nvPr/>
        </p:nvPicPr>
        <p:blipFill>
          <a:blip r:embed="rId8"/>
          <a:srcRect/>
          <a:stretch>
            <a:fillRect/>
          </a:stretch>
        </p:blipFill>
        <p:spPr bwMode="auto">
          <a:xfrm>
            <a:off x="2769349" y="5001434"/>
            <a:ext cx="6791325" cy="1685925"/>
          </a:xfrm>
          <a:prstGeom prst="rect">
            <a:avLst/>
          </a:prstGeom>
          <a:noFill/>
          <a:ln w="9525">
            <a:noFill/>
            <a:miter lim="800000"/>
            <a:headEnd/>
            <a:tailEnd/>
          </a:ln>
          <a:effectLst/>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57932" y="0"/>
            <a:ext cx="3631721" cy="523220"/>
          </a:xfrm>
          <a:prstGeom prst="rect">
            <a:avLst/>
          </a:prstGeom>
          <a:noFill/>
        </p:spPr>
        <p:txBody>
          <a:bodyPr wrap="square" rtlCol="0">
            <a:spAutoFit/>
          </a:bodyPr>
          <a:lstStyle/>
          <a:p>
            <a:r>
              <a:rPr lang="en-US" sz="2800" dirty="0" smtClean="0"/>
              <a:t>The scattering states</a:t>
            </a:r>
            <a:endParaRPr lang="en-US" sz="2800" dirty="0"/>
          </a:p>
        </p:txBody>
      </p:sp>
      <p:pic>
        <p:nvPicPr>
          <p:cNvPr id="1026" name="Picture 2"/>
          <p:cNvPicPr>
            <a:picLocks noChangeAspect="1" noChangeArrowheads="1"/>
          </p:cNvPicPr>
          <p:nvPr/>
        </p:nvPicPr>
        <p:blipFill>
          <a:blip r:embed="rId2"/>
          <a:srcRect/>
          <a:stretch>
            <a:fillRect/>
          </a:stretch>
        </p:blipFill>
        <p:spPr bwMode="auto">
          <a:xfrm>
            <a:off x="586507" y="786531"/>
            <a:ext cx="4238625" cy="333375"/>
          </a:xfrm>
          <a:prstGeom prst="rect">
            <a:avLst/>
          </a:prstGeom>
          <a:noFill/>
          <a:ln w="9525">
            <a:noFill/>
            <a:miter lim="800000"/>
            <a:headEnd/>
            <a:tailEnd/>
          </a:ln>
          <a:effectLst/>
        </p:spPr>
      </p:pic>
      <p:pic>
        <p:nvPicPr>
          <p:cNvPr id="1027" name="Picture 3"/>
          <p:cNvPicPr>
            <a:picLocks noChangeAspect="1" noChangeArrowheads="1"/>
          </p:cNvPicPr>
          <p:nvPr/>
        </p:nvPicPr>
        <p:blipFill>
          <a:blip r:embed="rId3"/>
          <a:srcRect/>
          <a:stretch>
            <a:fillRect/>
          </a:stretch>
        </p:blipFill>
        <p:spPr bwMode="auto">
          <a:xfrm>
            <a:off x="1994679" y="1347788"/>
            <a:ext cx="5200650" cy="504825"/>
          </a:xfrm>
          <a:prstGeom prst="rect">
            <a:avLst/>
          </a:prstGeom>
          <a:noFill/>
          <a:ln w="9525">
            <a:noFill/>
            <a:miter lim="800000"/>
            <a:headEnd/>
            <a:tailEnd/>
          </a:ln>
          <a:effectLst/>
        </p:spPr>
      </p:pic>
      <p:pic>
        <p:nvPicPr>
          <p:cNvPr id="1028" name="Picture 4"/>
          <p:cNvPicPr>
            <a:picLocks noChangeAspect="1" noChangeArrowheads="1"/>
          </p:cNvPicPr>
          <p:nvPr/>
        </p:nvPicPr>
        <p:blipFill>
          <a:blip r:embed="rId4"/>
          <a:srcRect/>
          <a:stretch>
            <a:fillRect/>
          </a:stretch>
        </p:blipFill>
        <p:spPr bwMode="auto">
          <a:xfrm>
            <a:off x="3754558" y="2027927"/>
            <a:ext cx="4010025" cy="990600"/>
          </a:xfrm>
          <a:prstGeom prst="rect">
            <a:avLst/>
          </a:prstGeom>
          <a:noFill/>
          <a:ln w="9525">
            <a:noFill/>
            <a:miter lim="800000"/>
            <a:headEnd/>
            <a:tailEnd/>
          </a:ln>
          <a:effectLst/>
        </p:spPr>
      </p:pic>
      <p:pic>
        <p:nvPicPr>
          <p:cNvPr id="1029" name="Picture 5"/>
          <p:cNvPicPr>
            <a:picLocks noChangeAspect="1" noChangeArrowheads="1"/>
          </p:cNvPicPr>
          <p:nvPr/>
        </p:nvPicPr>
        <p:blipFill>
          <a:blip r:embed="rId5"/>
          <a:srcRect/>
          <a:stretch>
            <a:fillRect/>
          </a:stretch>
        </p:blipFill>
        <p:spPr bwMode="auto">
          <a:xfrm>
            <a:off x="8591370" y="2009775"/>
            <a:ext cx="1962150" cy="1009650"/>
          </a:xfrm>
          <a:prstGeom prst="rect">
            <a:avLst/>
          </a:prstGeom>
          <a:noFill/>
          <a:ln w="9525">
            <a:noFill/>
            <a:miter lim="800000"/>
            <a:headEnd/>
            <a:tailEnd/>
          </a:ln>
          <a:effectLst/>
        </p:spPr>
      </p:pic>
      <p:pic>
        <p:nvPicPr>
          <p:cNvPr id="1030" name="Picture 6"/>
          <p:cNvPicPr>
            <a:picLocks noChangeAspect="1" noChangeArrowheads="1"/>
          </p:cNvPicPr>
          <p:nvPr/>
        </p:nvPicPr>
        <p:blipFill>
          <a:blip r:embed="rId6"/>
          <a:srcRect/>
          <a:stretch>
            <a:fillRect/>
          </a:stretch>
        </p:blipFill>
        <p:spPr bwMode="auto">
          <a:xfrm>
            <a:off x="3437536" y="3262582"/>
            <a:ext cx="4695825" cy="1333500"/>
          </a:xfrm>
          <a:prstGeom prst="rect">
            <a:avLst/>
          </a:prstGeom>
          <a:noFill/>
          <a:ln w="9525">
            <a:noFill/>
            <a:miter lim="800000"/>
            <a:headEnd/>
            <a:tailEnd/>
          </a:ln>
          <a:effectLst/>
        </p:spPr>
      </p:pic>
      <p:pic>
        <p:nvPicPr>
          <p:cNvPr id="1031" name="Picture 7"/>
          <p:cNvPicPr>
            <a:picLocks noChangeAspect="1" noChangeArrowheads="1"/>
          </p:cNvPicPr>
          <p:nvPr/>
        </p:nvPicPr>
        <p:blipFill>
          <a:blip r:embed="rId7"/>
          <a:srcRect/>
          <a:stretch>
            <a:fillRect/>
          </a:stretch>
        </p:blipFill>
        <p:spPr bwMode="auto">
          <a:xfrm>
            <a:off x="787700" y="4858469"/>
            <a:ext cx="11220450" cy="419100"/>
          </a:xfrm>
          <a:prstGeom prst="rect">
            <a:avLst/>
          </a:prstGeom>
          <a:noFill/>
          <a:ln w="9525">
            <a:noFill/>
            <a:miter lim="800000"/>
            <a:headEnd/>
            <a:tailEnd/>
          </a:ln>
          <a:effectLst/>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srcRect/>
          <a:stretch>
            <a:fillRect/>
          </a:stretch>
        </p:blipFill>
        <p:spPr bwMode="auto">
          <a:xfrm>
            <a:off x="1805257" y="350538"/>
            <a:ext cx="7753350" cy="981075"/>
          </a:xfrm>
          <a:prstGeom prst="rect">
            <a:avLst/>
          </a:prstGeom>
          <a:noFill/>
          <a:ln w="9525">
            <a:noFill/>
            <a:miter lim="800000"/>
            <a:headEnd/>
            <a:tailEnd/>
          </a:ln>
          <a:effectLst/>
        </p:spPr>
      </p:pic>
      <p:pic>
        <p:nvPicPr>
          <p:cNvPr id="2052" name="Picture 4"/>
          <p:cNvPicPr>
            <a:picLocks noChangeAspect="1" noChangeArrowheads="1"/>
          </p:cNvPicPr>
          <p:nvPr/>
        </p:nvPicPr>
        <p:blipFill>
          <a:blip r:embed="rId3"/>
          <a:srcRect/>
          <a:stretch>
            <a:fillRect/>
          </a:stretch>
        </p:blipFill>
        <p:spPr bwMode="auto">
          <a:xfrm>
            <a:off x="2395538" y="2870080"/>
            <a:ext cx="7400925" cy="1790700"/>
          </a:xfrm>
          <a:prstGeom prst="rect">
            <a:avLst/>
          </a:prstGeom>
          <a:noFill/>
          <a:ln w="9525">
            <a:noFill/>
            <a:miter lim="800000"/>
            <a:headEnd/>
            <a:tailEnd/>
          </a:ln>
          <a:effectLst/>
        </p:spPr>
      </p:pic>
      <p:pic>
        <p:nvPicPr>
          <p:cNvPr id="2053" name="Picture 5"/>
          <p:cNvPicPr>
            <a:picLocks noChangeAspect="1" noChangeArrowheads="1"/>
          </p:cNvPicPr>
          <p:nvPr/>
        </p:nvPicPr>
        <p:blipFill>
          <a:blip r:embed="rId4"/>
          <a:srcRect/>
          <a:stretch>
            <a:fillRect/>
          </a:stretch>
        </p:blipFill>
        <p:spPr bwMode="auto">
          <a:xfrm>
            <a:off x="3792298" y="4820459"/>
            <a:ext cx="4124325" cy="1133475"/>
          </a:xfrm>
          <a:prstGeom prst="rect">
            <a:avLst/>
          </a:prstGeom>
          <a:noFill/>
          <a:ln w="9525">
            <a:noFill/>
            <a:miter lim="800000"/>
            <a:headEnd/>
            <a:tailEnd/>
          </a:ln>
          <a:effectLst/>
        </p:spPr>
      </p:pic>
      <p:grpSp>
        <p:nvGrpSpPr>
          <p:cNvPr id="7" name="Group 6"/>
          <p:cNvGrpSpPr/>
          <p:nvPr/>
        </p:nvGrpSpPr>
        <p:grpSpPr>
          <a:xfrm>
            <a:off x="2017234" y="1505760"/>
            <a:ext cx="9067710" cy="1362075"/>
            <a:chOff x="2017234" y="1505760"/>
            <a:chExt cx="9067710" cy="1362075"/>
          </a:xfrm>
        </p:grpSpPr>
        <p:pic>
          <p:nvPicPr>
            <p:cNvPr id="2051" name="Picture 3"/>
            <p:cNvPicPr>
              <a:picLocks noChangeAspect="1" noChangeArrowheads="1"/>
            </p:cNvPicPr>
            <p:nvPr/>
          </p:nvPicPr>
          <p:blipFill>
            <a:blip r:embed="rId5"/>
            <a:srcRect/>
            <a:stretch>
              <a:fillRect/>
            </a:stretch>
          </p:blipFill>
          <p:spPr bwMode="auto">
            <a:xfrm>
              <a:off x="2017234" y="1505760"/>
              <a:ext cx="7191375" cy="1362075"/>
            </a:xfrm>
            <a:prstGeom prst="rect">
              <a:avLst/>
            </a:prstGeom>
            <a:noFill/>
            <a:ln w="9525">
              <a:noFill/>
              <a:miter lim="800000"/>
              <a:headEnd/>
              <a:tailEnd/>
            </a:ln>
            <a:effectLst/>
          </p:spPr>
        </p:pic>
        <p:sp>
          <p:nvSpPr>
            <p:cNvPr id="6" name="TextBox 5"/>
            <p:cNvSpPr txBox="1"/>
            <p:nvPr/>
          </p:nvSpPr>
          <p:spPr>
            <a:xfrm>
              <a:off x="9575321" y="2268747"/>
              <a:ext cx="1509623" cy="461665"/>
            </a:xfrm>
            <a:prstGeom prst="rect">
              <a:avLst/>
            </a:prstGeom>
            <a:noFill/>
          </p:spPr>
          <p:txBody>
            <a:bodyPr wrap="square" rtlCol="0">
              <a:spAutoFit/>
            </a:bodyPr>
            <a:lstStyle/>
            <a:p>
              <a:r>
                <a:rPr lang="en-US" sz="2400" dirty="0" err="1" smtClean="0"/>
                <a:t>Equ</a:t>
              </a:r>
              <a:r>
                <a:rPr lang="en-US" sz="2400" dirty="0" smtClean="0"/>
                <a:t> (1)</a:t>
              </a:r>
              <a:endParaRPr lang="en-US" sz="2400" dirty="0"/>
            </a:p>
          </p:txBody>
        </p:sp>
      </p:gr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srcRect/>
          <a:stretch>
            <a:fillRect/>
          </a:stretch>
        </p:blipFill>
        <p:spPr bwMode="auto">
          <a:xfrm>
            <a:off x="2626923" y="265353"/>
            <a:ext cx="6610350" cy="409575"/>
          </a:xfrm>
          <a:prstGeom prst="rect">
            <a:avLst/>
          </a:prstGeom>
          <a:noFill/>
          <a:ln w="9525">
            <a:noFill/>
            <a:miter lim="800000"/>
            <a:headEnd/>
            <a:tailEnd/>
          </a:ln>
          <a:effectLst/>
        </p:spPr>
      </p:pic>
      <p:pic>
        <p:nvPicPr>
          <p:cNvPr id="3075" name="Picture 3"/>
          <p:cNvPicPr>
            <a:picLocks noChangeAspect="1" noChangeArrowheads="1"/>
          </p:cNvPicPr>
          <p:nvPr/>
        </p:nvPicPr>
        <p:blipFill>
          <a:blip r:embed="rId3"/>
          <a:srcRect/>
          <a:stretch>
            <a:fillRect/>
          </a:stretch>
        </p:blipFill>
        <p:spPr bwMode="auto">
          <a:xfrm>
            <a:off x="2934510" y="915569"/>
            <a:ext cx="4752975" cy="523875"/>
          </a:xfrm>
          <a:prstGeom prst="rect">
            <a:avLst/>
          </a:prstGeom>
          <a:noFill/>
          <a:ln w="9525">
            <a:noFill/>
            <a:miter lim="800000"/>
            <a:headEnd/>
            <a:tailEnd/>
          </a:ln>
          <a:effectLst/>
        </p:spPr>
      </p:pic>
      <p:pic>
        <p:nvPicPr>
          <p:cNvPr id="3076" name="Picture 4"/>
          <p:cNvPicPr>
            <a:picLocks noChangeAspect="1" noChangeArrowheads="1"/>
          </p:cNvPicPr>
          <p:nvPr/>
        </p:nvPicPr>
        <p:blipFill>
          <a:blip r:embed="rId4"/>
          <a:srcRect/>
          <a:stretch>
            <a:fillRect/>
          </a:stretch>
        </p:blipFill>
        <p:spPr bwMode="auto">
          <a:xfrm>
            <a:off x="2965690" y="1425874"/>
            <a:ext cx="5829300" cy="952500"/>
          </a:xfrm>
          <a:prstGeom prst="rect">
            <a:avLst/>
          </a:prstGeom>
          <a:noFill/>
          <a:ln w="9525">
            <a:noFill/>
            <a:miter lim="800000"/>
            <a:headEnd/>
            <a:tailEnd/>
          </a:ln>
          <a:effectLst/>
        </p:spPr>
      </p:pic>
      <p:grpSp>
        <p:nvGrpSpPr>
          <p:cNvPr id="7" name="Group 6"/>
          <p:cNvGrpSpPr/>
          <p:nvPr/>
        </p:nvGrpSpPr>
        <p:grpSpPr>
          <a:xfrm>
            <a:off x="474273" y="2381430"/>
            <a:ext cx="11473312" cy="1543050"/>
            <a:chOff x="474273" y="2381430"/>
            <a:chExt cx="11473312" cy="1543050"/>
          </a:xfrm>
        </p:grpSpPr>
        <p:pic>
          <p:nvPicPr>
            <p:cNvPr id="3077" name="Picture 5"/>
            <p:cNvPicPr>
              <a:picLocks noChangeAspect="1" noChangeArrowheads="1"/>
            </p:cNvPicPr>
            <p:nvPr/>
          </p:nvPicPr>
          <p:blipFill>
            <a:blip r:embed="rId5"/>
            <a:srcRect/>
            <a:stretch>
              <a:fillRect/>
            </a:stretch>
          </p:blipFill>
          <p:spPr bwMode="auto">
            <a:xfrm>
              <a:off x="474273" y="2381430"/>
              <a:ext cx="10001250" cy="1543050"/>
            </a:xfrm>
            <a:prstGeom prst="rect">
              <a:avLst/>
            </a:prstGeom>
            <a:noFill/>
            <a:ln w="9525">
              <a:noFill/>
              <a:miter lim="800000"/>
              <a:headEnd/>
              <a:tailEnd/>
            </a:ln>
            <a:effectLst/>
          </p:spPr>
        </p:pic>
        <p:sp>
          <p:nvSpPr>
            <p:cNvPr id="6" name="TextBox 5"/>
            <p:cNvSpPr txBox="1"/>
            <p:nvPr/>
          </p:nvSpPr>
          <p:spPr>
            <a:xfrm>
              <a:off x="10981426" y="3105509"/>
              <a:ext cx="966159" cy="400110"/>
            </a:xfrm>
            <a:prstGeom prst="rect">
              <a:avLst/>
            </a:prstGeom>
            <a:noFill/>
          </p:spPr>
          <p:txBody>
            <a:bodyPr wrap="square" rtlCol="0">
              <a:spAutoFit/>
            </a:bodyPr>
            <a:lstStyle/>
            <a:p>
              <a:r>
                <a:rPr lang="en-US" sz="2000" dirty="0" err="1" smtClean="0"/>
                <a:t>Equ</a:t>
              </a:r>
              <a:r>
                <a:rPr lang="en-US" sz="2000" dirty="0" smtClean="0"/>
                <a:t> (2)</a:t>
              </a:r>
              <a:endParaRPr lang="en-US" sz="2000" dirty="0"/>
            </a:p>
          </p:txBody>
        </p:sp>
      </p:grpSp>
      <p:sp>
        <p:nvSpPr>
          <p:cNvPr id="8" name="TextBox 7"/>
          <p:cNvSpPr txBox="1"/>
          <p:nvPr/>
        </p:nvSpPr>
        <p:spPr>
          <a:xfrm>
            <a:off x="974785" y="4054415"/>
            <a:ext cx="10506973" cy="369332"/>
          </a:xfrm>
          <a:prstGeom prst="rect">
            <a:avLst/>
          </a:prstGeom>
          <a:noFill/>
        </p:spPr>
        <p:txBody>
          <a:bodyPr wrap="square" rtlCol="0">
            <a:spAutoFit/>
          </a:bodyPr>
          <a:lstStyle/>
          <a:p>
            <a:r>
              <a:rPr lang="en-US" dirty="0" smtClean="0"/>
              <a:t>We are left with two equations (1) and (2) and four unknown A, B, F, and G.</a:t>
            </a:r>
          </a:p>
        </p:txBody>
      </p:sp>
      <p:grpSp>
        <p:nvGrpSpPr>
          <p:cNvPr id="11" name="Group 10"/>
          <p:cNvGrpSpPr/>
          <p:nvPr/>
        </p:nvGrpSpPr>
        <p:grpSpPr>
          <a:xfrm>
            <a:off x="193376" y="4685042"/>
            <a:ext cx="11450938" cy="438150"/>
            <a:chOff x="952500" y="4616031"/>
            <a:chExt cx="11450938" cy="438150"/>
          </a:xfrm>
        </p:grpSpPr>
        <p:pic>
          <p:nvPicPr>
            <p:cNvPr id="3078" name="Picture 6"/>
            <p:cNvPicPr>
              <a:picLocks noChangeAspect="1" noChangeArrowheads="1"/>
            </p:cNvPicPr>
            <p:nvPr/>
          </p:nvPicPr>
          <p:blipFill>
            <a:blip r:embed="rId6"/>
            <a:srcRect/>
            <a:stretch>
              <a:fillRect/>
            </a:stretch>
          </p:blipFill>
          <p:spPr bwMode="auto">
            <a:xfrm>
              <a:off x="952500" y="4616031"/>
              <a:ext cx="4800600" cy="438150"/>
            </a:xfrm>
            <a:prstGeom prst="rect">
              <a:avLst/>
            </a:prstGeom>
            <a:noFill/>
            <a:ln w="9525">
              <a:noFill/>
              <a:miter lim="800000"/>
              <a:headEnd/>
              <a:tailEnd/>
            </a:ln>
            <a:effectLst/>
          </p:spPr>
        </p:pic>
        <p:pic>
          <p:nvPicPr>
            <p:cNvPr id="3079" name="Picture 7"/>
            <p:cNvPicPr>
              <a:picLocks noChangeAspect="1" noChangeArrowheads="1"/>
            </p:cNvPicPr>
            <p:nvPr/>
          </p:nvPicPr>
          <p:blipFill>
            <a:blip r:embed="rId7"/>
            <a:srcRect/>
            <a:stretch>
              <a:fillRect/>
            </a:stretch>
          </p:blipFill>
          <p:spPr bwMode="auto">
            <a:xfrm>
              <a:off x="5878813" y="4654130"/>
              <a:ext cx="6524625" cy="361950"/>
            </a:xfrm>
            <a:prstGeom prst="rect">
              <a:avLst/>
            </a:prstGeom>
            <a:noFill/>
            <a:ln w="9525">
              <a:noFill/>
              <a:miter lim="800000"/>
              <a:headEnd/>
              <a:tailEnd/>
            </a:ln>
            <a:effectLst/>
          </p:spPr>
        </p:pic>
      </p:grpSp>
      <p:grpSp>
        <p:nvGrpSpPr>
          <p:cNvPr id="14" name="Group 13"/>
          <p:cNvGrpSpPr/>
          <p:nvPr/>
        </p:nvGrpSpPr>
        <p:grpSpPr>
          <a:xfrm>
            <a:off x="294736" y="5204424"/>
            <a:ext cx="7968921" cy="400050"/>
            <a:chOff x="294736" y="5204424"/>
            <a:chExt cx="7968921" cy="400050"/>
          </a:xfrm>
        </p:grpSpPr>
        <p:pic>
          <p:nvPicPr>
            <p:cNvPr id="3080" name="Picture 8"/>
            <p:cNvPicPr>
              <a:picLocks noChangeAspect="1" noChangeArrowheads="1"/>
            </p:cNvPicPr>
            <p:nvPr/>
          </p:nvPicPr>
          <p:blipFill>
            <a:blip r:embed="rId8"/>
            <a:srcRect/>
            <a:stretch>
              <a:fillRect/>
            </a:stretch>
          </p:blipFill>
          <p:spPr bwMode="auto">
            <a:xfrm>
              <a:off x="294736" y="5258879"/>
              <a:ext cx="2286000" cy="342900"/>
            </a:xfrm>
            <a:prstGeom prst="rect">
              <a:avLst/>
            </a:prstGeom>
            <a:noFill/>
            <a:ln w="9525">
              <a:noFill/>
              <a:miter lim="800000"/>
              <a:headEnd/>
              <a:tailEnd/>
            </a:ln>
            <a:effectLst/>
          </p:spPr>
        </p:pic>
        <p:pic>
          <p:nvPicPr>
            <p:cNvPr id="3081" name="Picture 9"/>
            <p:cNvPicPr>
              <a:picLocks noChangeAspect="1" noChangeArrowheads="1"/>
            </p:cNvPicPr>
            <p:nvPr/>
          </p:nvPicPr>
          <p:blipFill>
            <a:blip r:embed="rId9"/>
            <a:srcRect/>
            <a:stretch>
              <a:fillRect/>
            </a:stretch>
          </p:blipFill>
          <p:spPr bwMode="auto">
            <a:xfrm>
              <a:off x="2634382" y="5204424"/>
              <a:ext cx="5629275" cy="400050"/>
            </a:xfrm>
            <a:prstGeom prst="rect">
              <a:avLst/>
            </a:prstGeom>
            <a:noFill/>
            <a:ln w="9525">
              <a:noFill/>
              <a:miter lim="800000"/>
              <a:headEnd/>
              <a:tailEnd/>
            </a:ln>
            <a:effectLst/>
          </p:spPr>
        </p:pic>
      </p:grpSp>
      <p:grpSp>
        <p:nvGrpSpPr>
          <p:cNvPr id="17" name="Group 16"/>
          <p:cNvGrpSpPr/>
          <p:nvPr/>
        </p:nvGrpSpPr>
        <p:grpSpPr>
          <a:xfrm>
            <a:off x="355660" y="5674115"/>
            <a:ext cx="9134745" cy="444979"/>
            <a:chOff x="355660" y="5674115"/>
            <a:chExt cx="9134745" cy="444979"/>
          </a:xfrm>
        </p:grpSpPr>
        <p:pic>
          <p:nvPicPr>
            <p:cNvPr id="3082" name="Picture 10"/>
            <p:cNvPicPr>
              <a:picLocks noChangeAspect="1" noChangeArrowheads="1"/>
            </p:cNvPicPr>
            <p:nvPr/>
          </p:nvPicPr>
          <p:blipFill>
            <a:blip r:embed="rId10"/>
            <a:srcRect/>
            <a:stretch>
              <a:fillRect/>
            </a:stretch>
          </p:blipFill>
          <p:spPr bwMode="auto">
            <a:xfrm>
              <a:off x="355660" y="5690469"/>
              <a:ext cx="2457450" cy="428625"/>
            </a:xfrm>
            <a:prstGeom prst="rect">
              <a:avLst/>
            </a:prstGeom>
            <a:noFill/>
            <a:ln w="9525">
              <a:noFill/>
              <a:miter lim="800000"/>
              <a:headEnd/>
              <a:tailEnd/>
            </a:ln>
            <a:effectLst/>
          </p:spPr>
        </p:pic>
        <p:pic>
          <p:nvPicPr>
            <p:cNvPr id="3083" name="Picture 11"/>
            <p:cNvPicPr>
              <a:picLocks noChangeAspect="1" noChangeArrowheads="1"/>
            </p:cNvPicPr>
            <p:nvPr/>
          </p:nvPicPr>
          <p:blipFill>
            <a:blip r:embed="rId11"/>
            <a:srcRect/>
            <a:stretch>
              <a:fillRect/>
            </a:stretch>
          </p:blipFill>
          <p:spPr bwMode="auto">
            <a:xfrm>
              <a:off x="2908630" y="5674115"/>
              <a:ext cx="6581775" cy="409575"/>
            </a:xfrm>
            <a:prstGeom prst="rect">
              <a:avLst/>
            </a:prstGeom>
            <a:noFill/>
            <a:ln w="9525">
              <a:noFill/>
              <a:miter lim="800000"/>
              <a:headEnd/>
              <a:tailEnd/>
            </a:ln>
            <a:effectLst/>
          </p:spPr>
        </p:pic>
      </p:grpSp>
      <p:grpSp>
        <p:nvGrpSpPr>
          <p:cNvPr id="20" name="Group 19"/>
          <p:cNvGrpSpPr/>
          <p:nvPr/>
        </p:nvGrpSpPr>
        <p:grpSpPr>
          <a:xfrm>
            <a:off x="363927" y="6117925"/>
            <a:ext cx="7550001" cy="450641"/>
            <a:chOff x="363927" y="6117925"/>
            <a:chExt cx="7550001" cy="450641"/>
          </a:xfrm>
        </p:grpSpPr>
        <p:pic>
          <p:nvPicPr>
            <p:cNvPr id="3084" name="Picture 12"/>
            <p:cNvPicPr>
              <a:picLocks noChangeAspect="1" noChangeArrowheads="1"/>
            </p:cNvPicPr>
            <p:nvPr/>
          </p:nvPicPr>
          <p:blipFill>
            <a:blip r:embed="rId12"/>
            <a:srcRect/>
            <a:stretch>
              <a:fillRect/>
            </a:stretch>
          </p:blipFill>
          <p:spPr bwMode="auto">
            <a:xfrm>
              <a:off x="363927" y="6117925"/>
              <a:ext cx="5391150" cy="419100"/>
            </a:xfrm>
            <a:prstGeom prst="rect">
              <a:avLst/>
            </a:prstGeom>
            <a:noFill/>
            <a:ln w="9525">
              <a:noFill/>
              <a:miter lim="800000"/>
              <a:headEnd/>
              <a:tailEnd/>
            </a:ln>
            <a:effectLst/>
          </p:spPr>
        </p:pic>
        <p:pic>
          <p:nvPicPr>
            <p:cNvPr id="3085" name="Picture 13"/>
            <p:cNvPicPr>
              <a:picLocks noChangeAspect="1" noChangeArrowheads="1"/>
            </p:cNvPicPr>
            <p:nvPr/>
          </p:nvPicPr>
          <p:blipFill>
            <a:blip r:embed="rId13"/>
            <a:srcRect/>
            <a:stretch>
              <a:fillRect/>
            </a:stretch>
          </p:blipFill>
          <p:spPr bwMode="auto">
            <a:xfrm>
              <a:off x="5675553" y="6120891"/>
              <a:ext cx="2238375" cy="447675"/>
            </a:xfrm>
            <a:prstGeom prst="rect">
              <a:avLst/>
            </a:prstGeom>
            <a:noFill/>
            <a:ln w="9525">
              <a:noFill/>
              <a:miter lim="800000"/>
              <a:headEnd/>
              <a:tailEnd/>
            </a:ln>
            <a:effectLst/>
          </p:spPr>
        </p:pic>
      </p:gr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srcRect/>
          <a:stretch>
            <a:fillRect/>
          </a:stretch>
        </p:blipFill>
        <p:spPr bwMode="auto">
          <a:xfrm>
            <a:off x="604029" y="372733"/>
            <a:ext cx="9810750" cy="419100"/>
          </a:xfrm>
          <a:prstGeom prst="rect">
            <a:avLst/>
          </a:prstGeom>
          <a:noFill/>
          <a:ln w="9525">
            <a:noFill/>
            <a:miter lim="800000"/>
            <a:headEnd/>
            <a:tailEnd/>
          </a:ln>
          <a:effectLst/>
        </p:spPr>
      </p:pic>
      <p:pic>
        <p:nvPicPr>
          <p:cNvPr id="4099" name="Picture 3"/>
          <p:cNvPicPr>
            <a:picLocks noChangeAspect="1" noChangeArrowheads="1"/>
          </p:cNvPicPr>
          <p:nvPr/>
        </p:nvPicPr>
        <p:blipFill>
          <a:blip r:embed="rId3"/>
          <a:srcRect/>
          <a:stretch>
            <a:fillRect/>
          </a:stretch>
        </p:blipFill>
        <p:spPr bwMode="auto">
          <a:xfrm>
            <a:off x="622001" y="846287"/>
            <a:ext cx="9429750" cy="438150"/>
          </a:xfrm>
          <a:prstGeom prst="rect">
            <a:avLst/>
          </a:prstGeom>
          <a:noFill/>
          <a:ln w="9525">
            <a:noFill/>
            <a:miter lim="800000"/>
            <a:headEnd/>
            <a:tailEnd/>
          </a:ln>
          <a:effectLst/>
        </p:spPr>
      </p:pic>
      <p:pic>
        <p:nvPicPr>
          <p:cNvPr id="4100" name="Picture 4"/>
          <p:cNvPicPr>
            <a:picLocks noChangeAspect="1" noChangeArrowheads="1"/>
          </p:cNvPicPr>
          <p:nvPr/>
        </p:nvPicPr>
        <p:blipFill>
          <a:blip r:embed="rId4"/>
          <a:srcRect/>
          <a:stretch>
            <a:fillRect/>
          </a:stretch>
        </p:blipFill>
        <p:spPr bwMode="auto">
          <a:xfrm>
            <a:off x="560718" y="1378700"/>
            <a:ext cx="3667484" cy="2883446"/>
          </a:xfrm>
          <a:prstGeom prst="rect">
            <a:avLst/>
          </a:prstGeom>
          <a:noFill/>
          <a:ln w="9525">
            <a:noFill/>
            <a:miter lim="800000"/>
            <a:headEnd/>
            <a:tailEnd/>
          </a:ln>
          <a:effectLst/>
        </p:spPr>
      </p:pic>
      <p:pic>
        <p:nvPicPr>
          <p:cNvPr id="4101" name="Picture 5"/>
          <p:cNvPicPr>
            <a:picLocks noChangeAspect="1" noChangeArrowheads="1"/>
          </p:cNvPicPr>
          <p:nvPr/>
        </p:nvPicPr>
        <p:blipFill>
          <a:blip r:embed="rId5"/>
          <a:srcRect/>
          <a:stretch>
            <a:fillRect/>
          </a:stretch>
        </p:blipFill>
        <p:spPr bwMode="auto">
          <a:xfrm>
            <a:off x="4278702" y="2021007"/>
            <a:ext cx="7773478" cy="785877"/>
          </a:xfrm>
          <a:prstGeom prst="rect">
            <a:avLst/>
          </a:prstGeom>
          <a:noFill/>
          <a:ln w="9525">
            <a:noFill/>
            <a:miter lim="800000"/>
            <a:headEnd/>
            <a:tailEnd/>
          </a:ln>
          <a:effectLst/>
        </p:spPr>
      </p:pic>
      <p:pic>
        <p:nvPicPr>
          <p:cNvPr id="4102" name="Picture 6"/>
          <p:cNvPicPr>
            <a:picLocks noChangeAspect="1" noChangeArrowheads="1"/>
          </p:cNvPicPr>
          <p:nvPr/>
        </p:nvPicPr>
        <p:blipFill>
          <a:blip r:embed="rId6"/>
          <a:srcRect/>
          <a:stretch>
            <a:fillRect/>
          </a:stretch>
        </p:blipFill>
        <p:spPr bwMode="auto">
          <a:xfrm>
            <a:off x="3128963" y="3076575"/>
            <a:ext cx="5934075" cy="704850"/>
          </a:xfrm>
          <a:prstGeom prst="rect">
            <a:avLst/>
          </a:prstGeom>
          <a:noFill/>
          <a:ln w="9525">
            <a:noFill/>
            <a:miter lim="800000"/>
            <a:headEnd/>
            <a:tailEnd/>
          </a:ln>
          <a:effectLst/>
        </p:spPr>
      </p:pic>
      <p:pic>
        <p:nvPicPr>
          <p:cNvPr id="4103" name="Picture 7"/>
          <p:cNvPicPr>
            <a:picLocks noChangeAspect="1" noChangeArrowheads="1"/>
          </p:cNvPicPr>
          <p:nvPr/>
        </p:nvPicPr>
        <p:blipFill>
          <a:blip r:embed="rId7"/>
          <a:srcRect/>
          <a:stretch>
            <a:fillRect/>
          </a:stretch>
        </p:blipFill>
        <p:spPr bwMode="auto">
          <a:xfrm>
            <a:off x="3105149" y="3758153"/>
            <a:ext cx="5981700" cy="428625"/>
          </a:xfrm>
          <a:prstGeom prst="rect">
            <a:avLst/>
          </a:prstGeom>
          <a:noFill/>
          <a:ln w="9525">
            <a:noFill/>
            <a:miter lim="800000"/>
            <a:headEnd/>
            <a:tailEnd/>
          </a:ln>
          <a:effectLst/>
        </p:spPr>
      </p:pic>
      <p:pic>
        <p:nvPicPr>
          <p:cNvPr id="4104" name="Picture 8"/>
          <p:cNvPicPr>
            <a:picLocks noChangeAspect="1" noChangeArrowheads="1"/>
          </p:cNvPicPr>
          <p:nvPr/>
        </p:nvPicPr>
        <p:blipFill>
          <a:blip r:embed="rId8"/>
          <a:srcRect/>
          <a:stretch>
            <a:fillRect/>
          </a:stretch>
        </p:blipFill>
        <p:spPr bwMode="auto">
          <a:xfrm>
            <a:off x="3136960" y="4181116"/>
            <a:ext cx="6038850" cy="514350"/>
          </a:xfrm>
          <a:prstGeom prst="rect">
            <a:avLst/>
          </a:prstGeom>
          <a:noFill/>
          <a:ln w="9525">
            <a:noFill/>
            <a:miter lim="800000"/>
            <a:headEnd/>
            <a:tailEnd/>
          </a:ln>
          <a:effectLst/>
        </p:spPr>
      </p:pic>
      <p:pic>
        <p:nvPicPr>
          <p:cNvPr id="4105" name="Picture 9"/>
          <p:cNvPicPr>
            <a:picLocks noChangeAspect="1" noChangeArrowheads="1"/>
          </p:cNvPicPr>
          <p:nvPr/>
        </p:nvPicPr>
        <p:blipFill>
          <a:blip r:embed="rId9"/>
          <a:srcRect/>
          <a:stretch>
            <a:fillRect/>
          </a:stretch>
        </p:blipFill>
        <p:spPr bwMode="auto">
          <a:xfrm>
            <a:off x="3131029" y="4727275"/>
            <a:ext cx="6896100" cy="457200"/>
          </a:xfrm>
          <a:prstGeom prst="rect">
            <a:avLst/>
          </a:prstGeom>
          <a:noFill/>
          <a:ln w="9525">
            <a:noFill/>
            <a:miter lim="800000"/>
            <a:headEnd/>
            <a:tailEnd/>
          </a:ln>
          <a:effectLst/>
        </p:spPr>
      </p:pic>
      <p:sp>
        <p:nvSpPr>
          <p:cNvPr id="10" name="TextBox 9"/>
          <p:cNvSpPr txBox="1"/>
          <p:nvPr/>
        </p:nvSpPr>
        <p:spPr>
          <a:xfrm>
            <a:off x="3071004" y="5244861"/>
            <a:ext cx="7203056" cy="461665"/>
          </a:xfrm>
          <a:prstGeom prst="rect">
            <a:avLst/>
          </a:prstGeom>
          <a:noFill/>
        </p:spPr>
        <p:txBody>
          <a:bodyPr wrap="square" rtlCol="0">
            <a:spAutoFit/>
          </a:bodyPr>
          <a:lstStyle/>
          <a:p>
            <a:r>
              <a:rPr lang="en-US" sz="2400" dirty="0" smtClean="0"/>
              <a:t>Solving equation (1) and (2) for B and F we find</a:t>
            </a:r>
            <a:endParaRPr lang="en-US" sz="2400" dirty="0"/>
          </a:p>
        </p:txBody>
      </p:sp>
      <p:pic>
        <p:nvPicPr>
          <p:cNvPr id="4106" name="Picture 10"/>
          <p:cNvPicPr>
            <a:picLocks noChangeAspect="1" noChangeArrowheads="1"/>
          </p:cNvPicPr>
          <p:nvPr/>
        </p:nvPicPr>
        <p:blipFill>
          <a:blip r:embed="rId10"/>
          <a:srcRect/>
          <a:stretch>
            <a:fillRect/>
          </a:stretch>
        </p:blipFill>
        <p:spPr bwMode="auto">
          <a:xfrm>
            <a:off x="3684377" y="5678698"/>
            <a:ext cx="4857750" cy="1162050"/>
          </a:xfrm>
          <a:prstGeom prst="rect">
            <a:avLst/>
          </a:prstGeom>
          <a:noFill/>
          <a:ln w="9525">
            <a:noFill/>
            <a:miter lim="800000"/>
            <a:headEnd/>
            <a:tailEnd/>
          </a:ln>
          <a:effectLst/>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srcRect/>
          <a:stretch>
            <a:fillRect/>
          </a:stretch>
        </p:blipFill>
        <p:spPr bwMode="auto">
          <a:xfrm>
            <a:off x="0" y="185379"/>
            <a:ext cx="12030075" cy="1190625"/>
          </a:xfrm>
          <a:prstGeom prst="rect">
            <a:avLst/>
          </a:prstGeom>
          <a:noFill/>
          <a:ln w="9525">
            <a:noFill/>
            <a:miter lim="800000"/>
            <a:headEnd/>
            <a:tailEnd/>
          </a:ln>
          <a:effectLst/>
        </p:spPr>
      </p:pic>
      <p:pic>
        <p:nvPicPr>
          <p:cNvPr id="5123" name="Picture 3"/>
          <p:cNvPicPr>
            <a:picLocks noChangeAspect="1" noChangeArrowheads="1"/>
          </p:cNvPicPr>
          <p:nvPr/>
        </p:nvPicPr>
        <p:blipFill>
          <a:blip r:embed="rId3"/>
          <a:srcRect/>
          <a:stretch>
            <a:fillRect/>
          </a:stretch>
        </p:blipFill>
        <p:spPr bwMode="auto">
          <a:xfrm>
            <a:off x="4452668" y="1292525"/>
            <a:ext cx="3200400" cy="1219200"/>
          </a:xfrm>
          <a:prstGeom prst="rect">
            <a:avLst/>
          </a:prstGeom>
          <a:noFill/>
          <a:ln w="9525">
            <a:noFill/>
            <a:miter lim="800000"/>
            <a:headEnd/>
            <a:tailEnd/>
          </a:ln>
          <a:effectLst/>
        </p:spPr>
      </p:pic>
      <p:pic>
        <p:nvPicPr>
          <p:cNvPr id="5124" name="Picture 4"/>
          <p:cNvPicPr>
            <a:picLocks noChangeAspect="1" noChangeArrowheads="1"/>
          </p:cNvPicPr>
          <p:nvPr/>
        </p:nvPicPr>
        <p:blipFill>
          <a:blip r:embed="rId4"/>
          <a:srcRect/>
          <a:stretch>
            <a:fillRect/>
          </a:stretch>
        </p:blipFill>
        <p:spPr bwMode="auto">
          <a:xfrm>
            <a:off x="3214688" y="2587026"/>
            <a:ext cx="5762625" cy="476250"/>
          </a:xfrm>
          <a:prstGeom prst="rect">
            <a:avLst/>
          </a:prstGeom>
          <a:noFill/>
          <a:ln w="9525">
            <a:noFill/>
            <a:miter lim="800000"/>
            <a:headEnd/>
            <a:tailEnd/>
          </a:ln>
          <a:effectLst/>
        </p:spPr>
      </p:pic>
      <p:pic>
        <p:nvPicPr>
          <p:cNvPr id="5125" name="Picture 5"/>
          <p:cNvPicPr>
            <a:picLocks noChangeAspect="1" noChangeArrowheads="1"/>
          </p:cNvPicPr>
          <p:nvPr/>
        </p:nvPicPr>
        <p:blipFill>
          <a:blip r:embed="rId5"/>
          <a:srcRect/>
          <a:stretch>
            <a:fillRect/>
          </a:stretch>
        </p:blipFill>
        <p:spPr bwMode="auto">
          <a:xfrm>
            <a:off x="871897" y="3359720"/>
            <a:ext cx="10258425" cy="1743075"/>
          </a:xfrm>
          <a:prstGeom prst="rect">
            <a:avLst/>
          </a:prstGeom>
          <a:noFill/>
          <a:ln w="9525">
            <a:noFill/>
            <a:miter lim="800000"/>
            <a:headEnd/>
            <a:tailEnd/>
          </a:ln>
          <a:effectLst/>
        </p:spPr>
      </p:pic>
      <p:pic>
        <p:nvPicPr>
          <p:cNvPr id="5126" name="Picture 6"/>
          <p:cNvPicPr>
            <a:picLocks noChangeAspect="1" noChangeArrowheads="1"/>
          </p:cNvPicPr>
          <p:nvPr/>
        </p:nvPicPr>
        <p:blipFill>
          <a:blip r:embed="rId6"/>
          <a:srcRect/>
          <a:stretch>
            <a:fillRect/>
          </a:stretch>
        </p:blipFill>
        <p:spPr bwMode="auto">
          <a:xfrm>
            <a:off x="1295670" y="5200561"/>
            <a:ext cx="9686925" cy="1304925"/>
          </a:xfrm>
          <a:prstGeom prst="rect">
            <a:avLst/>
          </a:prstGeom>
          <a:noFill/>
          <a:ln w="9525">
            <a:noFill/>
            <a:miter lim="800000"/>
            <a:headEnd/>
            <a:tailEnd/>
          </a:ln>
          <a:effectLst/>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srcRect/>
          <a:stretch>
            <a:fillRect/>
          </a:stretch>
        </p:blipFill>
        <p:spPr bwMode="auto">
          <a:xfrm>
            <a:off x="2168645" y="842333"/>
            <a:ext cx="8096250" cy="1619250"/>
          </a:xfrm>
          <a:prstGeom prst="rect">
            <a:avLst/>
          </a:prstGeom>
          <a:noFill/>
          <a:ln w="9525">
            <a:noFill/>
            <a:miter lim="800000"/>
            <a:headEnd/>
            <a:tailEnd/>
          </a:ln>
          <a:effectLst/>
        </p:spPr>
      </p:pic>
      <p:pic>
        <p:nvPicPr>
          <p:cNvPr id="6147" name="Picture 3"/>
          <p:cNvPicPr>
            <a:picLocks noChangeAspect="1" noChangeArrowheads="1"/>
          </p:cNvPicPr>
          <p:nvPr/>
        </p:nvPicPr>
        <p:blipFill>
          <a:blip r:embed="rId3"/>
          <a:srcRect/>
          <a:stretch>
            <a:fillRect/>
          </a:stretch>
        </p:blipFill>
        <p:spPr bwMode="auto">
          <a:xfrm>
            <a:off x="2843661" y="276045"/>
            <a:ext cx="6038850" cy="466725"/>
          </a:xfrm>
          <a:prstGeom prst="rect">
            <a:avLst/>
          </a:prstGeom>
          <a:noFill/>
          <a:ln w="9525">
            <a:noFill/>
            <a:miter lim="800000"/>
            <a:headEnd/>
            <a:tailEnd/>
          </a:ln>
          <a:effectLst/>
        </p:spPr>
      </p:pic>
      <p:pic>
        <p:nvPicPr>
          <p:cNvPr id="6148" name="Picture 4"/>
          <p:cNvPicPr>
            <a:picLocks noChangeAspect="1" noChangeArrowheads="1"/>
          </p:cNvPicPr>
          <p:nvPr/>
        </p:nvPicPr>
        <p:blipFill>
          <a:blip r:embed="rId4"/>
          <a:srcRect/>
          <a:stretch>
            <a:fillRect/>
          </a:stretch>
        </p:blipFill>
        <p:spPr bwMode="auto">
          <a:xfrm>
            <a:off x="1350124" y="2636987"/>
            <a:ext cx="9629775" cy="514350"/>
          </a:xfrm>
          <a:prstGeom prst="rect">
            <a:avLst/>
          </a:prstGeom>
          <a:noFill/>
          <a:ln w="9525">
            <a:noFill/>
            <a:miter lim="800000"/>
            <a:headEnd/>
            <a:tailEnd/>
          </a:ln>
          <a:effectLst/>
        </p:spPr>
      </p:pic>
      <p:pic>
        <p:nvPicPr>
          <p:cNvPr id="6149" name="Picture 5"/>
          <p:cNvPicPr>
            <a:picLocks noChangeAspect="1" noChangeArrowheads="1"/>
          </p:cNvPicPr>
          <p:nvPr/>
        </p:nvPicPr>
        <p:blipFill>
          <a:blip r:embed="rId5"/>
          <a:srcRect/>
          <a:stretch>
            <a:fillRect/>
          </a:stretch>
        </p:blipFill>
        <p:spPr bwMode="auto">
          <a:xfrm>
            <a:off x="1768415" y="3268620"/>
            <a:ext cx="8868494" cy="3365093"/>
          </a:xfrm>
          <a:prstGeom prst="rect">
            <a:avLst/>
          </a:prstGeom>
          <a:noFill/>
          <a:ln w="9525">
            <a:noFill/>
            <a:miter lim="800000"/>
            <a:headEnd/>
            <a:tailEnd/>
          </a:ln>
          <a:effectLst/>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srcRect/>
          <a:stretch>
            <a:fillRect/>
          </a:stretch>
        </p:blipFill>
        <p:spPr bwMode="auto">
          <a:xfrm>
            <a:off x="1845873" y="239023"/>
            <a:ext cx="7258050" cy="2705100"/>
          </a:xfrm>
          <a:prstGeom prst="rect">
            <a:avLst/>
          </a:prstGeom>
          <a:noFill/>
          <a:ln w="9525">
            <a:noFill/>
            <a:miter lim="800000"/>
            <a:headEnd/>
            <a:tailEnd/>
          </a:ln>
          <a:effectLst/>
        </p:spPr>
      </p:pic>
      <p:pic>
        <p:nvPicPr>
          <p:cNvPr id="7171" name="Picture 3"/>
          <p:cNvPicPr>
            <a:picLocks noChangeAspect="1" noChangeArrowheads="1"/>
          </p:cNvPicPr>
          <p:nvPr/>
        </p:nvPicPr>
        <p:blipFill>
          <a:blip r:embed="rId3"/>
          <a:srcRect/>
          <a:stretch>
            <a:fillRect/>
          </a:stretch>
        </p:blipFill>
        <p:spPr bwMode="auto">
          <a:xfrm>
            <a:off x="610498" y="3451196"/>
            <a:ext cx="10953750" cy="1266825"/>
          </a:xfrm>
          <a:prstGeom prst="rect">
            <a:avLst/>
          </a:prstGeom>
          <a:noFill/>
          <a:ln w="9525">
            <a:noFill/>
            <a:miter lim="800000"/>
            <a:headEnd/>
            <a:tailEnd/>
          </a:ln>
          <a:effectLst/>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1057</TotalTime>
  <Words>925</Words>
  <Application>Microsoft Office PowerPoint</Application>
  <PresentationFormat>Custom</PresentationFormat>
  <Paragraphs>125</Paragraphs>
  <Slides>61</Slides>
  <Notes>0</Notes>
  <HiddenSlides>0</HiddenSlides>
  <MMClips>0</MMClips>
  <ScaleCrop>false</ScaleCrop>
  <HeadingPairs>
    <vt:vector size="4" baseType="variant">
      <vt:variant>
        <vt:lpstr>Theme</vt:lpstr>
      </vt:variant>
      <vt:variant>
        <vt:i4>1</vt:i4>
      </vt:variant>
      <vt:variant>
        <vt:lpstr>Slide Titles</vt:lpstr>
      </vt:variant>
      <vt:variant>
        <vt:i4>61</vt:i4>
      </vt:variant>
    </vt:vector>
  </HeadingPairs>
  <TitlesOfParts>
    <vt:vector size="62"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akabir</dc:creator>
  <cp:lastModifiedBy>AMAR PC</cp:lastModifiedBy>
  <cp:revision>47</cp:revision>
  <dcterms:created xsi:type="dcterms:W3CDTF">2023-03-15T14:17:01Z</dcterms:created>
  <dcterms:modified xsi:type="dcterms:W3CDTF">2026-03-07T17:12:14Z</dcterms:modified>
</cp:coreProperties>
</file>