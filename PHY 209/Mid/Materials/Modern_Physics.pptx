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01" r:id="rId39"/>
    <p:sldId id="302" r:id="rId40"/>
    <p:sldId id="303" r:id="rId41"/>
    <p:sldId id="306" r:id="rId42"/>
    <p:sldId id="307" r:id="rId43"/>
    <p:sldId id="308" r:id="rId44"/>
    <p:sldId id="304" r:id="rId45"/>
    <p:sldId id="305" r:id="rId46"/>
    <p:sldId id="293" r:id="rId47"/>
    <p:sldId id="294" r:id="rId48"/>
    <p:sldId id="296" r:id="rId49"/>
    <p:sldId id="297" r:id="rId50"/>
    <p:sldId id="295" r:id="rId51"/>
    <p:sldId id="298" r:id="rId52"/>
    <p:sldId id="299" r:id="rId53"/>
    <p:sldId id="30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83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EF54E-C89B-D229-7BB6-33E96C532B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3E11A8-ED02-844B-2C48-ED1211876E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AA4579-6042-4E46-D59A-F5437B2A4AD2}"/>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5" name="Footer Placeholder 4">
            <a:extLst>
              <a:ext uri="{FF2B5EF4-FFF2-40B4-BE49-F238E27FC236}">
                <a16:creationId xmlns:a16="http://schemas.microsoft.com/office/drawing/2014/main" id="{2E48CD90-CDF7-9E69-3E81-2280BD11DA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9B9602-BEED-9CA5-7A11-008DC7C242F2}"/>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4072594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8FAF5-E7A5-2656-06E3-881E363192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1CE8E1-8963-AB12-C43C-5A770279E1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C75DE-781C-E925-0962-FDCE880A6183}"/>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5" name="Footer Placeholder 4">
            <a:extLst>
              <a:ext uri="{FF2B5EF4-FFF2-40B4-BE49-F238E27FC236}">
                <a16:creationId xmlns:a16="http://schemas.microsoft.com/office/drawing/2014/main" id="{D34F3131-E481-5A2C-530D-AB3A5D1CF6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55BF4-393D-8F93-E8F7-6A84BB58A4D4}"/>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3554688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9D067-CE6D-08B2-A299-0B728A4B48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83F857-71DE-01D8-8D8A-0BEB253A58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CF2805-47BB-010A-1D60-AE3FADED24E4}"/>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5" name="Footer Placeholder 4">
            <a:extLst>
              <a:ext uri="{FF2B5EF4-FFF2-40B4-BE49-F238E27FC236}">
                <a16:creationId xmlns:a16="http://schemas.microsoft.com/office/drawing/2014/main" id="{0373FDA1-0A48-2835-E968-666AB0DFF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7C528-1C07-1131-B81A-4DE1F7A79971}"/>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1754169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8A915-6B90-A295-E6AD-C43AD10515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732692-43B6-00FA-6947-DA3183D1AF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1F140-4245-2885-B806-39339C5FE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DB3A89-6FA0-C1FC-024B-42E9CA420A8F}"/>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6" name="Footer Placeholder 5">
            <a:extLst>
              <a:ext uri="{FF2B5EF4-FFF2-40B4-BE49-F238E27FC236}">
                <a16:creationId xmlns:a16="http://schemas.microsoft.com/office/drawing/2014/main" id="{C11F5B6A-4EF9-A42F-898F-E11BBBBF0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D4A6D2-85F7-DCA0-30C9-57E2CE9FD08F}"/>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2157436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53088-8E1D-4891-7570-55BFE528ED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3C80E3-6B2A-4AA8-103C-32F8FFE8D2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55CB2C-0C94-566E-F650-A614FA2288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37CD81-4608-30AC-C18D-00CDAF34EE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E33D48-D9BC-F954-0932-5B66141FE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4AD718-44B2-71D8-CBF3-F7939BA3E5F8}"/>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8" name="Footer Placeholder 7">
            <a:extLst>
              <a:ext uri="{FF2B5EF4-FFF2-40B4-BE49-F238E27FC236}">
                <a16:creationId xmlns:a16="http://schemas.microsoft.com/office/drawing/2014/main" id="{2BA6B525-C3F6-C1F9-DA0F-52A34ACDB0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03B098-4183-8D47-5A7F-F9543F192815}"/>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3679525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62316-990B-A5A8-F155-96F6556178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E8DE3F-EFC1-9753-ED5B-4A8FA902CC6C}"/>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4" name="Footer Placeholder 3">
            <a:extLst>
              <a:ext uri="{FF2B5EF4-FFF2-40B4-BE49-F238E27FC236}">
                <a16:creationId xmlns:a16="http://schemas.microsoft.com/office/drawing/2014/main" id="{B4307252-2EE1-99BF-9B96-D46EE78702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636975-F8DD-8667-6E94-29F4C14AB663}"/>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393198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35FD00-BF50-0214-EEED-C02CD3F3068D}"/>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3" name="Footer Placeholder 2">
            <a:extLst>
              <a:ext uri="{FF2B5EF4-FFF2-40B4-BE49-F238E27FC236}">
                <a16:creationId xmlns:a16="http://schemas.microsoft.com/office/drawing/2014/main" id="{6DF1D9D6-4DCF-5448-9D74-1E248C4879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602ABF-FA25-7C46-EC56-BAB74E40308D}"/>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2904299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3EC48-2DAC-E209-48EB-AEAC684E6A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FABC4B-CB4C-4972-E661-D1CC375EEA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63CB14-FB74-A67E-E275-7C5892913D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2DCC53-5E1E-E530-1D19-1054FF9FC46B}"/>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6" name="Footer Placeholder 5">
            <a:extLst>
              <a:ext uri="{FF2B5EF4-FFF2-40B4-BE49-F238E27FC236}">
                <a16:creationId xmlns:a16="http://schemas.microsoft.com/office/drawing/2014/main" id="{1CB874CB-7023-4430-482A-B7CBE1150F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1F8ACC-EFC1-E44A-BB57-1B054D8A5330}"/>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991642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51EB8-8735-B0FB-63FE-A2E2399F27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4D007B-05B7-E521-2B19-3C0B6CE974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5DBAD2-7CD0-1C48-C7F9-EE96C2D43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4D7E8A-8F6B-F716-2E7C-CF69288D69BE}"/>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6" name="Footer Placeholder 5">
            <a:extLst>
              <a:ext uri="{FF2B5EF4-FFF2-40B4-BE49-F238E27FC236}">
                <a16:creationId xmlns:a16="http://schemas.microsoft.com/office/drawing/2014/main" id="{FC0E52A4-F2C6-523C-C6DF-BEE8F6ECF3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451C4E-3C6A-8E89-426E-67570B07A994}"/>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1398180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2DBA8-F32D-8E07-7F3A-E04E4D11D37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23236-6974-FC15-F736-DB00C0FFBA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79708A-91D3-1AEB-5474-0F03BBA1D09C}"/>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5" name="Footer Placeholder 4">
            <a:extLst>
              <a:ext uri="{FF2B5EF4-FFF2-40B4-BE49-F238E27FC236}">
                <a16:creationId xmlns:a16="http://schemas.microsoft.com/office/drawing/2014/main" id="{88A5D5C7-59D7-2DE3-EE06-D1E7AE9148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B6D519-E745-9170-8AFA-65BA6B02047B}"/>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2414343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94C30-777D-041D-667E-2649A53FD4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EA6EC3-ACA8-9D22-2591-E6D38814D2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2D1D65-1254-8357-3261-E52DF5000AD5}"/>
              </a:ext>
            </a:extLst>
          </p:cNvPr>
          <p:cNvSpPr>
            <a:spLocks noGrp="1"/>
          </p:cNvSpPr>
          <p:nvPr>
            <p:ph type="dt" sz="half" idx="10"/>
          </p:nvPr>
        </p:nvSpPr>
        <p:spPr/>
        <p:txBody>
          <a:bodyPr/>
          <a:lstStyle/>
          <a:p>
            <a:fld id="{3B89A034-E9CE-4C44-A675-50A5FA38C55A}" type="datetimeFigureOut">
              <a:rPr lang="en-US" smtClean="0"/>
              <a:pPr/>
              <a:t>5/27/2026</a:t>
            </a:fld>
            <a:endParaRPr lang="en-US"/>
          </a:p>
        </p:txBody>
      </p:sp>
      <p:sp>
        <p:nvSpPr>
          <p:cNvPr id="5" name="Footer Placeholder 4">
            <a:extLst>
              <a:ext uri="{FF2B5EF4-FFF2-40B4-BE49-F238E27FC236}">
                <a16:creationId xmlns:a16="http://schemas.microsoft.com/office/drawing/2014/main" id="{1F39253E-021A-72E0-E4BB-E2337625D4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F844FE-BDED-C9D3-A187-D7FC82074BD3}"/>
              </a:ext>
            </a:extLst>
          </p:cNvPr>
          <p:cNvSpPr>
            <a:spLocks noGrp="1"/>
          </p:cNvSpPr>
          <p:nvPr>
            <p:ph type="sldNum" sz="quarter" idx="12"/>
          </p:nvPr>
        </p:nvSpPr>
        <p:spPr/>
        <p:txBody>
          <a:bodyPr/>
          <a:lstStyle/>
          <a:p>
            <a:fld id="{FB386DDC-0389-4A9C-A7C1-A3DD8903D9EC}" type="slidenum">
              <a:rPr lang="en-US" smtClean="0"/>
              <a:pPr/>
              <a:t>‹#›</a:t>
            </a:fld>
            <a:endParaRPr lang="en-US"/>
          </a:p>
        </p:txBody>
      </p:sp>
    </p:spTree>
    <p:extLst>
      <p:ext uri="{BB962C8B-B14F-4D97-AF65-F5344CB8AC3E}">
        <p14:creationId xmlns:p14="http://schemas.microsoft.com/office/powerpoint/2010/main" val="3960651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3164CD-7622-BD8A-B6FF-9A5137DAD5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80893C-EB2D-CFD2-B8D9-E65043E0FF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DCEDD0-B180-12C4-8BE3-B550ED204F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9A034-E9CE-4C44-A675-50A5FA38C55A}" type="datetimeFigureOut">
              <a:rPr lang="en-US" smtClean="0"/>
              <a:pPr/>
              <a:t>5/27/2026</a:t>
            </a:fld>
            <a:endParaRPr lang="en-US"/>
          </a:p>
        </p:txBody>
      </p:sp>
      <p:sp>
        <p:nvSpPr>
          <p:cNvPr id="5" name="Footer Placeholder 4">
            <a:extLst>
              <a:ext uri="{FF2B5EF4-FFF2-40B4-BE49-F238E27FC236}">
                <a16:creationId xmlns:a16="http://schemas.microsoft.com/office/drawing/2014/main" id="{CE99BC4F-0396-3CB6-F3BB-8A8DA6A90B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EC88F2-E168-C2A1-14C1-849E63CE87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386DDC-0389-4A9C-A7C1-A3DD8903D9EC}" type="slidenum">
              <a:rPr lang="en-US" smtClean="0"/>
              <a:pPr/>
              <a:t>‹#›</a:t>
            </a:fld>
            <a:endParaRPr lang="en-US"/>
          </a:p>
        </p:txBody>
      </p:sp>
    </p:spTree>
    <p:extLst>
      <p:ext uri="{BB962C8B-B14F-4D97-AF65-F5344CB8AC3E}">
        <p14:creationId xmlns:p14="http://schemas.microsoft.com/office/powerpoint/2010/main" val="1282776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0.wmf"/></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3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4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40.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C59F78-F432-B873-8F10-114FBF25DDA9}"/>
              </a:ext>
            </a:extLst>
          </p:cNvPr>
          <p:cNvSpPr txBox="1"/>
          <p:nvPr/>
        </p:nvSpPr>
        <p:spPr>
          <a:xfrm>
            <a:off x="4322990" y="0"/>
            <a:ext cx="3204482" cy="646331"/>
          </a:xfrm>
          <a:prstGeom prst="rect">
            <a:avLst/>
          </a:prstGeom>
          <a:noFill/>
        </p:spPr>
        <p:txBody>
          <a:bodyPr wrap="square">
            <a:spAutoFit/>
          </a:bodyPr>
          <a:lstStyle/>
          <a:p>
            <a:r>
              <a:rPr lang="en-US" sz="3600" dirty="0"/>
              <a:t>Waves in a Box</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9873EC1-57CD-1916-CCB1-E29D2DCD5798}"/>
                  </a:ext>
                </a:extLst>
              </p:cNvPr>
              <p:cNvSpPr txBox="1"/>
              <p:nvPr/>
            </p:nvSpPr>
            <p:spPr>
              <a:xfrm>
                <a:off x="1826554" y="801368"/>
                <a:ext cx="8538892" cy="2279663"/>
              </a:xfrm>
              <a:prstGeom prst="rect">
                <a:avLst/>
              </a:prstGeom>
              <a:noFill/>
            </p:spPr>
            <p:txBody>
              <a:bodyPr wrap="square" rtlCol="0">
                <a:spAutoFit/>
              </a:bodyPr>
              <a:lstStyle/>
              <a:p>
                <a:r>
                  <a:rPr lang="en-US" sz="2400" dirty="0"/>
                  <a:t>The wave equation can be written as </a:t>
                </a:r>
                <a14:m>
                  <m:oMath xmlns:m="http://schemas.openxmlformats.org/officeDocument/2006/math">
                    <m:r>
                      <a:rPr lang="en-US" sz="2400" b="0" i="1" smtClean="0">
                        <a:latin typeface="Cambria Math" panose="02040503050406030204" pitchFamily="18" charset="0"/>
                      </a:rPr>
                      <m:t>𝑦</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𝑡</m:t>
                        </m:r>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0</m:t>
                        </m:r>
                      </m:sub>
                    </m:sSub>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b="0" i="1" smtClean="0">
                            <a:latin typeface="Cambria Math" panose="02040503050406030204" pitchFamily="18" charset="0"/>
                          </a:rPr>
                          <m:t>(</m:t>
                        </m:r>
                        <m:r>
                          <a:rPr lang="en-US" sz="2400" b="0" i="1" smtClean="0">
                            <a:latin typeface="Cambria Math" panose="02040503050406030204" pitchFamily="18" charset="0"/>
                          </a:rPr>
                          <m:t>𝑘𝑥</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𝜔</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rPr>
                          <m:t>)</m:t>
                        </m:r>
                      </m:e>
                    </m:func>
                  </m:oMath>
                </a14:m>
                <a:endParaRPr lang="en-US" sz="2400" dirty="0"/>
              </a:p>
              <a:p>
                <a:r>
                  <a:rPr lang="en-US" sz="2400" dirty="0"/>
                  <a:t>Where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𝐴</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0</m:t>
                        </m:r>
                      </m:sub>
                    </m:sSub>
                  </m:oMath>
                </a14:m>
                <a:r>
                  <a:rPr lang="en-US" sz="2400" dirty="0"/>
                  <a:t> is the amplitude of the wave</a:t>
                </a:r>
              </a:p>
              <a:p>
                <a14:m>
                  <m:oMath xmlns:m="http://schemas.openxmlformats.org/officeDocument/2006/math">
                    <m:r>
                      <a:rPr lang="en-US" sz="2400" i="1">
                        <a:solidFill>
                          <a:prstClr val="black"/>
                        </a:solidFill>
                        <a:latin typeface="Cambria Math" panose="02040503050406030204" pitchFamily="18" charset="0"/>
                      </a:rPr>
                      <m:t>𝑘</m:t>
                    </m:r>
                    <m:r>
                      <a:rPr lang="en-US" sz="2400" b="0" i="1" smtClean="0">
                        <a:solidFill>
                          <a:prstClr val="black"/>
                        </a:solidFill>
                        <a:latin typeface="Cambria Math" panose="02040503050406030204" pitchFamily="18" charset="0"/>
                      </a:rPr>
                      <m:t>=</m:t>
                    </m:r>
                    <m:f>
                      <m:fPr>
                        <m:ctrlPr>
                          <a:rPr lang="en-US" sz="2400" b="0" i="1" smtClean="0">
                            <a:solidFill>
                              <a:prstClr val="black"/>
                            </a:solidFill>
                            <a:latin typeface="Cambria Math" panose="02040503050406030204" pitchFamily="18" charset="0"/>
                          </a:rPr>
                        </m:ctrlPr>
                      </m:fPr>
                      <m:num>
                        <m:r>
                          <a:rPr lang="en-US" sz="2400" b="0" i="1" smtClean="0">
                            <a:solidFill>
                              <a:prstClr val="black"/>
                            </a:solidFill>
                            <a:latin typeface="Cambria Math" panose="02040503050406030204" pitchFamily="18" charset="0"/>
                          </a:rPr>
                          <m:t>2</m:t>
                        </m:r>
                        <m:r>
                          <a:rPr lang="en-US" sz="2400" b="0" i="1" smtClean="0">
                            <a:solidFill>
                              <a:prstClr val="black"/>
                            </a:solidFill>
                            <a:latin typeface="Cambria Math" panose="02040503050406030204" pitchFamily="18" charset="0"/>
                            <a:ea typeface="Cambria Math" panose="02040503050406030204" pitchFamily="18" charset="0"/>
                          </a:rPr>
                          <m:t>𝜋</m:t>
                        </m:r>
                      </m:num>
                      <m:den>
                        <m:r>
                          <a:rPr lang="en-US" sz="2400" b="0" i="1" smtClean="0">
                            <a:solidFill>
                              <a:prstClr val="black"/>
                            </a:solidFill>
                            <a:latin typeface="Cambria Math" panose="02040503050406030204" pitchFamily="18" charset="0"/>
                            <a:ea typeface="Cambria Math" panose="02040503050406030204" pitchFamily="18" charset="0"/>
                          </a:rPr>
                          <m:t>𝜆</m:t>
                        </m:r>
                      </m:den>
                    </m:f>
                  </m:oMath>
                </a14:m>
                <a:r>
                  <a:rPr lang="en-US" sz="2400" dirty="0"/>
                  <a:t> is the wave vector (some time called wave number), </a:t>
                </a:r>
              </a:p>
              <a:p>
                <a14:m>
                  <m:oMath xmlns:m="http://schemas.openxmlformats.org/officeDocument/2006/math">
                    <m:r>
                      <a:rPr lang="en-US" sz="2400" i="1">
                        <a:solidFill>
                          <a:prstClr val="black"/>
                        </a:solidFill>
                        <a:latin typeface="Cambria Math" panose="02040503050406030204" pitchFamily="18" charset="0"/>
                        <a:ea typeface="Cambria Math" panose="02040503050406030204" pitchFamily="18" charset="0"/>
                      </a:rPr>
                      <m:t>𝜔</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2</m:t>
                    </m:r>
                    <m:r>
                      <a:rPr lang="en-US" sz="2400" b="0" i="1" smtClean="0">
                        <a:solidFill>
                          <a:prstClr val="black"/>
                        </a:solidFill>
                        <a:latin typeface="Cambria Math" panose="02040503050406030204" pitchFamily="18" charset="0"/>
                        <a:ea typeface="Cambria Math" panose="02040503050406030204" pitchFamily="18" charset="0"/>
                      </a:rPr>
                      <m:t>𝜋</m:t>
                    </m:r>
                    <m:r>
                      <a:rPr lang="en-US" sz="2400" b="0" i="1" smtClean="0">
                        <a:solidFill>
                          <a:prstClr val="black"/>
                        </a:solidFill>
                        <a:latin typeface="Cambria Math" panose="02040503050406030204" pitchFamily="18" charset="0"/>
                        <a:ea typeface="Cambria Math" panose="02040503050406030204" pitchFamily="18" charset="0"/>
                      </a:rPr>
                      <m:t>𝑓</m:t>
                    </m:r>
                  </m:oMath>
                </a14:m>
                <a:r>
                  <a:rPr lang="en-US" sz="2400" dirty="0"/>
                  <a:t> is the angular frequency and </a:t>
                </a:r>
                <a14:m>
                  <m:oMath xmlns:m="http://schemas.openxmlformats.org/officeDocument/2006/math">
                    <m:r>
                      <a:rPr lang="en-US" sz="2400" i="1">
                        <a:solidFill>
                          <a:prstClr val="black"/>
                        </a:solidFill>
                        <a:latin typeface="Cambria Math" panose="02040503050406030204" pitchFamily="18" charset="0"/>
                        <a:ea typeface="Cambria Math" panose="02040503050406030204" pitchFamily="18" charset="0"/>
                      </a:rPr>
                      <m:t>𝑓</m:t>
                    </m:r>
                  </m:oMath>
                </a14:m>
                <a:r>
                  <a:rPr lang="en-US" sz="2400" dirty="0"/>
                  <a:t> is the linear frequency</a:t>
                </a:r>
              </a:p>
              <a:p>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𝑐</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𝑓</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oMath>
                </a14:m>
                <a:r>
                  <a:rPr lang="en-US" sz="2400" dirty="0"/>
                  <a:t> is the wave speed, so we can write </a:t>
                </a:r>
                <a14:m>
                  <m:oMath xmlns:m="http://schemas.openxmlformats.org/officeDocument/2006/math">
                    <m:r>
                      <a:rPr lang="en-US" sz="2400" i="1">
                        <a:solidFill>
                          <a:prstClr val="black"/>
                        </a:solidFill>
                        <a:latin typeface="Cambria Math" panose="02040503050406030204" pitchFamily="18" charset="0"/>
                        <a:ea typeface="Cambria Math" panose="02040503050406030204" pitchFamily="18" charset="0"/>
                      </a:rPr>
                      <m:t>𝜔</m:t>
                    </m:r>
                    <m:r>
                      <a:rPr lang="en-US" sz="2400" b="0" i="1" smtClean="0">
                        <a:solidFill>
                          <a:prstClr val="black"/>
                        </a:solidFill>
                        <a:latin typeface="Cambria Math" panose="02040503050406030204" pitchFamily="18" charset="0"/>
                        <a:ea typeface="Cambria Math" panose="02040503050406030204" pitchFamily="18" charset="0"/>
                      </a:rPr>
                      <m:t>=</m:t>
                    </m:r>
                    <m:f>
                      <m:fPr>
                        <m:ctrlPr>
                          <a:rPr lang="en-US" sz="2400" b="0" i="1" smtClean="0">
                            <a:solidFill>
                              <a:prstClr val="black"/>
                            </a:solidFill>
                            <a:latin typeface="Cambria Math" panose="02040503050406030204" pitchFamily="18" charset="0"/>
                            <a:ea typeface="Cambria Math" panose="02040503050406030204" pitchFamily="18" charset="0"/>
                          </a:rPr>
                        </m:ctrlPr>
                      </m:fPr>
                      <m:num>
                        <m:r>
                          <a:rPr lang="en-US" sz="2400" b="0" i="1" smtClean="0">
                            <a:solidFill>
                              <a:prstClr val="black"/>
                            </a:solidFill>
                            <a:latin typeface="Cambria Math" panose="02040503050406030204" pitchFamily="18" charset="0"/>
                            <a:ea typeface="Cambria Math" panose="02040503050406030204" pitchFamily="18" charset="0"/>
                          </a:rPr>
                          <m:t>𝑐</m:t>
                        </m:r>
                      </m:num>
                      <m:den>
                        <m:r>
                          <a:rPr lang="en-US" sz="2400" b="0" i="1" smtClean="0">
                            <a:solidFill>
                              <a:prstClr val="black"/>
                            </a:solidFill>
                            <a:latin typeface="Cambria Math" panose="02040503050406030204" pitchFamily="18" charset="0"/>
                            <a:ea typeface="Cambria Math" panose="02040503050406030204" pitchFamily="18" charset="0"/>
                          </a:rPr>
                          <m:t>𝑘</m:t>
                        </m:r>
                      </m:den>
                    </m:f>
                  </m:oMath>
                </a14:m>
                <a:endParaRPr lang="en-US" sz="2400" dirty="0"/>
              </a:p>
            </p:txBody>
          </p:sp>
        </mc:Choice>
        <mc:Fallback xmlns="">
          <p:sp>
            <p:nvSpPr>
              <p:cNvPr id="6" name="TextBox 5">
                <a:extLst>
                  <a:ext uri="{FF2B5EF4-FFF2-40B4-BE49-F238E27FC236}">
                    <a16:creationId xmlns:a16="http://schemas.microsoft.com/office/drawing/2014/main" xmlns="" xmlns:a14="http://schemas.microsoft.com/office/drawing/2010/main" id="{09873EC1-57CD-1916-CCB1-E29D2DCD5798}"/>
                  </a:ext>
                </a:extLst>
              </p:cNvPr>
              <p:cNvSpPr txBox="1">
                <a:spLocks noRot="1" noChangeAspect="1" noMove="1" noResize="1" noEditPoints="1" noAdjustHandles="1" noChangeArrowheads="1" noChangeShapeType="1" noTextEdit="1"/>
              </p:cNvSpPr>
              <p:nvPr/>
            </p:nvSpPr>
            <p:spPr>
              <a:xfrm>
                <a:off x="1826554" y="801368"/>
                <a:ext cx="8538892" cy="2279663"/>
              </a:xfrm>
              <a:prstGeom prst="rect">
                <a:avLst/>
              </a:prstGeom>
              <a:blipFill>
                <a:blip r:embed="rId2"/>
                <a:stretch>
                  <a:fillRect l="-1143" t="-2139"/>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8324A6C1-385B-9BF3-41E1-85D0464E29B1}"/>
              </a:ext>
            </a:extLst>
          </p:cNvPr>
          <p:cNvPicPr>
            <a:picLocks noChangeAspect="1"/>
          </p:cNvPicPr>
          <p:nvPr/>
        </p:nvPicPr>
        <p:blipFill>
          <a:blip r:embed="rId3"/>
          <a:stretch>
            <a:fillRect/>
          </a:stretch>
        </p:blipFill>
        <p:spPr>
          <a:xfrm>
            <a:off x="3731682" y="3236068"/>
            <a:ext cx="4387097" cy="2488680"/>
          </a:xfrm>
          <a:prstGeom prst="rect">
            <a:avLst/>
          </a:prstGeom>
        </p:spPr>
      </p:pic>
    </p:spTree>
    <p:extLst>
      <p:ext uri="{BB962C8B-B14F-4D97-AF65-F5344CB8AC3E}">
        <p14:creationId xmlns:p14="http://schemas.microsoft.com/office/powerpoint/2010/main" val="1386609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C9A612-95A8-15E6-2EB9-E6EA15B7DB79}"/>
              </a:ext>
            </a:extLst>
          </p:cNvPr>
          <p:cNvSpPr txBox="1"/>
          <p:nvPr/>
        </p:nvSpPr>
        <p:spPr>
          <a:xfrm>
            <a:off x="2940728" y="0"/>
            <a:ext cx="6238784" cy="646331"/>
          </a:xfrm>
          <a:prstGeom prst="rect">
            <a:avLst/>
          </a:prstGeom>
          <a:noFill/>
        </p:spPr>
        <p:txBody>
          <a:bodyPr wrap="square">
            <a:spAutoFit/>
          </a:bodyPr>
          <a:lstStyle/>
          <a:p>
            <a:r>
              <a:rPr lang="en-US" sz="3600" dirty="0"/>
              <a:t>Electromagnetic Modes in a Box</a:t>
            </a:r>
          </a:p>
        </p:txBody>
      </p:sp>
      <p:sp>
        <p:nvSpPr>
          <p:cNvPr id="5" name="TextBox 4">
            <a:extLst>
              <a:ext uri="{FF2B5EF4-FFF2-40B4-BE49-F238E27FC236}">
                <a16:creationId xmlns:a16="http://schemas.microsoft.com/office/drawing/2014/main" id="{31181EF1-E1DD-CB11-C27F-4A1F3377D708}"/>
              </a:ext>
            </a:extLst>
          </p:cNvPr>
          <p:cNvSpPr txBox="1"/>
          <p:nvPr/>
        </p:nvSpPr>
        <p:spPr>
          <a:xfrm>
            <a:off x="1253969" y="738573"/>
            <a:ext cx="10606597" cy="1569660"/>
          </a:xfrm>
          <a:prstGeom prst="rect">
            <a:avLst/>
          </a:prstGeom>
          <a:noFill/>
        </p:spPr>
        <p:txBody>
          <a:bodyPr wrap="square">
            <a:spAutoFit/>
          </a:bodyPr>
          <a:lstStyle/>
          <a:p>
            <a:r>
              <a:rPr lang="en-US" sz="2400" dirty="0"/>
              <a:t>Consider a cubical box of side L and imagine waves bouncing back and forth inside it. The box has fixed, rigid, perfectly conducting walls. Therefore, the electric field of the electromagnetic wave must be zero at the walls of the box and so we can only fit waves into the box which are multiples of half a wavelength.</a:t>
            </a:r>
          </a:p>
        </p:txBody>
      </p:sp>
      <p:pic>
        <p:nvPicPr>
          <p:cNvPr id="7" name="Picture 6">
            <a:extLst>
              <a:ext uri="{FF2B5EF4-FFF2-40B4-BE49-F238E27FC236}">
                <a16:creationId xmlns:a16="http://schemas.microsoft.com/office/drawing/2014/main" id="{6D4ADA82-9654-08DF-C9C5-3273FE2E7460}"/>
              </a:ext>
            </a:extLst>
          </p:cNvPr>
          <p:cNvPicPr>
            <a:picLocks noChangeAspect="1"/>
          </p:cNvPicPr>
          <p:nvPr/>
        </p:nvPicPr>
        <p:blipFill>
          <a:blip r:embed="rId2"/>
          <a:stretch>
            <a:fillRect/>
          </a:stretch>
        </p:blipFill>
        <p:spPr>
          <a:xfrm>
            <a:off x="8965337" y="2065307"/>
            <a:ext cx="2819400" cy="3686175"/>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E84E354-B283-901A-1978-EBEC913EBC88}"/>
                  </a:ext>
                </a:extLst>
              </p:cNvPr>
              <p:cNvSpPr txBox="1"/>
              <p:nvPr/>
            </p:nvSpPr>
            <p:spPr>
              <a:xfrm>
                <a:off x="1336499" y="2707274"/>
                <a:ext cx="7843013" cy="3936462"/>
              </a:xfrm>
              <a:prstGeom prst="rect">
                <a:avLst/>
              </a:prstGeom>
              <a:noFill/>
            </p:spPr>
            <p:txBody>
              <a:bodyPr wrap="square">
                <a:spAutoFit/>
              </a:bodyPr>
              <a:lstStyle/>
              <a:p>
                <a:r>
                  <a:rPr lang="en-US" sz="2400" dirty="0"/>
                  <a:t>In the x-direction, the wavelengths of the waves which</a:t>
                </a:r>
              </a:p>
              <a:p>
                <a:r>
                  <a:rPr lang="en-US" sz="2400" dirty="0"/>
                  <a:t>can be fitted into the box are those for which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𝑙</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rPr>
                              <m:t>𝑥</m:t>
                            </m:r>
                          </m:sub>
                        </m:sSub>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r>
                      <a:rPr lang="en-US" sz="2400" b="0" i="1" smtClean="0">
                        <a:latin typeface="Cambria Math" panose="02040503050406030204" pitchFamily="18" charset="0"/>
                      </a:rPr>
                      <m:t>𝐿</m:t>
                    </m:r>
                  </m:oMath>
                </a14:m>
                <a:endParaRPr lang="en-US" sz="2400" dirty="0"/>
              </a:p>
              <a:p>
                <a:pPr lvl="0"/>
                <a:r>
                  <a:rPr lang="en-US" sz="2400" b="0" i="0" dirty="0">
                    <a:solidFill>
                      <a:srgbClr val="000000"/>
                    </a:solidFill>
                    <a:effectLst/>
                    <a:latin typeface="CMR10"/>
                  </a:rPr>
                  <a:t>where </a:t>
                </a:r>
                <a:r>
                  <a:rPr lang="en-US" sz="2400" b="0" i="1" dirty="0">
                    <a:solidFill>
                      <a:srgbClr val="000000"/>
                    </a:solidFill>
                    <a:effectLst/>
                    <a:latin typeface="CMMI10"/>
                  </a:rPr>
                  <a:t>l </a:t>
                </a:r>
                <a:r>
                  <a:rPr lang="en-US" sz="2400" b="0" i="0" dirty="0">
                    <a:solidFill>
                      <a:srgbClr val="000000"/>
                    </a:solidFill>
                    <a:effectLst/>
                    <a:latin typeface="CMR10"/>
                  </a:rPr>
                  <a:t>takes any positive integral value, </a:t>
                </a:r>
                <a:r>
                  <a:rPr lang="en-US" sz="2400" i="1" dirty="0">
                    <a:solidFill>
                      <a:srgbClr val="000000"/>
                    </a:solidFill>
                    <a:latin typeface="CMMI10"/>
                  </a:rPr>
                  <a:t>l =</a:t>
                </a:r>
                <a:r>
                  <a:rPr lang="en-US" sz="2400" b="0" i="0" dirty="0">
                    <a:solidFill>
                      <a:srgbClr val="000000"/>
                    </a:solidFill>
                    <a:effectLst/>
                    <a:latin typeface="CMR10"/>
                  </a:rPr>
                  <a:t>1, 2, 3, </a:t>
                </a:r>
                <a:r>
                  <a:rPr lang="en-US" sz="2400" i="1" dirty="0">
                    <a:solidFill>
                      <a:srgbClr val="000000"/>
                    </a:solidFill>
                    <a:latin typeface="CMMI10"/>
                  </a:rPr>
                  <a:t>……….</a:t>
                </a:r>
                <a:br>
                  <a:rPr lang="en-US" sz="2400" b="0" i="0" dirty="0">
                    <a:solidFill>
                      <a:srgbClr val="000000"/>
                    </a:solidFill>
                    <a:effectLst/>
                    <a:latin typeface="CMR10"/>
                  </a:rPr>
                </a:br>
                <a:endParaRPr lang="en-US" sz="2400" b="0" i="0" dirty="0">
                  <a:solidFill>
                    <a:srgbClr val="000000"/>
                  </a:solidFill>
                  <a:effectLst/>
                  <a:latin typeface="CMR10"/>
                </a:endParaRPr>
              </a:p>
              <a:p>
                <a:pPr lvl="0"/>
                <a:r>
                  <a:rPr lang="en-US" sz="2400" b="0" i="0" dirty="0">
                    <a:solidFill>
                      <a:srgbClr val="000000"/>
                    </a:solidFill>
                    <a:effectLst/>
                    <a:latin typeface="CMR10"/>
                  </a:rPr>
                  <a:t>Similarly, for the </a:t>
                </a:r>
                <a:r>
                  <a:rPr lang="en-US" sz="2400" b="0" i="1" dirty="0">
                    <a:solidFill>
                      <a:srgbClr val="000000"/>
                    </a:solidFill>
                    <a:effectLst/>
                    <a:latin typeface="CMMI10"/>
                  </a:rPr>
                  <a:t>y </a:t>
                </a:r>
                <a:r>
                  <a:rPr lang="en-US" sz="2400" b="0" i="0" dirty="0">
                    <a:solidFill>
                      <a:srgbClr val="000000"/>
                    </a:solidFill>
                    <a:effectLst/>
                    <a:latin typeface="CMR10"/>
                  </a:rPr>
                  <a:t>and </a:t>
                </a:r>
                <a:r>
                  <a:rPr lang="en-US" sz="2400" b="0" i="1" dirty="0">
                    <a:solidFill>
                      <a:srgbClr val="000000"/>
                    </a:solidFill>
                    <a:effectLst/>
                    <a:latin typeface="CMMI10"/>
                  </a:rPr>
                  <a:t>z </a:t>
                </a:r>
                <a:r>
                  <a:rPr lang="en-US" sz="2400" b="0" i="0" dirty="0">
                    <a:solidFill>
                      <a:srgbClr val="000000"/>
                    </a:solidFill>
                    <a:effectLst/>
                    <a:latin typeface="CMR10"/>
                  </a:rPr>
                  <a:t>directions</a:t>
                </a:r>
                <a:br>
                  <a:rPr lang="en-US" sz="2400" dirty="0"/>
                </a:b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𝑦</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𝐿</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a:t>
                </a:r>
                <a14:m>
                  <m:oMath xmlns:m="http://schemas.openxmlformats.org/officeDocument/2006/math">
                    <m:f>
                      <m:fPr>
                        <m:ctrlPr>
                          <a:rPr lang="en-US" sz="2400" i="1">
                            <a:solidFill>
                              <a:prstClr val="black"/>
                            </a:solidFill>
                            <a:latin typeface="Cambria Math" panose="02040503050406030204" pitchFamily="18" charset="0"/>
                          </a:rPr>
                        </m:ctrlPr>
                      </m:fPr>
                      <m:num>
                        <m:r>
                          <a:rPr lang="en-US" sz="2400" b="0" i="1" smtClean="0">
                            <a:solidFill>
                              <a:prstClr val="black"/>
                            </a:solidFill>
                            <a:latin typeface="Cambria Math" panose="02040503050406030204" pitchFamily="18" charset="0"/>
                          </a:rPr>
                          <m:t>𝑛</m:t>
                        </m:r>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ea typeface="Cambria Math" panose="02040503050406030204" pitchFamily="18" charset="0"/>
                              </a:rPr>
                              <m:t>𝜆</m:t>
                            </m:r>
                          </m:e>
                          <m:sub>
                            <m:r>
                              <a:rPr lang="en-US" sz="2400" b="0" i="1" smtClean="0">
                                <a:solidFill>
                                  <a:prstClr val="black"/>
                                </a:solidFill>
                                <a:latin typeface="Cambria Math" panose="02040503050406030204" pitchFamily="18" charset="0"/>
                                <a:ea typeface="Cambria Math" panose="02040503050406030204" pitchFamily="18" charset="0"/>
                              </a:rPr>
                              <m:t>𝑧</m:t>
                            </m:r>
                          </m:sub>
                        </m:sSub>
                      </m:num>
                      <m:den>
                        <m:r>
                          <a:rPr lang="en-US" sz="2400" i="1">
                            <a:solidFill>
                              <a:prstClr val="black"/>
                            </a:solidFill>
                            <a:latin typeface="Cambria Math" panose="02040503050406030204" pitchFamily="18" charset="0"/>
                          </a:rPr>
                          <m:t>2</m:t>
                        </m:r>
                      </m:den>
                    </m:f>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𝐿</m:t>
                    </m:r>
                  </m:oMath>
                </a14:m>
                <a:endParaRPr lang="en-US" sz="2400"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i="0" dirty="0">
                    <a:solidFill>
                      <a:srgbClr val="000000"/>
                    </a:solidFill>
                    <a:effectLst/>
                    <a:latin typeface="CMR10"/>
                  </a:rPr>
                  <a:t>where </a:t>
                </a:r>
                <a:r>
                  <a:rPr lang="en-US" sz="2400" b="0" i="1" dirty="0">
                    <a:solidFill>
                      <a:srgbClr val="000000"/>
                    </a:solidFill>
                    <a:effectLst/>
                    <a:latin typeface="CMMI10"/>
                  </a:rPr>
                  <a:t>m </a:t>
                </a:r>
                <a:r>
                  <a:rPr lang="en-US" sz="2400" b="0" i="0" dirty="0">
                    <a:solidFill>
                      <a:srgbClr val="000000"/>
                    </a:solidFill>
                    <a:effectLst/>
                    <a:latin typeface="CMR10"/>
                  </a:rPr>
                  <a:t>and </a:t>
                </a:r>
                <a:r>
                  <a:rPr lang="en-US" sz="2400" b="0" i="1" dirty="0">
                    <a:solidFill>
                      <a:srgbClr val="000000"/>
                    </a:solidFill>
                    <a:effectLst/>
                    <a:latin typeface="CMMI10"/>
                  </a:rPr>
                  <a:t>n </a:t>
                </a:r>
                <a:r>
                  <a:rPr lang="en-US" sz="2400" b="0" i="0" dirty="0">
                    <a:solidFill>
                      <a:srgbClr val="000000"/>
                    </a:solidFill>
                    <a:effectLst/>
                    <a:latin typeface="CMR10"/>
                  </a:rPr>
                  <a:t>are also positive integers</a:t>
                </a:r>
                <a:r>
                  <a:rPr kumimoji="0" lang="en-US" sz="2400" b="0" i="1" u="none" strike="noStrike" kern="1200" cap="none" spc="0" normalizeH="0" baseline="0" noProof="0" dirty="0">
                    <a:ln>
                      <a:noFill/>
                    </a:ln>
                    <a:solidFill>
                      <a:srgbClr val="000000"/>
                    </a:solidFill>
                    <a:effectLst/>
                    <a:uLnTx/>
                    <a:uFillTx/>
                    <a:latin typeface="CMMI10"/>
                    <a:ea typeface="+mn-ea"/>
                    <a:cs typeface="+mn-cs"/>
                  </a:rPr>
                  <a:t>m=n=1,2,3,…. </a:t>
                </a:r>
                <a:br>
                  <a:rPr lang="en-US" sz="2400" dirty="0"/>
                </a:b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𝜋</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den>
                    </m:f>
                  </m:oMath>
                </a14:m>
                <a:r>
                  <a:rPr lang="en-US" sz="2400" dirty="0"/>
                  <a:t> give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𝑘</m:t>
                        </m:r>
                      </m:e>
                      <m:sub>
                        <m:r>
                          <a:rPr lang="en-US" sz="2400" i="1">
                            <a:latin typeface="Cambria Math" panose="02040503050406030204" pitchFamily="18" charset="0"/>
                          </a:rPr>
                          <m:t>𝑥</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rPr>
                          <m:t>2</m:t>
                        </m:r>
                        <m:r>
                          <a:rPr lang="en-US" sz="2400" b="0" i="1" smtClean="0">
                            <a:latin typeface="Cambria Math" panose="02040503050406030204" pitchFamily="18" charset="0"/>
                          </a:rPr>
                          <m:t>𝐿</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𝑙</m:t>
                        </m:r>
                      </m:num>
                      <m:den>
                        <m:r>
                          <a:rPr lang="en-US" sz="2400" b="0" i="1" smtClean="0">
                            <a:latin typeface="Cambria Math" panose="02040503050406030204" pitchFamily="18" charset="0"/>
                          </a:rPr>
                          <m:t>𝐿</m:t>
                        </m:r>
                      </m:den>
                    </m:f>
                  </m:oMath>
                </a14:m>
                <a:r>
                  <a:rPr lang="en-US" sz="2400" dirty="0"/>
                  <a:t> Similarly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b="0" i="1" smtClean="0">
                            <a:latin typeface="Cambria Math" panose="02040503050406030204" pitchFamily="18" charset="0"/>
                          </a:rPr>
                          <m:t>𝑦</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𝑚</m:t>
                        </m:r>
                      </m:num>
                      <m:den>
                        <m:r>
                          <a:rPr lang="en-US" sz="2400" i="1">
                            <a:latin typeface="Cambria Math" panose="02040503050406030204" pitchFamily="18" charset="0"/>
                          </a:rPr>
                          <m:t>𝐿</m:t>
                        </m:r>
                      </m:den>
                    </m:f>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b="0" i="1" smtClean="0">
                            <a:latin typeface="Cambria Math" panose="02040503050406030204" pitchFamily="18" charset="0"/>
                          </a:rPr>
                          <m:t>𝑧</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𝑛</m:t>
                        </m:r>
                      </m:num>
                      <m:den>
                        <m:r>
                          <a:rPr lang="en-US" sz="2400" i="1">
                            <a:latin typeface="Cambria Math" panose="02040503050406030204" pitchFamily="18" charset="0"/>
                          </a:rPr>
                          <m:t>𝐿</m:t>
                        </m:r>
                      </m:den>
                    </m:f>
                  </m:oMath>
                </a14:m>
                <a:endParaRPr lang="en-US" sz="2400" dirty="0"/>
              </a:p>
            </p:txBody>
          </p:sp>
        </mc:Choice>
        <mc:Fallback xmlns="">
          <p:sp>
            <p:nvSpPr>
              <p:cNvPr id="9" name="TextBox 8">
                <a:extLst>
                  <a:ext uri="{FF2B5EF4-FFF2-40B4-BE49-F238E27FC236}">
                    <a16:creationId xmlns:a16="http://schemas.microsoft.com/office/drawing/2014/main" xmlns="" xmlns:a14="http://schemas.microsoft.com/office/drawing/2010/main" id="{AE84E354-B283-901A-1978-EBEC913EBC88}"/>
                  </a:ext>
                </a:extLst>
              </p:cNvPr>
              <p:cNvSpPr txBox="1">
                <a:spLocks noRot="1" noChangeAspect="1" noMove="1" noResize="1" noEditPoints="1" noAdjustHandles="1" noChangeArrowheads="1" noChangeShapeType="1" noTextEdit="1"/>
              </p:cNvSpPr>
              <p:nvPr/>
            </p:nvSpPr>
            <p:spPr>
              <a:xfrm>
                <a:off x="1336499" y="2707274"/>
                <a:ext cx="7843013" cy="3936462"/>
              </a:xfrm>
              <a:prstGeom prst="rect">
                <a:avLst/>
              </a:prstGeom>
              <a:blipFill>
                <a:blip r:embed="rId3"/>
                <a:stretch>
                  <a:fillRect l="-1166" t="-1238" b="-774"/>
                </a:stretch>
              </a:blipFill>
            </p:spPr>
            <p:txBody>
              <a:bodyPr/>
              <a:lstStyle/>
              <a:p>
                <a:r>
                  <a:rPr lang="en-US">
                    <a:noFill/>
                  </a:rPr>
                  <a:t> </a:t>
                </a:r>
              </a:p>
            </p:txBody>
          </p:sp>
        </mc:Fallback>
      </mc:AlternateContent>
    </p:spTree>
    <p:extLst>
      <p:ext uri="{BB962C8B-B14F-4D97-AF65-F5344CB8AC3E}">
        <p14:creationId xmlns:p14="http://schemas.microsoft.com/office/powerpoint/2010/main" val="295008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A6DD4A0-E6F4-9616-C42B-3812F1592CBF}"/>
                  </a:ext>
                </a:extLst>
              </p:cNvPr>
              <p:cNvSpPr txBox="1"/>
              <p:nvPr/>
            </p:nvSpPr>
            <p:spPr>
              <a:xfrm>
                <a:off x="338667" y="239806"/>
                <a:ext cx="11582399" cy="1968168"/>
              </a:xfrm>
              <a:prstGeom prst="rect">
                <a:avLst/>
              </a:prstGeom>
              <a:noFill/>
            </p:spPr>
            <p:txBody>
              <a:bodyPr wrap="square">
                <a:spAutoFit/>
              </a:bodyPr>
              <a:lstStyle/>
              <a:p>
                <a:r>
                  <a:rPr lang="en-US" sz="2400" b="0" i="0" dirty="0">
                    <a:solidFill>
                      <a:srgbClr val="000000"/>
                    </a:solidFill>
                    <a:effectLst/>
                    <a:latin typeface="CMR10"/>
                  </a:rPr>
                  <a:t>The waves can oscillate in three dimensions but the components of their </a:t>
                </a:r>
                <a:r>
                  <a:rPr lang="en-US" sz="2400" b="0" i="1" dirty="0">
                    <a:solidFill>
                      <a:srgbClr val="000000"/>
                    </a:solidFill>
                    <a:effectLst/>
                    <a:latin typeface="CMMI10"/>
                  </a:rPr>
                  <a:t>k</a:t>
                </a:r>
                <a:r>
                  <a:rPr lang="en-US" sz="2400" b="0" i="0" dirty="0">
                    <a:solidFill>
                      <a:srgbClr val="000000"/>
                    </a:solidFill>
                    <a:effectLst/>
                    <a:latin typeface="CMR10"/>
                  </a:rPr>
                  <a:t>-vectors,</a:t>
                </a:r>
              </a:p>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𝑘</m:t>
                        </m:r>
                      </m:e>
                      <m:sub>
                        <m:r>
                          <a:rPr lang="en-US" sz="2400" i="1">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b="0" i="1" smtClean="0">
                            <a:latin typeface="Cambria Math" panose="02040503050406030204" pitchFamily="18" charset="0"/>
                          </a:rPr>
                          <m:t>𝑦</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b="0" i="1" smtClean="0">
                            <a:latin typeface="Cambria Math" panose="02040503050406030204" pitchFamily="18" charset="0"/>
                          </a:rPr>
                          <m:t>𝑧</m:t>
                        </m:r>
                      </m:sub>
                    </m:sSub>
                  </m:oMath>
                </a14:m>
                <a:r>
                  <a:rPr lang="en-US" sz="2400" b="0" i="0" dirty="0">
                    <a:solidFill>
                      <a:srgbClr val="000000"/>
                    </a:solidFill>
                    <a:effectLst/>
                    <a:latin typeface="CMR10"/>
                  </a:rPr>
                  <a:t> must be such that they are associated with one of the points of the</a:t>
                </a:r>
                <a:br>
                  <a:rPr lang="en-US" sz="2400" b="0" i="0" dirty="0">
                    <a:solidFill>
                      <a:srgbClr val="000000"/>
                    </a:solidFill>
                    <a:effectLst/>
                    <a:latin typeface="CMR10"/>
                  </a:rPr>
                </a:br>
                <a:r>
                  <a:rPr lang="en-US" sz="2400" b="0" i="0" dirty="0">
                    <a:solidFill>
                      <a:srgbClr val="000000"/>
                    </a:solidFill>
                    <a:effectLst/>
                    <a:latin typeface="CMR10"/>
                  </a:rPr>
                  <a:t>lattice in </a:t>
                </a:r>
                <a:r>
                  <a:rPr lang="en-US" sz="2400" b="0" i="1" dirty="0">
                    <a:solidFill>
                      <a:srgbClr val="000000"/>
                    </a:solidFill>
                    <a:effectLst/>
                    <a:latin typeface="CMMI10"/>
                  </a:rPr>
                  <a:t>k</a:t>
                </a:r>
                <a:r>
                  <a:rPr lang="en-US" sz="2400" b="0" i="0" dirty="0">
                    <a:solidFill>
                      <a:srgbClr val="000000"/>
                    </a:solidFill>
                    <a:effectLst/>
                    <a:latin typeface="CMR10"/>
                  </a:rPr>
                  <a:t>-space. A wave oscillating in three dimensions with any of the allowed values of </a:t>
                </a:r>
                <a:r>
                  <a:rPr lang="en-US" sz="2400" b="0" i="1" dirty="0">
                    <a:solidFill>
                      <a:srgbClr val="000000"/>
                    </a:solidFill>
                    <a:effectLst/>
                    <a:latin typeface="CMMI10"/>
                  </a:rPr>
                  <a:t>l; m; n </a:t>
                </a:r>
                <a:r>
                  <a:rPr lang="en-US" sz="2400" b="0" i="0" dirty="0">
                    <a:solidFill>
                      <a:srgbClr val="000000"/>
                    </a:solidFill>
                    <a:effectLst/>
                    <a:latin typeface="CMR10"/>
                  </a:rPr>
                  <a:t>satisfies the boundary conditions and so every point in the lattice represents a possible mode of oscillation of the waves within the box, consistent with the boundary conditions</a:t>
                </a:r>
                <a:r>
                  <a:rPr lang="en-US" sz="2400" dirty="0"/>
                  <a:t>.</a:t>
                </a:r>
              </a:p>
            </p:txBody>
          </p:sp>
        </mc:Choice>
        <mc:Fallback xmlns="">
          <p:sp>
            <p:nvSpPr>
              <p:cNvPr id="3" name="TextBox 2">
                <a:extLst>
                  <a:ext uri="{FF2B5EF4-FFF2-40B4-BE49-F238E27FC236}">
                    <a16:creationId xmlns:a16="http://schemas.microsoft.com/office/drawing/2014/main" xmlns="" xmlns:a14="http://schemas.microsoft.com/office/drawing/2010/main" id="{9A6DD4A0-E6F4-9616-C42B-3812F1592CBF}"/>
                  </a:ext>
                </a:extLst>
              </p:cNvPr>
              <p:cNvSpPr txBox="1">
                <a:spLocks noRot="1" noChangeAspect="1" noMove="1" noResize="1" noEditPoints="1" noAdjustHandles="1" noChangeArrowheads="1" noChangeShapeType="1" noTextEdit="1"/>
              </p:cNvSpPr>
              <p:nvPr/>
            </p:nvSpPr>
            <p:spPr>
              <a:xfrm>
                <a:off x="338667" y="239806"/>
                <a:ext cx="11582399" cy="1968168"/>
              </a:xfrm>
              <a:prstGeom prst="rect">
                <a:avLst/>
              </a:prstGeom>
              <a:blipFill>
                <a:blip r:embed="rId2"/>
                <a:stretch>
                  <a:fillRect l="-842" t="-2477" r="-947" b="-619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BD2C0F1-32DD-82D8-66CF-DB2746B59741}"/>
              </a:ext>
            </a:extLst>
          </p:cNvPr>
          <p:cNvPicPr>
            <a:picLocks noChangeAspect="1"/>
          </p:cNvPicPr>
          <p:nvPr/>
        </p:nvPicPr>
        <p:blipFill>
          <a:blip r:embed="rId3"/>
          <a:stretch>
            <a:fillRect/>
          </a:stretch>
        </p:blipFill>
        <p:spPr>
          <a:xfrm>
            <a:off x="8758766" y="2207974"/>
            <a:ext cx="3162300" cy="2924175"/>
          </a:xfrm>
          <a:prstGeom prst="rect">
            <a:avLst/>
          </a:prstGeom>
        </p:spPr>
      </p:pic>
      <p:sp>
        <p:nvSpPr>
          <p:cNvPr id="7" name="TextBox 6">
            <a:extLst>
              <a:ext uri="{FF2B5EF4-FFF2-40B4-BE49-F238E27FC236}">
                <a16:creationId xmlns:a16="http://schemas.microsoft.com/office/drawing/2014/main" id="{80BC753E-6929-65EE-7289-531DCDFECE62}"/>
              </a:ext>
            </a:extLst>
          </p:cNvPr>
          <p:cNvSpPr txBox="1"/>
          <p:nvPr/>
        </p:nvSpPr>
        <p:spPr>
          <a:xfrm>
            <a:off x="385235" y="2285066"/>
            <a:ext cx="8132232" cy="1200329"/>
          </a:xfrm>
          <a:prstGeom prst="rect">
            <a:avLst/>
          </a:prstGeom>
          <a:noFill/>
        </p:spPr>
        <p:txBody>
          <a:bodyPr wrap="square">
            <a:spAutoFit/>
          </a:bodyPr>
          <a:lstStyle/>
          <a:p>
            <a:r>
              <a:rPr lang="en-US" sz="2400" b="0" i="0" dirty="0">
                <a:solidFill>
                  <a:srgbClr val="000000"/>
                </a:solidFill>
                <a:effectLst/>
                <a:latin typeface="CMR10"/>
              </a:rPr>
              <a:t>Thus, in three dimensions, the modes of oscillation can</a:t>
            </a:r>
            <a:br>
              <a:rPr lang="en-US" sz="2400" b="0" i="0" dirty="0">
                <a:solidFill>
                  <a:srgbClr val="000000"/>
                </a:solidFill>
                <a:effectLst/>
                <a:latin typeface="CMR10"/>
              </a:rPr>
            </a:br>
            <a:r>
              <a:rPr lang="en-US" sz="2400" b="0" i="0" dirty="0">
                <a:solidFill>
                  <a:srgbClr val="000000"/>
                </a:solidFill>
                <a:effectLst/>
                <a:latin typeface="CMR10"/>
              </a:rPr>
              <a:t>be written</a:t>
            </a:r>
            <a:r>
              <a:rPr lang="en-US" sz="2400" dirty="0"/>
              <a:t> </a:t>
            </a:r>
            <a:br>
              <a:rPr lang="en-US" sz="2400" dirty="0"/>
            </a:br>
            <a:endParaRPr lang="en-US" sz="2400" dirty="0"/>
          </a:p>
        </p:txBody>
      </p:sp>
      <p:pic>
        <p:nvPicPr>
          <p:cNvPr id="4" name="Picture 3">
            <a:extLst>
              <a:ext uri="{FF2B5EF4-FFF2-40B4-BE49-F238E27FC236}">
                <a16:creationId xmlns:a16="http://schemas.microsoft.com/office/drawing/2014/main" id="{D3D5FC18-F5A9-9D19-3AD5-AB7B5D1CE720}"/>
              </a:ext>
            </a:extLst>
          </p:cNvPr>
          <p:cNvPicPr>
            <a:picLocks noChangeAspect="1"/>
          </p:cNvPicPr>
          <p:nvPr/>
        </p:nvPicPr>
        <p:blipFill>
          <a:blip r:embed="rId4"/>
          <a:stretch>
            <a:fillRect/>
          </a:stretch>
        </p:blipFill>
        <p:spPr>
          <a:xfrm>
            <a:off x="2307091" y="2757627"/>
            <a:ext cx="3495675" cy="838200"/>
          </a:xfrm>
          <a:prstGeom prst="rect">
            <a:avLst/>
          </a:prstGeom>
        </p:spPr>
      </p:pic>
      <p:pic>
        <p:nvPicPr>
          <p:cNvPr id="8" name="Picture 7">
            <a:extLst>
              <a:ext uri="{FF2B5EF4-FFF2-40B4-BE49-F238E27FC236}">
                <a16:creationId xmlns:a16="http://schemas.microsoft.com/office/drawing/2014/main" id="{039DA868-32DF-B3E2-0E50-9167229F3D8F}"/>
              </a:ext>
            </a:extLst>
          </p:cNvPr>
          <p:cNvPicPr>
            <a:picLocks noChangeAspect="1"/>
          </p:cNvPicPr>
          <p:nvPr/>
        </p:nvPicPr>
        <p:blipFill>
          <a:blip r:embed="rId5"/>
          <a:stretch>
            <a:fillRect/>
          </a:stretch>
        </p:blipFill>
        <p:spPr>
          <a:xfrm>
            <a:off x="1578428" y="3711200"/>
            <a:ext cx="4953000" cy="714375"/>
          </a:xfrm>
          <a:prstGeom prst="rect">
            <a:avLst/>
          </a:prstGeom>
        </p:spPr>
      </p:pic>
      <p:pic>
        <p:nvPicPr>
          <p:cNvPr id="10" name="Picture 9">
            <a:extLst>
              <a:ext uri="{FF2B5EF4-FFF2-40B4-BE49-F238E27FC236}">
                <a16:creationId xmlns:a16="http://schemas.microsoft.com/office/drawing/2014/main" id="{2A6B50B2-EEDC-8F5A-EB9C-88087EC865A0}"/>
              </a:ext>
            </a:extLst>
          </p:cNvPr>
          <p:cNvPicPr>
            <a:picLocks noChangeAspect="1"/>
          </p:cNvPicPr>
          <p:nvPr/>
        </p:nvPicPr>
        <p:blipFill>
          <a:blip r:embed="rId6"/>
          <a:stretch>
            <a:fillRect/>
          </a:stretch>
        </p:blipFill>
        <p:spPr>
          <a:xfrm>
            <a:off x="1316490" y="4795547"/>
            <a:ext cx="5476875" cy="1847850"/>
          </a:xfrm>
          <a:prstGeom prst="rect">
            <a:avLst/>
          </a:prstGeom>
        </p:spPr>
      </p:pic>
    </p:spTree>
    <p:extLst>
      <p:ext uri="{BB962C8B-B14F-4D97-AF65-F5344CB8AC3E}">
        <p14:creationId xmlns:p14="http://schemas.microsoft.com/office/powerpoint/2010/main" val="1611775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E814C8-FDF5-DED1-4A09-5A87EE2F964A}"/>
              </a:ext>
            </a:extLst>
          </p:cNvPr>
          <p:cNvSpPr txBox="1"/>
          <p:nvPr/>
        </p:nvSpPr>
        <p:spPr>
          <a:xfrm>
            <a:off x="4036881" y="0"/>
            <a:ext cx="4118238" cy="646331"/>
          </a:xfrm>
          <a:prstGeom prst="rect">
            <a:avLst/>
          </a:prstGeom>
          <a:noFill/>
        </p:spPr>
        <p:txBody>
          <a:bodyPr wrap="square">
            <a:spAutoFit/>
          </a:bodyPr>
          <a:lstStyle/>
          <a:p>
            <a:r>
              <a:rPr lang="en-US" sz="3600" dirty="0"/>
              <a:t>Counting the Modes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D278B1A-3D76-2D59-2B02-F9096447DFDA}"/>
                  </a:ext>
                </a:extLst>
              </p:cNvPr>
              <p:cNvSpPr txBox="1"/>
              <p:nvPr/>
            </p:nvSpPr>
            <p:spPr>
              <a:xfrm>
                <a:off x="849086" y="646331"/>
                <a:ext cx="9911443" cy="461665"/>
              </a:xfrm>
              <a:prstGeom prst="rect">
                <a:avLst/>
              </a:prstGeom>
              <a:noFill/>
            </p:spPr>
            <p:txBody>
              <a:bodyPr wrap="square" rtlCol="0">
                <a:spAutoFit/>
              </a:bodyPr>
              <a:lstStyle/>
              <a:p>
                <a:r>
                  <a:rPr lang="en-US" sz="2400" dirty="0"/>
                  <a:t>We need to count the number of modes between the frequency </a:t>
                </a:r>
                <a14:m>
                  <m:oMath xmlns:m="http://schemas.openxmlformats.org/officeDocument/2006/math">
                    <m:r>
                      <a:rPr lang="en-US" sz="2400" i="1" smtClean="0">
                        <a:latin typeface="Cambria Math" panose="02040503050406030204" pitchFamily="18" charset="0"/>
                        <a:ea typeface="Cambria Math" panose="02040503050406030204" pitchFamily="18" charset="0"/>
                      </a:rPr>
                      <m:t>𝜈</m:t>
                    </m:r>
                  </m:oMath>
                </a14:m>
                <a:r>
                  <a:rPr lang="en-US" sz="2400" dirty="0"/>
                  <a:t> to</a:t>
                </a:r>
                <a14:m>
                  <m:oMath xmlns:m="http://schemas.openxmlformats.org/officeDocument/2006/math">
                    <m:r>
                      <a:rPr lang="en-US" sz="2400" i="1">
                        <a:solidFill>
                          <a:prstClr val="black"/>
                        </a:solidFill>
                        <a:latin typeface="Cambria Math" panose="02040503050406030204" pitchFamily="18" charset="0"/>
                        <a:ea typeface="Cambria Math" panose="02040503050406030204" pitchFamily="18" charset="0"/>
                      </a:rPr>
                      <m:t>𝜈</m:t>
                    </m:r>
                    <m:r>
                      <a:rPr lang="en-US" sz="2400" b="0" i="0" smtClean="0">
                        <a:solidFill>
                          <a:prstClr val="black"/>
                        </a:solidFill>
                        <a:latin typeface="Cambria Math" panose="02040503050406030204" pitchFamily="18" charset="0"/>
                        <a:ea typeface="Cambria Math" panose="02040503050406030204" pitchFamily="18" charset="0"/>
                      </a:rPr>
                      <m:t>+</m:t>
                    </m:r>
                    <m:r>
                      <m:rPr>
                        <m:sty m:val="p"/>
                      </m:rPr>
                      <a:rPr lang="en-US" sz="2400" b="0" i="0" smtClean="0">
                        <a:solidFill>
                          <a:prstClr val="black"/>
                        </a:solidFill>
                        <a:latin typeface="Cambria Math" panose="02040503050406030204" pitchFamily="18" charset="0"/>
                        <a:ea typeface="Cambria Math" panose="02040503050406030204" pitchFamily="18" charset="0"/>
                      </a:rPr>
                      <m:t>d</m:t>
                    </m:r>
                    <m:r>
                      <a:rPr lang="en-US" sz="2400" i="1">
                        <a:solidFill>
                          <a:prstClr val="black"/>
                        </a:solidFill>
                        <a:latin typeface="Cambria Math" panose="02040503050406030204" pitchFamily="18" charset="0"/>
                        <a:ea typeface="Cambria Math" panose="02040503050406030204" pitchFamily="18" charset="0"/>
                      </a:rPr>
                      <m:t>𝜈</m:t>
                    </m:r>
                  </m:oMath>
                </a14:m>
                <a:endParaRPr lang="en-US" sz="2400" dirty="0"/>
              </a:p>
            </p:txBody>
          </p:sp>
        </mc:Choice>
        <mc:Fallback xmlns="">
          <p:sp>
            <p:nvSpPr>
              <p:cNvPr id="4" name="TextBox 3">
                <a:extLst>
                  <a:ext uri="{FF2B5EF4-FFF2-40B4-BE49-F238E27FC236}">
                    <a16:creationId xmlns:a16="http://schemas.microsoft.com/office/drawing/2014/main" xmlns="" xmlns:a14="http://schemas.microsoft.com/office/drawing/2010/main" id="{1D278B1A-3D76-2D59-2B02-F9096447DFDA}"/>
                  </a:ext>
                </a:extLst>
              </p:cNvPr>
              <p:cNvSpPr txBox="1">
                <a:spLocks noRot="1" noChangeAspect="1" noMove="1" noResize="1" noEditPoints="1" noAdjustHandles="1" noChangeArrowheads="1" noChangeShapeType="1" noTextEdit="1"/>
              </p:cNvSpPr>
              <p:nvPr/>
            </p:nvSpPr>
            <p:spPr>
              <a:xfrm>
                <a:off x="849086" y="646331"/>
                <a:ext cx="9911443" cy="461665"/>
              </a:xfrm>
              <a:prstGeom prst="rect">
                <a:avLst/>
              </a:prstGeom>
              <a:blipFill>
                <a:blip r:embed="rId2"/>
                <a:stretch>
                  <a:fillRect l="-923"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959A502-3960-0422-F76A-E30270E24CA9}"/>
                  </a:ext>
                </a:extLst>
              </p:cNvPr>
              <p:cNvSpPr txBox="1"/>
              <p:nvPr/>
            </p:nvSpPr>
            <p:spPr>
              <a:xfrm>
                <a:off x="849086" y="1040668"/>
                <a:ext cx="10420166" cy="1938992"/>
              </a:xfrm>
              <a:prstGeom prst="rect">
                <a:avLst/>
              </a:prstGeom>
              <a:noFill/>
            </p:spPr>
            <p:txBody>
              <a:bodyPr wrap="square">
                <a:spAutoFit/>
              </a:bodyPr>
              <a:lstStyle/>
              <a:p>
                <a:r>
                  <a:rPr lang="en-US" sz="2400" b="0" i="0" dirty="0">
                    <a:solidFill>
                      <a:srgbClr val="000000"/>
                    </a:solidFill>
                    <a:effectLst/>
                    <a:latin typeface="CMR10"/>
                  </a:rPr>
                  <a:t>We are only interested in positive values of </a:t>
                </a:r>
                <a:r>
                  <a:rPr lang="en-US" sz="2400" b="0" i="1" dirty="0">
                    <a:solidFill>
                      <a:srgbClr val="000000"/>
                    </a:solidFill>
                    <a:effectLst/>
                    <a:latin typeface="CMMI10"/>
                  </a:rPr>
                  <a:t>l</a:t>
                </a:r>
                <a:r>
                  <a:rPr lang="en-US" sz="2400" b="0" i="0" dirty="0">
                    <a:solidFill>
                      <a:srgbClr val="000000"/>
                    </a:solidFill>
                    <a:effectLst/>
                    <a:latin typeface="CMR10"/>
                  </a:rPr>
                  <a:t>, </a:t>
                </a:r>
                <a:r>
                  <a:rPr lang="en-US" sz="2400" b="0" i="1" dirty="0">
                    <a:solidFill>
                      <a:srgbClr val="000000"/>
                    </a:solidFill>
                    <a:effectLst/>
                    <a:latin typeface="CMMI10"/>
                  </a:rPr>
                  <a:t>m </a:t>
                </a:r>
                <a:r>
                  <a:rPr lang="en-US" sz="2400" b="0" i="0" dirty="0">
                    <a:solidFill>
                      <a:srgbClr val="000000"/>
                    </a:solidFill>
                    <a:effectLst/>
                    <a:latin typeface="CMR10"/>
                  </a:rPr>
                  <a:t>and </a:t>
                </a:r>
                <a:r>
                  <a:rPr lang="en-US" sz="2400" b="0" i="1" dirty="0">
                    <a:solidFill>
                      <a:srgbClr val="000000"/>
                    </a:solidFill>
                    <a:effectLst/>
                    <a:latin typeface="CMMI10"/>
                  </a:rPr>
                  <a:t>n </a:t>
                </a:r>
                <a:r>
                  <a:rPr lang="en-US" sz="2400" b="0" i="0" dirty="0">
                    <a:solidFill>
                      <a:srgbClr val="000000"/>
                    </a:solidFill>
                    <a:effectLst/>
                    <a:latin typeface="CMR10"/>
                  </a:rPr>
                  <a:t>and so we need only consider one-eighth of the sphere of radius </a:t>
                </a:r>
                <a:r>
                  <a:rPr lang="en-US" sz="2400" b="0" i="1" dirty="0">
                    <a:solidFill>
                      <a:srgbClr val="000000"/>
                    </a:solidFill>
                    <a:effectLst/>
                    <a:latin typeface="CMMI10"/>
                  </a:rPr>
                  <a:t>p</a:t>
                </a:r>
                <a:r>
                  <a:rPr lang="en-US" sz="2400" b="0" i="0" dirty="0">
                    <a:solidFill>
                      <a:srgbClr val="000000"/>
                    </a:solidFill>
                    <a:effectLst/>
                    <a:latin typeface="CMR10"/>
                  </a:rPr>
                  <a:t>. The volume of a spherical shell of radius </a:t>
                </a:r>
                <a:r>
                  <a:rPr lang="en-US" sz="2400" b="0" i="1" dirty="0">
                    <a:solidFill>
                      <a:srgbClr val="000000"/>
                    </a:solidFill>
                    <a:effectLst/>
                    <a:latin typeface="CMMI10"/>
                  </a:rPr>
                  <a:t>p </a:t>
                </a:r>
                <a:r>
                  <a:rPr lang="en-US" sz="2400" b="0" i="0" dirty="0">
                    <a:solidFill>
                      <a:srgbClr val="000000"/>
                    </a:solidFill>
                    <a:effectLst/>
                    <a:latin typeface="CMR10"/>
                  </a:rPr>
                  <a:t>and thickness </a:t>
                </a:r>
                <a14:m>
                  <m:oMath xmlns:m="http://schemas.openxmlformats.org/officeDocument/2006/math">
                    <m:r>
                      <m:rPr>
                        <m:sty m:val="p"/>
                      </m:rPr>
                      <a:rPr lang="en-US" sz="2400" b="0" i="0" smtClean="0">
                        <a:solidFill>
                          <a:srgbClr val="000000"/>
                        </a:solidFill>
                        <a:effectLst/>
                        <a:latin typeface="Cambria Math" panose="02040503050406030204" pitchFamily="18" charset="0"/>
                      </a:rPr>
                      <m:t>d</m:t>
                    </m:r>
                    <m:r>
                      <a:rPr lang="en-US" sz="2400" b="0" i="1" smtClean="0">
                        <a:solidFill>
                          <a:srgbClr val="000000"/>
                        </a:solidFill>
                        <a:effectLst/>
                        <a:latin typeface="Cambria Math" panose="02040503050406030204" pitchFamily="18" charset="0"/>
                      </a:rPr>
                      <m:t>𝑝</m:t>
                    </m:r>
                  </m:oMath>
                </a14:m>
                <a:r>
                  <a:rPr lang="en-US" sz="2400" b="0" i="0" dirty="0">
                    <a:solidFill>
                      <a:srgbClr val="000000"/>
                    </a:solidFill>
                    <a:effectLst/>
                    <a:latin typeface="CMR10"/>
                  </a:rPr>
                  <a:t> is </a:t>
                </a:r>
                <a14:m>
                  <m:oMath xmlns:m="http://schemas.openxmlformats.org/officeDocument/2006/math">
                    <m:r>
                      <a:rPr lang="en-US" sz="2400" b="0" i="1" smtClean="0">
                        <a:solidFill>
                          <a:srgbClr val="000000"/>
                        </a:solidFill>
                        <a:effectLst/>
                        <a:latin typeface="Cambria Math" panose="02040503050406030204" pitchFamily="18" charset="0"/>
                      </a:rPr>
                      <m:t>4</m:t>
                    </m:r>
                    <m:r>
                      <a:rPr lang="en-US" sz="2400" b="0" i="1" smtClean="0">
                        <a:solidFill>
                          <a:srgbClr val="000000"/>
                        </a:solidFill>
                        <a:effectLst/>
                        <a:latin typeface="Cambria Math" panose="02040503050406030204" pitchFamily="18" charset="0"/>
                        <a:ea typeface="Cambria Math" panose="02040503050406030204" pitchFamily="18" charset="0"/>
                      </a:rPr>
                      <m:t>𝜋</m:t>
                    </m:r>
                    <m:sSup>
                      <m:sSupPr>
                        <m:ctrlPr>
                          <a:rPr lang="en-US" sz="2400" b="0" i="1" smtClean="0">
                            <a:solidFill>
                              <a:srgbClr val="000000"/>
                            </a:solidFill>
                            <a:effectLst/>
                            <a:latin typeface="Cambria Math" panose="02040503050406030204" pitchFamily="18" charset="0"/>
                            <a:ea typeface="Cambria Math" panose="02040503050406030204" pitchFamily="18" charset="0"/>
                          </a:rPr>
                        </m:ctrlPr>
                      </m:sSupPr>
                      <m:e>
                        <m:r>
                          <a:rPr lang="en-US" sz="2400" b="0" i="1" smtClean="0">
                            <a:solidFill>
                              <a:srgbClr val="000000"/>
                            </a:solidFill>
                            <a:effectLst/>
                            <a:latin typeface="Cambria Math" panose="02040503050406030204" pitchFamily="18" charset="0"/>
                            <a:ea typeface="Cambria Math" panose="02040503050406030204" pitchFamily="18" charset="0"/>
                          </a:rPr>
                          <m:t>𝑝</m:t>
                        </m:r>
                      </m:e>
                      <m:sup>
                        <m:r>
                          <a:rPr lang="en-US" sz="2400" b="0" i="1" smtClean="0">
                            <a:solidFill>
                              <a:srgbClr val="000000"/>
                            </a:solidFill>
                            <a:effectLst/>
                            <a:latin typeface="Cambria Math" panose="02040503050406030204" pitchFamily="18" charset="0"/>
                            <a:ea typeface="Cambria Math" panose="02040503050406030204" pitchFamily="18" charset="0"/>
                          </a:rPr>
                          <m:t>2</m:t>
                        </m:r>
                      </m:sup>
                    </m:sSup>
                    <m:r>
                      <a:rPr lang="en-US" sz="2400" b="0" i="1" smtClean="0">
                        <a:solidFill>
                          <a:srgbClr val="000000"/>
                        </a:solidFill>
                        <a:effectLst/>
                        <a:latin typeface="Cambria Math" panose="02040503050406030204" pitchFamily="18" charset="0"/>
                        <a:ea typeface="Cambria Math" panose="02040503050406030204" pitchFamily="18" charset="0"/>
                      </a:rPr>
                      <m:t>𝑑𝑝</m:t>
                    </m:r>
                    <m:r>
                      <a:rPr lang="en-US" sz="2400" b="0" i="1" smtClean="0">
                        <a:solidFill>
                          <a:srgbClr val="000000"/>
                        </a:solidFill>
                        <a:effectLst/>
                        <a:latin typeface="Cambria Math" panose="02040503050406030204" pitchFamily="18" charset="0"/>
                        <a:ea typeface="Cambria Math" panose="02040503050406030204" pitchFamily="18" charset="0"/>
                      </a:rPr>
                      <m:t> </m:t>
                    </m:r>
                  </m:oMath>
                </a14:m>
                <a:r>
                  <a:rPr lang="en-US" sz="2400" b="0" i="0" dirty="0">
                    <a:solidFill>
                      <a:srgbClr val="000000"/>
                    </a:solidFill>
                    <a:effectLst/>
                    <a:latin typeface="CMR10"/>
                  </a:rPr>
                  <a:t>and so the number of modes in the octant is</a:t>
                </a:r>
              </a:p>
              <a:p>
                <a:br>
                  <a:rPr lang="en-US" sz="2400" dirty="0"/>
                </a:br>
                <a:endParaRPr lang="en-US" sz="2400" dirty="0"/>
              </a:p>
            </p:txBody>
          </p:sp>
        </mc:Choice>
        <mc:Fallback xmlns="">
          <p:sp>
            <p:nvSpPr>
              <p:cNvPr id="6" name="TextBox 5">
                <a:extLst>
                  <a:ext uri="{FF2B5EF4-FFF2-40B4-BE49-F238E27FC236}">
                    <a16:creationId xmlns:a16="http://schemas.microsoft.com/office/drawing/2014/main" xmlns="" xmlns:a14="http://schemas.microsoft.com/office/drawing/2010/main" id="{0959A502-3960-0422-F76A-E30270E24CA9}"/>
                  </a:ext>
                </a:extLst>
              </p:cNvPr>
              <p:cNvSpPr txBox="1">
                <a:spLocks noRot="1" noChangeAspect="1" noMove="1" noResize="1" noEditPoints="1" noAdjustHandles="1" noChangeArrowheads="1" noChangeShapeType="1" noTextEdit="1"/>
              </p:cNvSpPr>
              <p:nvPr/>
            </p:nvSpPr>
            <p:spPr>
              <a:xfrm>
                <a:off x="849086" y="1040668"/>
                <a:ext cx="10420166" cy="1938992"/>
              </a:xfrm>
              <a:prstGeom prst="rect">
                <a:avLst/>
              </a:prstGeom>
              <a:blipFill>
                <a:blip r:embed="rId3"/>
                <a:stretch>
                  <a:fillRect l="-877" t="-251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3EE7F5E-7823-BA64-07B4-36CD74E5997E}"/>
              </a:ext>
            </a:extLst>
          </p:cNvPr>
          <p:cNvPicPr>
            <a:picLocks noChangeAspect="1"/>
          </p:cNvPicPr>
          <p:nvPr/>
        </p:nvPicPr>
        <p:blipFill>
          <a:blip r:embed="rId4"/>
          <a:stretch>
            <a:fillRect/>
          </a:stretch>
        </p:blipFill>
        <p:spPr>
          <a:xfrm>
            <a:off x="1730452" y="2178866"/>
            <a:ext cx="6334125" cy="2695575"/>
          </a:xfrm>
          <a:prstGeom prst="rect">
            <a:avLst/>
          </a:prstGeom>
        </p:spPr>
      </p:pic>
      <p:pic>
        <p:nvPicPr>
          <p:cNvPr id="10" name="Picture 9">
            <a:extLst>
              <a:ext uri="{FF2B5EF4-FFF2-40B4-BE49-F238E27FC236}">
                <a16:creationId xmlns:a16="http://schemas.microsoft.com/office/drawing/2014/main" id="{99E8C999-3E4B-567B-5BEC-8A75B4EAE950}"/>
              </a:ext>
            </a:extLst>
          </p:cNvPr>
          <p:cNvPicPr>
            <a:picLocks noChangeAspect="1"/>
          </p:cNvPicPr>
          <p:nvPr/>
        </p:nvPicPr>
        <p:blipFill>
          <a:blip r:embed="rId5"/>
          <a:stretch>
            <a:fillRect/>
          </a:stretch>
        </p:blipFill>
        <p:spPr>
          <a:xfrm>
            <a:off x="1926791" y="4848225"/>
            <a:ext cx="7400925" cy="2009775"/>
          </a:xfrm>
          <a:prstGeom prst="rect">
            <a:avLst/>
          </a:prstGeom>
        </p:spPr>
      </p:pic>
    </p:spTree>
    <p:extLst>
      <p:ext uri="{BB962C8B-B14F-4D97-AF65-F5344CB8AC3E}">
        <p14:creationId xmlns:p14="http://schemas.microsoft.com/office/powerpoint/2010/main" val="4158466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C81EF8-FDE9-EF17-0208-3B95AD177C38}"/>
              </a:ext>
            </a:extLst>
          </p:cNvPr>
          <p:cNvSpPr txBox="1"/>
          <p:nvPr/>
        </p:nvSpPr>
        <p:spPr>
          <a:xfrm>
            <a:off x="1358336" y="249142"/>
            <a:ext cx="8691556" cy="830997"/>
          </a:xfrm>
          <a:prstGeom prst="rect">
            <a:avLst/>
          </a:prstGeom>
          <a:noFill/>
        </p:spPr>
        <p:txBody>
          <a:bodyPr wrap="square" rtlCol="0">
            <a:spAutoFit/>
          </a:bodyPr>
          <a:lstStyle/>
          <a:p>
            <a:r>
              <a:rPr lang="en-US" sz="2400" dirty="0"/>
              <a:t>Finally, for electromagnetic waves, we are always allowed two independent modes per state so we must multiply the result by 2. </a:t>
            </a:r>
          </a:p>
        </p:txBody>
      </p:sp>
      <p:grpSp>
        <p:nvGrpSpPr>
          <p:cNvPr id="9" name="Group 8">
            <a:extLst>
              <a:ext uri="{FF2B5EF4-FFF2-40B4-BE49-F238E27FC236}">
                <a16:creationId xmlns:a16="http://schemas.microsoft.com/office/drawing/2014/main" id="{9F2ACBB0-25FE-7B3B-CFA4-5BC88FE6C5A5}"/>
              </a:ext>
            </a:extLst>
          </p:cNvPr>
          <p:cNvGrpSpPr/>
          <p:nvPr/>
        </p:nvGrpSpPr>
        <p:grpSpPr>
          <a:xfrm>
            <a:off x="2356077" y="1178991"/>
            <a:ext cx="6696075" cy="2381250"/>
            <a:chOff x="2356077" y="1178991"/>
            <a:chExt cx="6696075" cy="2381250"/>
          </a:xfrm>
        </p:grpSpPr>
        <p:pic>
          <p:nvPicPr>
            <p:cNvPr id="4" name="Picture 3">
              <a:extLst>
                <a:ext uri="{FF2B5EF4-FFF2-40B4-BE49-F238E27FC236}">
                  <a16:creationId xmlns:a16="http://schemas.microsoft.com/office/drawing/2014/main" id="{EB8F4169-33F2-3693-BE81-0857DEAA4B57}"/>
                </a:ext>
              </a:extLst>
            </p:cNvPr>
            <p:cNvPicPr>
              <a:picLocks noChangeAspect="1"/>
            </p:cNvPicPr>
            <p:nvPr/>
          </p:nvPicPr>
          <p:blipFill>
            <a:blip r:embed="rId2"/>
            <a:stretch>
              <a:fillRect/>
            </a:stretch>
          </p:blipFill>
          <p:spPr>
            <a:xfrm>
              <a:off x="4208200" y="1178991"/>
              <a:ext cx="2476500" cy="971550"/>
            </a:xfrm>
            <a:prstGeom prst="rect">
              <a:avLst/>
            </a:prstGeom>
          </p:spPr>
        </p:pic>
        <p:pic>
          <p:nvPicPr>
            <p:cNvPr id="6" name="Picture 5">
              <a:extLst>
                <a:ext uri="{FF2B5EF4-FFF2-40B4-BE49-F238E27FC236}">
                  <a16:creationId xmlns:a16="http://schemas.microsoft.com/office/drawing/2014/main" id="{4D75E437-E77C-DB5E-4B50-46709F70BDED}"/>
                </a:ext>
              </a:extLst>
            </p:cNvPr>
            <p:cNvPicPr>
              <a:picLocks noChangeAspect="1"/>
            </p:cNvPicPr>
            <p:nvPr/>
          </p:nvPicPr>
          <p:blipFill>
            <a:blip r:embed="rId3"/>
            <a:stretch>
              <a:fillRect/>
            </a:stretch>
          </p:blipFill>
          <p:spPr>
            <a:xfrm>
              <a:off x="2356077" y="2150541"/>
              <a:ext cx="6696075" cy="514350"/>
            </a:xfrm>
            <a:prstGeom prst="rect">
              <a:avLst/>
            </a:prstGeom>
          </p:spPr>
        </p:pic>
        <p:pic>
          <p:nvPicPr>
            <p:cNvPr id="8" name="Picture 7">
              <a:extLst>
                <a:ext uri="{FF2B5EF4-FFF2-40B4-BE49-F238E27FC236}">
                  <a16:creationId xmlns:a16="http://schemas.microsoft.com/office/drawing/2014/main" id="{C788E5C9-8BBC-399D-E63F-B964417FABE2}"/>
                </a:ext>
              </a:extLst>
            </p:cNvPr>
            <p:cNvPicPr>
              <a:picLocks noChangeAspect="1"/>
            </p:cNvPicPr>
            <p:nvPr/>
          </p:nvPicPr>
          <p:blipFill>
            <a:blip r:embed="rId4"/>
            <a:stretch>
              <a:fillRect/>
            </a:stretch>
          </p:blipFill>
          <p:spPr>
            <a:xfrm>
              <a:off x="4580164" y="2664891"/>
              <a:ext cx="2247900" cy="895350"/>
            </a:xfrm>
            <a:prstGeom prst="rect">
              <a:avLst/>
            </a:prstGeom>
          </p:spPr>
        </p:pic>
      </p:grpSp>
    </p:spTree>
    <p:extLst>
      <p:ext uri="{BB962C8B-B14F-4D97-AF65-F5344CB8AC3E}">
        <p14:creationId xmlns:p14="http://schemas.microsoft.com/office/powerpoint/2010/main" val="3690014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9D3134-93DA-70FE-B13F-DC1A5FBE121D}"/>
              </a:ext>
            </a:extLst>
          </p:cNvPr>
          <p:cNvSpPr txBox="1"/>
          <p:nvPr/>
        </p:nvSpPr>
        <p:spPr>
          <a:xfrm>
            <a:off x="2627791" y="0"/>
            <a:ext cx="7075502" cy="1754326"/>
          </a:xfrm>
          <a:prstGeom prst="rect">
            <a:avLst/>
          </a:prstGeom>
          <a:noFill/>
        </p:spPr>
        <p:txBody>
          <a:bodyPr wrap="square">
            <a:spAutoFit/>
          </a:bodyPr>
          <a:lstStyle/>
          <a:p>
            <a:r>
              <a:rPr lang="en-US" sz="3600" b="1" i="0" dirty="0">
                <a:solidFill>
                  <a:srgbClr val="000000"/>
                </a:solidFill>
                <a:effectLst/>
                <a:latin typeface="Times New Roman" panose="02020603050405020304" pitchFamily="18" charset="0"/>
                <a:cs typeface="Times New Roman" panose="02020603050405020304" pitchFamily="18" charset="0"/>
              </a:rPr>
              <a:t>The Average Energy per Mode and</a:t>
            </a:r>
            <a:br>
              <a:rPr lang="en-US" sz="3600" b="1" i="0" dirty="0">
                <a:solidFill>
                  <a:srgbClr val="000000"/>
                </a:solidFill>
                <a:effectLst/>
                <a:latin typeface="Times New Roman" panose="02020603050405020304" pitchFamily="18" charset="0"/>
                <a:cs typeface="Times New Roman" panose="02020603050405020304" pitchFamily="18" charset="0"/>
              </a:rPr>
            </a:br>
            <a:r>
              <a:rPr lang="en-US" sz="3600" b="1" i="0" dirty="0">
                <a:solidFill>
                  <a:srgbClr val="000000"/>
                </a:solidFill>
                <a:effectLst/>
                <a:latin typeface="Times New Roman" panose="02020603050405020304" pitchFamily="18" charset="0"/>
                <a:cs typeface="Times New Roman" panose="02020603050405020304" pitchFamily="18" charset="0"/>
              </a:rPr>
              <a:t>the Ultraviolet Catastrophe</a:t>
            </a:r>
            <a:r>
              <a:rPr lang="en-US" sz="3600" dirty="0">
                <a:latin typeface="Times New Roman" panose="02020603050405020304" pitchFamily="18" charset="0"/>
                <a:cs typeface="Times New Roman" panose="02020603050405020304" pitchFamily="18" charset="0"/>
              </a:rPr>
              <a:t> </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F41D5D8-C824-D277-6D77-F2E40485B0A8}"/>
                  </a:ext>
                </a:extLst>
              </p:cNvPr>
              <p:cNvSpPr txBox="1"/>
              <p:nvPr/>
            </p:nvSpPr>
            <p:spPr>
              <a:xfrm>
                <a:off x="195310" y="1312408"/>
                <a:ext cx="11736278" cy="1572290"/>
              </a:xfrm>
              <a:prstGeom prst="rect">
                <a:avLst/>
              </a:prstGeom>
              <a:noFill/>
            </p:spPr>
            <p:txBody>
              <a:bodyPr wrap="square" rtlCol="0">
                <a:spAutoFit/>
              </a:bodyPr>
              <a:lstStyle/>
              <a:p>
                <a:r>
                  <a:rPr lang="en-US" sz="2400" dirty="0"/>
                  <a:t>In thermodynamic equilibrium at temperature T, the average energy per mode is </a:t>
                </a:r>
                <a14:m>
                  <m:oMath xmlns:m="http://schemas.openxmlformats.org/officeDocument/2006/math">
                    <m:r>
                      <a:rPr lang="en-US" sz="2400" i="1" smtClean="0">
                        <a:latin typeface="Cambria Math" panose="02040503050406030204" pitchFamily="18" charset="0"/>
                        <a:ea typeface="Cambria Math" panose="02040503050406030204" pitchFamily="18" charset="0"/>
                      </a:rPr>
                      <m:t>𝜖</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𝑘𝑇</m:t>
                    </m:r>
                  </m:oMath>
                </a14:m>
                <a:r>
                  <a:rPr lang="en-US" sz="2400" dirty="0"/>
                  <a:t>,</a:t>
                </a:r>
              </a:p>
              <a:p>
                <a:r>
                  <a:rPr lang="en-US" sz="2400" dirty="0"/>
                  <a:t>So the energy density per unit volume in the range of frequency </a:t>
                </a:r>
                <a14:m>
                  <m:oMath xmlns:m="http://schemas.openxmlformats.org/officeDocument/2006/math">
                    <m:r>
                      <a:rPr lang="en-US" sz="2400" i="1" smtClean="0">
                        <a:latin typeface="Cambria Math" panose="02040503050406030204" pitchFamily="18" charset="0"/>
                        <a:ea typeface="Cambria Math" panose="02040503050406030204" pitchFamily="18" charset="0"/>
                      </a:rPr>
                      <m:t>𝜈</m:t>
                    </m:r>
                  </m:oMath>
                </a14:m>
                <a:r>
                  <a:rPr lang="en-US" sz="2400" dirty="0"/>
                  <a:t> and </a:t>
                </a:r>
                <a14:m>
                  <m:oMath xmlns:m="http://schemas.openxmlformats.org/officeDocument/2006/math">
                    <m:r>
                      <a:rPr lang="en-US" sz="240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𝜈</m:t>
                    </m:r>
                  </m:oMath>
                </a14:m>
                <a:r>
                  <a:rPr lang="en-US" sz="2400" dirty="0"/>
                  <a:t> is </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𝜈</m:t>
                          </m:r>
                        </m:e>
                      </m:d>
                      <m:r>
                        <a:rPr lang="en-US" sz="2400" b="0" i="1" smtClean="0">
                          <a:latin typeface="Cambria Math" panose="02040503050406030204" pitchFamily="18" charset="0"/>
                          <a:ea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8</m:t>
                          </m:r>
                          <m:r>
                            <a:rPr lang="en-US" sz="2400" b="0" i="1" smtClean="0">
                              <a:latin typeface="Cambria Math" panose="02040503050406030204" pitchFamily="18" charset="0"/>
                              <a:ea typeface="Cambria Math" panose="02040503050406030204" pitchFamily="18" charset="0"/>
                            </a:rPr>
                            <m:t>𝜋</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𝜈</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𝑘𝑇</m:t>
                          </m:r>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𝑐</m:t>
                              </m:r>
                            </m:e>
                            <m:sup>
                              <m:r>
                                <a:rPr lang="en-US" sz="2400" b="0" i="1" smtClean="0">
                                  <a:latin typeface="Cambria Math" panose="02040503050406030204" pitchFamily="18" charset="0"/>
                                  <a:ea typeface="Cambria Math" panose="02040503050406030204" pitchFamily="18" charset="0"/>
                                </a:rPr>
                                <m:t>3</m:t>
                              </m:r>
                            </m:sup>
                          </m:sSup>
                        </m:den>
                      </m:f>
                      <m:r>
                        <a:rPr lang="en-US" sz="2400" b="0" i="1" smtClean="0">
                          <a:latin typeface="Cambria Math" panose="02040503050406030204" pitchFamily="18" charset="0"/>
                          <a:ea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𝜈</m:t>
                      </m:r>
                    </m:oMath>
                  </m:oMathPara>
                </a14:m>
                <a:endParaRPr lang="en-US" sz="2400" dirty="0"/>
              </a:p>
            </p:txBody>
          </p:sp>
        </mc:Choice>
        <mc:Fallback xmlns="">
          <p:sp>
            <p:nvSpPr>
              <p:cNvPr id="4" name="TextBox 3">
                <a:extLst>
                  <a:ext uri="{FF2B5EF4-FFF2-40B4-BE49-F238E27FC236}">
                    <a16:creationId xmlns:a16="http://schemas.microsoft.com/office/drawing/2014/main" xmlns="" xmlns:a14="http://schemas.microsoft.com/office/drawing/2010/main" id="{6F41D5D8-C824-D277-6D77-F2E40485B0A8}"/>
                  </a:ext>
                </a:extLst>
              </p:cNvPr>
              <p:cNvSpPr txBox="1">
                <a:spLocks noRot="1" noChangeAspect="1" noMove="1" noResize="1" noEditPoints="1" noAdjustHandles="1" noChangeArrowheads="1" noChangeShapeType="1" noTextEdit="1"/>
              </p:cNvSpPr>
              <p:nvPr/>
            </p:nvSpPr>
            <p:spPr>
              <a:xfrm>
                <a:off x="195310" y="1312408"/>
                <a:ext cx="11736278" cy="1572290"/>
              </a:xfrm>
              <a:prstGeom prst="rect">
                <a:avLst/>
              </a:prstGeom>
              <a:blipFill>
                <a:blip r:embed="rId2"/>
                <a:stretch>
                  <a:fillRect l="-779" t="-3101"/>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3F78CFB1-71F5-F32A-0FBF-C00A37E23492}"/>
              </a:ext>
            </a:extLst>
          </p:cNvPr>
          <p:cNvPicPr>
            <a:picLocks noChangeAspect="1"/>
          </p:cNvPicPr>
          <p:nvPr/>
        </p:nvPicPr>
        <p:blipFill>
          <a:blip r:embed="rId3"/>
          <a:stretch>
            <a:fillRect/>
          </a:stretch>
        </p:blipFill>
        <p:spPr>
          <a:xfrm>
            <a:off x="2815885" y="2986601"/>
            <a:ext cx="6134100" cy="1876425"/>
          </a:xfrm>
          <a:prstGeom prst="rect">
            <a:avLst/>
          </a:prstGeom>
        </p:spPr>
      </p:pic>
      <p:sp>
        <p:nvSpPr>
          <p:cNvPr id="7" name="TextBox 6">
            <a:extLst>
              <a:ext uri="{FF2B5EF4-FFF2-40B4-BE49-F238E27FC236}">
                <a16:creationId xmlns:a16="http://schemas.microsoft.com/office/drawing/2014/main" id="{B1066294-A709-7BE7-4177-E01B12C8729E}"/>
              </a:ext>
            </a:extLst>
          </p:cNvPr>
          <p:cNvSpPr txBox="1"/>
          <p:nvPr/>
        </p:nvSpPr>
        <p:spPr>
          <a:xfrm>
            <a:off x="985421" y="4964929"/>
            <a:ext cx="9481352" cy="830997"/>
          </a:xfrm>
          <a:prstGeom prst="rect">
            <a:avLst/>
          </a:prstGeom>
          <a:noFill/>
        </p:spPr>
        <p:txBody>
          <a:bodyPr wrap="square" rtlCol="0">
            <a:spAutoFit/>
          </a:bodyPr>
          <a:lstStyle/>
          <a:p>
            <a:r>
              <a:rPr lang="en-US" sz="2400" dirty="0"/>
              <a:t>This classical law failed, because energy diverge at high frequency, that is </a:t>
            </a:r>
          </a:p>
          <a:p>
            <a:endParaRPr lang="en-US" sz="2400" dirty="0"/>
          </a:p>
        </p:txBody>
      </p:sp>
      <p:pic>
        <p:nvPicPr>
          <p:cNvPr id="9" name="Picture 8">
            <a:extLst>
              <a:ext uri="{FF2B5EF4-FFF2-40B4-BE49-F238E27FC236}">
                <a16:creationId xmlns:a16="http://schemas.microsoft.com/office/drawing/2014/main" id="{68D72F23-A5A4-85E8-9C5C-B390F08C575A}"/>
              </a:ext>
            </a:extLst>
          </p:cNvPr>
          <p:cNvPicPr>
            <a:picLocks noChangeAspect="1"/>
          </p:cNvPicPr>
          <p:nvPr/>
        </p:nvPicPr>
        <p:blipFill>
          <a:blip r:embed="rId4"/>
          <a:stretch>
            <a:fillRect/>
          </a:stretch>
        </p:blipFill>
        <p:spPr>
          <a:xfrm>
            <a:off x="2944428" y="5380427"/>
            <a:ext cx="5181600" cy="1076325"/>
          </a:xfrm>
          <a:prstGeom prst="rect">
            <a:avLst/>
          </a:prstGeom>
        </p:spPr>
      </p:pic>
    </p:spTree>
    <p:extLst>
      <p:ext uri="{BB962C8B-B14F-4D97-AF65-F5344CB8AC3E}">
        <p14:creationId xmlns:p14="http://schemas.microsoft.com/office/powerpoint/2010/main" val="388170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F4D5FF-79D8-FD20-8CC2-764F412A8598}"/>
              </a:ext>
            </a:extLst>
          </p:cNvPr>
          <p:cNvPicPr>
            <a:picLocks noChangeAspect="1"/>
          </p:cNvPicPr>
          <p:nvPr/>
        </p:nvPicPr>
        <p:blipFill>
          <a:blip r:embed="rId2"/>
          <a:stretch>
            <a:fillRect/>
          </a:stretch>
        </p:blipFill>
        <p:spPr>
          <a:xfrm>
            <a:off x="787204" y="1854093"/>
            <a:ext cx="6172200" cy="3228975"/>
          </a:xfrm>
          <a:prstGeom prst="rect">
            <a:avLst/>
          </a:prstGeom>
        </p:spPr>
      </p:pic>
      <p:sp>
        <p:nvSpPr>
          <p:cNvPr id="4" name="TextBox 3">
            <a:extLst>
              <a:ext uri="{FF2B5EF4-FFF2-40B4-BE49-F238E27FC236}">
                <a16:creationId xmlns:a16="http://schemas.microsoft.com/office/drawing/2014/main" id="{201D7E88-D139-9140-97C1-DF8D2A8E0DA3}"/>
              </a:ext>
            </a:extLst>
          </p:cNvPr>
          <p:cNvSpPr txBox="1"/>
          <p:nvPr/>
        </p:nvSpPr>
        <p:spPr>
          <a:xfrm>
            <a:off x="1763486" y="205273"/>
            <a:ext cx="8948058" cy="1569660"/>
          </a:xfrm>
          <a:prstGeom prst="rect">
            <a:avLst/>
          </a:prstGeom>
          <a:noFill/>
        </p:spPr>
        <p:txBody>
          <a:bodyPr wrap="square" rtlCol="0">
            <a:spAutoFit/>
          </a:bodyPr>
          <a:lstStyle/>
          <a:p>
            <a:r>
              <a:rPr lang="en-US" sz="2400" dirty="0"/>
              <a:t>According to this law the energy of a black body is infinite which is impossible!!! Although this law can not explain the radiation curve of a black body at high temperature, it can perfectly explain the black body radiation at low temperature.</a:t>
            </a:r>
          </a:p>
        </p:txBody>
      </p:sp>
      <p:sp>
        <p:nvSpPr>
          <p:cNvPr id="6" name="TextBox 5">
            <a:extLst>
              <a:ext uri="{FF2B5EF4-FFF2-40B4-BE49-F238E27FC236}">
                <a16:creationId xmlns:a16="http://schemas.microsoft.com/office/drawing/2014/main" id="{577235D1-4634-A4DF-9D2E-3BEDEADD08E3}"/>
              </a:ext>
            </a:extLst>
          </p:cNvPr>
          <p:cNvSpPr txBox="1"/>
          <p:nvPr/>
        </p:nvSpPr>
        <p:spPr>
          <a:xfrm>
            <a:off x="1491448" y="5821730"/>
            <a:ext cx="10111666" cy="830997"/>
          </a:xfrm>
          <a:prstGeom prst="rect">
            <a:avLst/>
          </a:prstGeom>
          <a:noFill/>
        </p:spPr>
        <p:txBody>
          <a:bodyPr wrap="square">
            <a:spAutoFit/>
          </a:bodyPr>
          <a:lstStyle/>
          <a:p>
            <a:r>
              <a:rPr lang="en-US" sz="2400" b="0" i="0" dirty="0">
                <a:solidFill>
                  <a:srgbClr val="FF0000"/>
                </a:solidFill>
                <a:effectLst/>
                <a:latin typeface="Times New Roman" panose="02020603050405020304" pitchFamily="18" charset="0"/>
                <a:cs typeface="Times New Roman" panose="02020603050405020304" pitchFamily="18" charset="0"/>
              </a:rPr>
              <a:t>This result was derived by Lord Rayleigh in 1900. This was one of the key problems of classical physics!! what has gone wrong?</a:t>
            </a:r>
            <a:r>
              <a:rPr lang="en-US" sz="2400" dirty="0">
                <a:solidFill>
                  <a:srgbClr val="FF0000"/>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8CC61FC4-C7B8-8472-2E2A-DE1624481109}"/>
              </a:ext>
            </a:extLst>
          </p:cNvPr>
          <p:cNvPicPr>
            <a:picLocks noChangeAspect="1"/>
          </p:cNvPicPr>
          <p:nvPr/>
        </p:nvPicPr>
        <p:blipFill>
          <a:blip r:embed="rId3"/>
          <a:stretch>
            <a:fillRect/>
          </a:stretch>
        </p:blipFill>
        <p:spPr>
          <a:xfrm>
            <a:off x="7325607" y="1774932"/>
            <a:ext cx="4753998" cy="3308135"/>
          </a:xfrm>
          <a:prstGeom prst="rect">
            <a:avLst/>
          </a:prstGeom>
        </p:spPr>
      </p:pic>
    </p:spTree>
    <p:extLst>
      <p:ext uri="{BB962C8B-B14F-4D97-AF65-F5344CB8AC3E}">
        <p14:creationId xmlns:p14="http://schemas.microsoft.com/office/powerpoint/2010/main" val="3768594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FF45088-F987-588B-2B6C-9A1FF6AF77D2}"/>
                  </a:ext>
                </a:extLst>
              </p:cNvPr>
              <p:cNvSpPr txBox="1"/>
              <p:nvPr/>
            </p:nvSpPr>
            <p:spPr>
              <a:xfrm>
                <a:off x="435007" y="568570"/>
                <a:ext cx="11461071" cy="1200329"/>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The light waves have particle properties and that is the light quanta, or </a:t>
                </a:r>
                <a:r>
                  <a:rPr lang="en-US" sz="2400" b="0" i="1" dirty="0">
                    <a:solidFill>
                      <a:srgbClr val="000000"/>
                    </a:solidFill>
                    <a:effectLst/>
                    <a:latin typeface="Times New Roman" panose="02020603050405020304" pitchFamily="18" charset="0"/>
                    <a:cs typeface="Times New Roman" panose="02020603050405020304" pitchFamily="18" charset="0"/>
                  </a:rPr>
                  <a:t>photons</a:t>
                </a:r>
                <a:r>
                  <a:rPr lang="en-US" sz="2400" b="0" i="0" dirty="0">
                    <a:solidFill>
                      <a:srgbClr val="000000"/>
                    </a:solidFill>
                    <a:effectLst/>
                    <a:latin typeface="Times New Roman" panose="02020603050405020304" pitchFamily="18" charset="0"/>
                    <a:cs typeface="Times New Roman" panose="02020603050405020304" pitchFamily="18" charset="0"/>
                  </a:rPr>
                  <a:t>, of a particular frequency </a:t>
                </a:r>
                <a14:m>
                  <m:oMath xmlns:m="http://schemas.openxmlformats.org/officeDocument/2006/math">
                    <m:r>
                      <a:rPr lang="en-US" sz="2400" b="0" i="1" smtClean="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t>𝜈</m:t>
                    </m:r>
                  </m:oMath>
                </a14:m>
                <a:r>
                  <a:rPr lang="en-US" sz="2400" dirty="0">
                    <a:latin typeface="Times New Roman" panose="02020603050405020304" pitchFamily="18" charset="0"/>
                    <a:cs typeface="Times New Roman" panose="02020603050405020304" pitchFamily="18" charset="0"/>
                  </a:rPr>
                  <a:t>, and each photon has energy </a:t>
                </a:r>
                <a14:m>
                  <m:oMath xmlns:m="http://schemas.openxmlformats.org/officeDocument/2006/math">
                    <m:r>
                      <a:rPr lang="en-US" sz="2400" i="1" smtClean="0">
                        <a:latin typeface="Cambria Math" panose="02040503050406030204" pitchFamily="18" charset="0"/>
                        <a:ea typeface="Cambria Math" panose="02040503050406030204" pitchFamily="18" charset="0"/>
                        <a:cs typeface="Times New Roman" panose="02020603050405020304" pitchFamily="18" charset="0"/>
                      </a:rPr>
                      <m:t>𝜖</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h</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𝜈</m:t>
                    </m:r>
                  </m:oMath>
                </a14:m>
                <a:r>
                  <a:rPr lang="en-US" sz="2400" dirty="0">
                    <a:latin typeface="Times New Roman" panose="02020603050405020304" pitchFamily="18" charset="0"/>
                    <a:cs typeface="Times New Roman" panose="02020603050405020304" pitchFamily="18" charset="0"/>
                  </a:rPr>
                  <a:t> where h is the Planck’s constant.</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xmlns="" xmlns:a14="http://schemas.microsoft.com/office/drawing/2010/main" id="{1FF45088-F987-588B-2B6C-9A1FF6AF77D2}"/>
                  </a:ext>
                </a:extLst>
              </p:cNvPr>
              <p:cNvSpPr txBox="1">
                <a:spLocks noRot="1" noChangeAspect="1" noMove="1" noResize="1" noEditPoints="1" noAdjustHandles="1" noChangeArrowheads="1" noChangeShapeType="1" noTextEdit="1"/>
              </p:cNvSpPr>
              <p:nvPr/>
            </p:nvSpPr>
            <p:spPr>
              <a:xfrm>
                <a:off x="435007" y="568570"/>
                <a:ext cx="11461071" cy="1200329"/>
              </a:xfrm>
              <a:prstGeom prst="rect">
                <a:avLst/>
              </a:prstGeom>
              <a:blipFill>
                <a:blip r:embed="rId2"/>
                <a:stretch>
                  <a:fillRect l="-798" t="-4061" r="-58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8041A7B-7C04-C71F-9673-6A3A01DC3DA5}"/>
              </a:ext>
            </a:extLst>
          </p:cNvPr>
          <p:cNvPicPr>
            <a:picLocks noChangeAspect="1"/>
          </p:cNvPicPr>
          <p:nvPr/>
        </p:nvPicPr>
        <p:blipFill>
          <a:blip r:embed="rId3"/>
          <a:stretch>
            <a:fillRect/>
          </a:stretch>
        </p:blipFill>
        <p:spPr>
          <a:xfrm>
            <a:off x="1748900" y="1373773"/>
            <a:ext cx="5480388" cy="2186843"/>
          </a:xfrm>
          <a:prstGeom prst="rect">
            <a:avLst/>
          </a:prstGeom>
        </p:spPr>
      </p:pic>
      <p:pic>
        <p:nvPicPr>
          <p:cNvPr id="7" name="Picture 6">
            <a:extLst>
              <a:ext uri="{FF2B5EF4-FFF2-40B4-BE49-F238E27FC236}">
                <a16:creationId xmlns:a16="http://schemas.microsoft.com/office/drawing/2014/main" id="{6822729C-165D-97A8-8B49-B9FEC07B0AB9}"/>
              </a:ext>
            </a:extLst>
          </p:cNvPr>
          <p:cNvPicPr>
            <a:picLocks noChangeAspect="1"/>
          </p:cNvPicPr>
          <p:nvPr/>
        </p:nvPicPr>
        <p:blipFill>
          <a:blip r:embed="rId4"/>
          <a:stretch>
            <a:fillRect/>
          </a:stretch>
        </p:blipFill>
        <p:spPr>
          <a:xfrm>
            <a:off x="1693646" y="3869854"/>
            <a:ext cx="6134100" cy="2714625"/>
          </a:xfrm>
          <a:prstGeom prst="rect">
            <a:avLst/>
          </a:prstGeom>
        </p:spPr>
      </p:pic>
      <p:sp>
        <p:nvSpPr>
          <p:cNvPr id="8" name="TextBox 7">
            <a:extLst>
              <a:ext uri="{FF2B5EF4-FFF2-40B4-BE49-F238E27FC236}">
                <a16:creationId xmlns:a16="http://schemas.microsoft.com/office/drawing/2014/main" id="{D8556CC0-41ED-F496-191F-C334FDB2ED17}"/>
              </a:ext>
            </a:extLst>
          </p:cNvPr>
          <p:cNvSpPr txBox="1"/>
          <p:nvPr/>
        </p:nvSpPr>
        <p:spPr>
          <a:xfrm>
            <a:off x="2805829" y="-77761"/>
            <a:ext cx="6580342" cy="646331"/>
          </a:xfrm>
          <a:prstGeom prst="rect">
            <a:avLst/>
          </a:prstGeom>
          <a:noFill/>
        </p:spPr>
        <p:txBody>
          <a:bodyPr wrap="square" rtlCol="0">
            <a:spAutoFit/>
          </a:bodyPr>
          <a:lstStyle/>
          <a:p>
            <a:r>
              <a:rPr lang="en-US" sz="3600" dirty="0"/>
              <a:t>Planck Law of black body radiation</a:t>
            </a:r>
          </a:p>
        </p:txBody>
      </p:sp>
      <p:pic>
        <p:nvPicPr>
          <p:cNvPr id="10" name="Picture 9">
            <a:extLst>
              <a:ext uri="{FF2B5EF4-FFF2-40B4-BE49-F238E27FC236}">
                <a16:creationId xmlns:a16="http://schemas.microsoft.com/office/drawing/2014/main" id="{D904CE77-11CC-3BFE-A5EF-56E9FE392CD4}"/>
              </a:ext>
            </a:extLst>
          </p:cNvPr>
          <p:cNvPicPr>
            <a:picLocks noChangeAspect="1"/>
          </p:cNvPicPr>
          <p:nvPr/>
        </p:nvPicPr>
        <p:blipFill>
          <a:blip r:embed="rId5"/>
          <a:stretch>
            <a:fillRect/>
          </a:stretch>
        </p:blipFill>
        <p:spPr>
          <a:xfrm>
            <a:off x="8182853" y="1648569"/>
            <a:ext cx="3501316" cy="2341616"/>
          </a:xfrm>
          <a:prstGeom prst="rect">
            <a:avLst/>
          </a:prstGeom>
        </p:spPr>
      </p:pic>
    </p:spTree>
    <p:extLst>
      <p:ext uri="{BB962C8B-B14F-4D97-AF65-F5344CB8AC3E}">
        <p14:creationId xmlns:p14="http://schemas.microsoft.com/office/powerpoint/2010/main" val="3414059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EFBD91-305A-A71F-23CB-04E369536EBB}"/>
              </a:ext>
            </a:extLst>
          </p:cNvPr>
          <p:cNvSpPr txBox="1"/>
          <p:nvPr/>
        </p:nvSpPr>
        <p:spPr>
          <a:xfrm>
            <a:off x="3086470" y="-71021"/>
            <a:ext cx="6019060" cy="646331"/>
          </a:xfrm>
          <a:prstGeom prst="rect">
            <a:avLst/>
          </a:prstGeom>
          <a:noFill/>
        </p:spPr>
        <p:txBody>
          <a:bodyPr wrap="square" rtlCol="0">
            <a:spAutoFit/>
          </a:bodyPr>
          <a:lstStyle/>
          <a:p>
            <a:r>
              <a:rPr lang="en-US" sz="3600" dirty="0"/>
              <a:t>Classical Limit in low frequency</a:t>
            </a:r>
          </a:p>
        </p:txBody>
      </p:sp>
      <p:grpSp>
        <p:nvGrpSpPr>
          <p:cNvPr id="11" name="Group 10">
            <a:extLst>
              <a:ext uri="{FF2B5EF4-FFF2-40B4-BE49-F238E27FC236}">
                <a16:creationId xmlns:a16="http://schemas.microsoft.com/office/drawing/2014/main" id="{1561158C-BD84-EA27-CF9B-4AA6831FE362}"/>
              </a:ext>
            </a:extLst>
          </p:cNvPr>
          <p:cNvGrpSpPr/>
          <p:nvPr/>
        </p:nvGrpSpPr>
        <p:grpSpPr>
          <a:xfrm>
            <a:off x="2648412" y="575310"/>
            <a:ext cx="7143750" cy="5052198"/>
            <a:chOff x="2648412" y="575310"/>
            <a:chExt cx="7143750" cy="5052198"/>
          </a:xfrm>
        </p:grpSpPr>
        <p:pic>
          <p:nvPicPr>
            <p:cNvPr id="4" name="Picture 3">
              <a:extLst>
                <a:ext uri="{FF2B5EF4-FFF2-40B4-BE49-F238E27FC236}">
                  <a16:creationId xmlns:a16="http://schemas.microsoft.com/office/drawing/2014/main" id="{1C841BA1-6719-569F-0565-A4361F641046}"/>
                </a:ext>
              </a:extLst>
            </p:cNvPr>
            <p:cNvPicPr>
              <a:picLocks noChangeAspect="1"/>
            </p:cNvPicPr>
            <p:nvPr/>
          </p:nvPicPr>
          <p:blipFill>
            <a:blip r:embed="rId2"/>
            <a:stretch>
              <a:fillRect/>
            </a:stretch>
          </p:blipFill>
          <p:spPr>
            <a:xfrm>
              <a:off x="2648412" y="575310"/>
              <a:ext cx="7143750" cy="4324350"/>
            </a:xfrm>
            <a:prstGeom prst="rect">
              <a:avLst/>
            </a:prstGeom>
          </p:spPr>
        </p:pic>
        <p:pic>
          <p:nvPicPr>
            <p:cNvPr id="7" name="Picture 6">
              <a:extLst>
                <a:ext uri="{FF2B5EF4-FFF2-40B4-BE49-F238E27FC236}">
                  <a16:creationId xmlns:a16="http://schemas.microsoft.com/office/drawing/2014/main" id="{B22A8EB0-EBE7-DC74-8028-FFB672A0614C}"/>
                </a:ext>
              </a:extLst>
            </p:cNvPr>
            <p:cNvPicPr>
              <a:picLocks noChangeAspect="1"/>
            </p:cNvPicPr>
            <p:nvPr/>
          </p:nvPicPr>
          <p:blipFill>
            <a:blip r:embed="rId3"/>
            <a:stretch>
              <a:fillRect/>
            </a:stretch>
          </p:blipFill>
          <p:spPr>
            <a:xfrm>
              <a:off x="3699769" y="4694058"/>
              <a:ext cx="4419600" cy="933450"/>
            </a:xfrm>
            <a:prstGeom prst="rect">
              <a:avLst/>
            </a:prstGeom>
          </p:spPr>
        </p:pic>
      </p:grpSp>
      <p:sp>
        <p:nvSpPr>
          <p:cNvPr id="10" name="TextBox 9">
            <a:extLst>
              <a:ext uri="{FF2B5EF4-FFF2-40B4-BE49-F238E27FC236}">
                <a16:creationId xmlns:a16="http://schemas.microsoft.com/office/drawing/2014/main" id="{32489DFC-8C88-2944-20E1-22E3733377B8}"/>
              </a:ext>
            </a:extLst>
          </p:cNvPr>
          <p:cNvSpPr txBox="1"/>
          <p:nvPr/>
        </p:nvSpPr>
        <p:spPr>
          <a:xfrm>
            <a:off x="1047566" y="6027003"/>
            <a:ext cx="10555549" cy="830997"/>
          </a:xfrm>
          <a:prstGeom prst="rect">
            <a:avLst/>
          </a:prstGeom>
          <a:noFill/>
        </p:spPr>
        <p:txBody>
          <a:bodyPr wrap="square" rtlCol="0">
            <a:spAutoFit/>
          </a:bodyPr>
          <a:lstStyle/>
          <a:p>
            <a:r>
              <a:rPr lang="en-US" sz="2400" dirty="0">
                <a:solidFill>
                  <a:srgbClr val="FF0000"/>
                </a:solidFill>
              </a:rPr>
              <a:t>Thus, if we take the classical limit, we recover exactly the expression for the average energy of the classical oscillator as was used in Rayleigh-Jean’s law.</a:t>
            </a:r>
          </a:p>
        </p:txBody>
      </p:sp>
    </p:spTree>
    <p:extLst>
      <p:ext uri="{BB962C8B-B14F-4D97-AF65-F5344CB8AC3E}">
        <p14:creationId xmlns:p14="http://schemas.microsoft.com/office/powerpoint/2010/main" val="3326626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4E5CE0-0765-FE3A-24DE-095ACF627341}"/>
              </a:ext>
            </a:extLst>
          </p:cNvPr>
          <p:cNvSpPr txBox="1"/>
          <p:nvPr/>
        </p:nvSpPr>
        <p:spPr>
          <a:xfrm>
            <a:off x="3322466" y="0"/>
            <a:ext cx="5688367" cy="646331"/>
          </a:xfrm>
          <a:prstGeom prst="rect">
            <a:avLst/>
          </a:prstGeom>
          <a:noFill/>
        </p:spPr>
        <p:txBody>
          <a:bodyPr wrap="square">
            <a:spAutoFit/>
          </a:bodyPr>
          <a:lstStyle/>
          <a:p>
            <a:r>
              <a:rPr lang="en-US" sz="3600" b="1" i="0" dirty="0">
                <a:solidFill>
                  <a:srgbClr val="000000"/>
                </a:solidFill>
                <a:effectLst/>
                <a:latin typeface="Times New Roman" panose="02020603050405020304" pitchFamily="18" charset="0"/>
                <a:cs typeface="Times New Roman" panose="02020603050405020304" pitchFamily="18" charset="0"/>
              </a:rPr>
              <a:t>The Stefan-Boltzmann Law</a:t>
            </a:r>
            <a:endParaRPr lang="en-US" sz="3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B4F5093-B865-7C07-45F0-B553EC2AC039}"/>
              </a:ext>
            </a:extLst>
          </p:cNvPr>
          <p:cNvSpPr txBox="1"/>
          <p:nvPr/>
        </p:nvSpPr>
        <p:spPr>
          <a:xfrm>
            <a:off x="671371" y="626837"/>
            <a:ext cx="10990555" cy="1200329"/>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rPr>
              <a:t>Let us calculate the total energy of the emitted </a:t>
            </a:r>
            <a:r>
              <a:rPr lang="en-US" sz="2400" dirty="0">
                <a:solidFill>
                  <a:srgbClr val="000000"/>
                </a:solidFill>
                <a:latin typeface="Times New Roman" panose="02020603050405020304" pitchFamily="18" charset="0"/>
                <a:cs typeface="Times New Roman" panose="02020603050405020304" pitchFamily="18" charset="0"/>
              </a:rPr>
              <a:t>radiation </a:t>
            </a:r>
            <a:r>
              <a:rPr lang="en-US" sz="2400" b="0" i="0" dirty="0">
                <a:solidFill>
                  <a:srgbClr val="000000"/>
                </a:solidFill>
                <a:effectLst/>
                <a:latin typeface="Times New Roman" panose="02020603050405020304" pitchFamily="18" charset="0"/>
                <a:cs typeface="Times New Roman" panose="02020603050405020304" pitchFamily="18" charset="0"/>
              </a:rPr>
              <a:t>by integrating the Planck spectrum over all wavelengths. This will give the dependence of the total energy density of radiation </a:t>
            </a:r>
            <a:r>
              <a:rPr lang="en-US" sz="2400" b="0" i="1" dirty="0">
                <a:solidFill>
                  <a:srgbClr val="000000"/>
                </a:solidFill>
                <a:effectLst/>
                <a:latin typeface="Times New Roman" panose="02020603050405020304" pitchFamily="18" charset="0"/>
                <a:cs typeface="Times New Roman" panose="02020603050405020304" pitchFamily="18" charset="0"/>
              </a:rPr>
              <a:t>u </a:t>
            </a:r>
            <a:r>
              <a:rPr lang="en-US" sz="2400" b="0" i="0" dirty="0">
                <a:solidFill>
                  <a:srgbClr val="000000"/>
                </a:solidFill>
                <a:effectLst/>
                <a:latin typeface="Times New Roman" panose="02020603050405020304" pitchFamily="18" charset="0"/>
                <a:cs typeface="Times New Roman" panose="02020603050405020304" pitchFamily="18" charset="0"/>
              </a:rPr>
              <a:t>upon temperature.</a:t>
            </a:r>
            <a:r>
              <a:rPr lang="en-US" sz="2400" dirty="0">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E9881E58-679E-53E6-3E25-A4EA1576A6B8}"/>
              </a:ext>
            </a:extLst>
          </p:cNvPr>
          <p:cNvPicPr>
            <a:picLocks noChangeAspect="1"/>
          </p:cNvPicPr>
          <p:nvPr/>
        </p:nvPicPr>
        <p:blipFill>
          <a:blip r:embed="rId2"/>
          <a:stretch>
            <a:fillRect/>
          </a:stretch>
        </p:blipFill>
        <p:spPr>
          <a:xfrm>
            <a:off x="2111451" y="2082794"/>
            <a:ext cx="7400925" cy="4086225"/>
          </a:xfrm>
          <a:prstGeom prst="rect">
            <a:avLst/>
          </a:prstGeom>
        </p:spPr>
      </p:pic>
    </p:spTree>
    <p:extLst>
      <p:ext uri="{BB962C8B-B14F-4D97-AF65-F5344CB8AC3E}">
        <p14:creationId xmlns:p14="http://schemas.microsoft.com/office/powerpoint/2010/main" val="644631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2BD2D4-D4E7-CA94-5EF2-EE2FBF8A240B}"/>
              </a:ext>
            </a:extLst>
          </p:cNvPr>
          <p:cNvPicPr>
            <a:picLocks noChangeAspect="1"/>
          </p:cNvPicPr>
          <p:nvPr/>
        </p:nvPicPr>
        <p:blipFill>
          <a:blip r:embed="rId2"/>
          <a:stretch>
            <a:fillRect/>
          </a:stretch>
        </p:blipFill>
        <p:spPr>
          <a:xfrm>
            <a:off x="1984991" y="608675"/>
            <a:ext cx="7334250" cy="5143500"/>
          </a:xfrm>
          <a:prstGeom prst="rect">
            <a:avLst/>
          </a:prstGeom>
        </p:spPr>
      </p:pic>
      <p:graphicFrame>
        <p:nvGraphicFramePr>
          <p:cNvPr id="4" name="Object 3"/>
          <p:cNvGraphicFramePr>
            <a:graphicFrameLocks noChangeAspect="1"/>
          </p:cNvGraphicFramePr>
          <p:nvPr/>
        </p:nvGraphicFramePr>
        <p:xfrm>
          <a:off x="3482077" y="5836100"/>
          <a:ext cx="3496693" cy="447576"/>
        </p:xfrm>
        <a:graphic>
          <a:graphicData uri="http://schemas.openxmlformats.org/presentationml/2006/ole">
            <mc:AlternateContent xmlns:mc="http://schemas.openxmlformats.org/markup-compatibility/2006">
              <mc:Choice xmlns:v="urn:schemas-microsoft-com:vml" Requires="v">
                <p:oleObj spid="_x0000_s1026" name="Equation" r:id="rId3" imgW="1587240" imgH="203040" progId="Equation.3">
                  <p:embed/>
                </p:oleObj>
              </mc:Choice>
              <mc:Fallback>
                <p:oleObj name="Equation" r:id="rId3" imgW="1587240" imgH="203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077" y="5836100"/>
                        <a:ext cx="3496693" cy="4475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06857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F31EB4-7FAA-B725-42BD-08B2B0100081}"/>
              </a:ext>
            </a:extLst>
          </p:cNvPr>
          <p:cNvSpPr txBox="1"/>
          <p:nvPr/>
        </p:nvSpPr>
        <p:spPr>
          <a:xfrm>
            <a:off x="4847208" y="0"/>
            <a:ext cx="5051394" cy="646331"/>
          </a:xfrm>
          <a:prstGeom prst="rect">
            <a:avLst/>
          </a:prstGeom>
          <a:noFill/>
        </p:spPr>
        <p:txBody>
          <a:bodyPr wrap="square" rtlCol="0">
            <a:spAutoFit/>
          </a:bodyPr>
          <a:lstStyle/>
          <a:p>
            <a:r>
              <a:rPr lang="en-US" sz="3600" dirty="0"/>
              <a:t>Wien’s Displacement Law</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1645E3C-C71E-9CCD-EC69-E773EAC5620A}"/>
                  </a:ext>
                </a:extLst>
              </p:cNvPr>
              <p:cNvSpPr txBox="1"/>
              <p:nvPr/>
            </p:nvSpPr>
            <p:spPr>
              <a:xfrm>
                <a:off x="173677" y="873941"/>
                <a:ext cx="7199228" cy="5841471"/>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An interesting feature of the blackbody spectrum at a given temperature is the wavelength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rPr>
                          <m:t>𝑚𝑎𝑥</m:t>
                        </m:r>
                      </m:sub>
                    </m:sSub>
                  </m:oMath>
                </a14:m>
                <a:r>
                  <a:rPr lang="en-US" sz="2400" dirty="0">
                    <a:latin typeface="Times New Roman" panose="02020603050405020304" pitchFamily="18" charset="0"/>
                    <a:cs typeface="Times New Roman" panose="02020603050405020304" pitchFamily="18" charset="0"/>
                  </a:rPr>
                  <a:t> for which the energy density is the greatest. The Planck radiation formula is </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𝑢</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𝜈</m:t>
                          </m:r>
                        </m:e>
                      </m:d>
                      <m:r>
                        <a:rPr lang="en-US" sz="2400" b="0" i="1" smtClean="0">
                          <a:latin typeface="Cambria Math" panose="02040503050406030204" pitchFamily="18" charset="0"/>
                          <a:ea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8</m:t>
                          </m:r>
                          <m:r>
                            <a:rPr lang="en-US" sz="2400" b="0" i="1" smtClean="0">
                              <a:latin typeface="Cambria Math" panose="02040503050406030204" pitchFamily="18" charset="0"/>
                              <a:ea typeface="Cambria Math" panose="02040503050406030204" pitchFamily="18" charset="0"/>
                            </a:rPr>
                            <m:t>𝜋</m:t>
                          </m:r>
                          <m:r>
                            <a:rPr lang="en-US" sz="2400" b="0" i="1" smtClean="0">
                              <a:latin typeface="Cambria Math" panose="02040503050406030204" pitchFamily="18" charset="0"/>
                              <a:ea typeface="Cambria Math" panose="02040503050406030204" pitchFamily="18" charset="0"/>
                            </a:rPr>
                            <m:t>h</m:t>
                          </m:r>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𝑐</m:t>
                              </m:r>
                            </m:e>
                            <m:sup>
                              <m:r>
                                <a:rPr lang="en-US" sz="2400" b="0" i="1" smtClean="0">
                                  <a:latin typeface="Cambria Math" panose="02040503050406030204" pitchFamily="18" charset="0"/>
                                  <a:ea typeface="Cambria Math" panose="02040503050406030204" pitchFamily="18" charset="0"/>
                                </a:rPr>
                                <m:t>3</m:t>
                              </m:r>
                            </m:sup>
                          </m:sSup>
                        </m:den>
                      </m:f>
                      <m:f>
                        <m:fPr>
                          <m:ctrlPr>
                            <a:rPr lang="en-US" sz="2400" b="0" i="1" smtClean="0">
                              <a:latin typeface="Cambria Math" panose="02040503050406030204" pitchFamily="18" charset="0"/>
                              <a:ea typeface="Cambria Math" panose="02040503050406030204" pitchFamily="18" charset="0"/>
                            </a:rPr>
                          </m:ctrlPr>
                        </m:fPr>
                        <m:num>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𝜈</m:t>
                              </m:r>
                            </m:e>
                            <m:sup>
                              <m:r>
                                <a:rPr lang="en-US" sz="2400" b="0" i="1" smtClean="0">
                                  <a:latin typeface="Cambria Math" panose="02040503050406030204" pitchFamily="18" charset="0"/>
                                  <a:ea typeface="Cambria Math" panose="02040503050406030204" pitchFamily="18" charset="0"/>
                                </a:rPr>
                                <m:t>3</m:t>
                              </m:r>
                            </m:sup>
                          </m:sSup>
                          <m:r>
                            <a:rPr lang="en-US" sz="2400" b="0" i="1" smtClean="0">
                              <a:latin typeface="Cambria Math" panose="02040503050406030204" pitchFamily="18" charset="0"/>
                              <a:ea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𝜈</m:t>
                          </m:r>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𝑒</m:t>
                              </m:r>
                            </m:e>
                            <m:sup>
                              <m:r>
                                <a:rPr lang="en-US" sz="2400" b="0" i="1" smtClean="0">
                                  <a:latin typeface="Cambria Math" panose="02040503050406030204" pitchFamily="18" charset="0"/>
                                  <a:ea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𝑘𝑇</m:t>
                              </m:r>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m:t>
                          </m:r>
                        </m:den>
                      </m:f>
                    </m:oMath>
                  </m:oMathPara>
                </a14:m>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terms of wavelength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𝑢</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𝑑</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8</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𝜋</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𝑐</m:t>
                        </m:r>
                      </m:num>
                      <m:den>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5</m:t>
                            </m:r>
                          </m:sup>
                        </m:sSup>
                      </m:den>
                    </m:f>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𝑑</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num>
                      <m:den>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𝑒</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𝑐</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𝑘𝑇</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den>
                    </m:f>
                  </m:oMath>
                </a14:m>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Now differentiate and put it equal zero</a:t>
                </a:r>
              </a:p>
              <a:p>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𝑑𝑢</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rPr>
                          <m:t>)</m:t>
                        </m:r>
                      </m:num>
                      <m:den>
                        <m:r>
                          <a:rPr lang="en-US" sz="2400" b="0" i="1" smtClean="0">
                            <a:latin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𝜆</m:t>
                        </m:r>
                      </m:den>
                    </m:f>
                    <m:r>
                      <a:rPr lang="en-US" sz="2400" b="0" i="1" smtClean="0">
                        <a:latin typeface="Cambria Math" panose="02040503050406030204" pitchFamily="18" charset="0"/>
                      </a:rPr>
                      <m:t>=</m:t>
                    </m:r>
                    <m:r>
                      <a:rPr lang="en-US" sz="2400" b="0" i="1" smtClean="0">
                        <a:latin typeface="Cambria Math" panose="02040503050406030204" pitchFamily="18" charset="0"/>
                      </a:rPr>
                      <m:t>0</m:t>
                    </m:r>
                  </m:oMath>
                </a14:m>
                <a:r>
                  <a:rPr lang="en-US" sz="2400" dirty="0">
                    <a:latin typeface="Times New Roman" panose="02020603050405020304" pitchFamily="18" charset="0"/>
                    <a:cs typeface="Times New Roman" panose="02020603050405020304" pitchFamily="18" charset="0"/>
                  </a:rPr>
                  <a:t> for </a:t>
                </a:r>
                <a14:m>
                  <m:oMath xmlns:m="http://schemas.openxmlformats.org/officeDocument/2006/math">
                    <m:r>
                      <a:rPr lang="en-US" sz="240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ea typeface="Cambria Math" panose="02040503050406030204" pitchFamily="18" charset="0"/>
                          </a:rPr>
                          <m:t>𝑚𝑎𝑥</m:t>
                        </m:r>
                      </m:sub>
                    </m:sSub>
                  </m:oMath>
                </a14:m>
                <a:r>
                  <a:rPr lang="en-US" sz="2400" dirty="0">
                    <a:latin typeface="Times New Roman" panose="02020603050405020304" pitchFamily="18" charset="0"/>
                    <a:cs typeface="Times New Roman" panose="02020603050405020304" pitchFamily="18" charset="0"/>
                  </a:rPr>
                  <a:t>, give</a:t>
                </a:r>
              </a:p>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h</m:t>
                          </m:r>
                          <m:r>
                            <a:rPr lang="en-US" sz="2400" b="0" i="1" smtClean="0">
                              <a:latin typeface="Cambria Math" panose="02040503050406030204" pitchFamily="18" charset="0"/>
                            </a:rPr>
                            <m:t>𝑐</m:t>
                          </m:r>
                        </m:num>
                        <m:den>
                          <m:r>
                            <a:rPr lang="en-US" sz="2400" b="0" i="1" smtClean="0">
                              <a:latin typeface="Cambria Math" panose="02040503050406030204" pitchFamily="18" charset="0"/>
                            </a:rPr>
                            <m:t>𝑘𝑇</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rPr>
                                <m:t>𝑚𝑎𝑥</m:t>
                              </m:r>
                            </m:sub>
                          </m:sSub>
                        </m:den>
                      </m:f>
                      <m:r>
                        <a:rPr lang="en-US" sz="2400" b="0" i="1" smtClean="0">
                          <a:latin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rPr>
                        <m:t>.</m:t>
                      </m:r>
                      <m:r>
                        <a:rPr lang="en-US" sz="2400" b="0" i="1" smtClean="0">
                          <a:latin typeface="Cambria Math" panose="02040503050406030204" pitchFamily="18" charset="0"/>
                        </a:rPr>
                        <m:t>965</m:t>
                      </m:r>
                    </m:oMath>
                  </m:oMathPara>
                </a14:m>
                <a:endParaRPr lang="en-US" sz="2400" b="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Which gives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𝑇</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𝑚𝑎𝑥</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898</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3</m:t>
                        </m:r>
                      </m:sup>
                    </m:sSup>
                  </m:oMath>
                </a14:m>
                <a:r>
                  <a:rPr lang="en-US" sz="2400" dirty="0" err="1">
                    <a:latin typeface="Times New Roman" panose="02020603050405020304" pitchFamily="18" charset="0"/>
                    <a:cs typeface="Times New Roman" panose="02020603050405020304" pitchFamily="18" charset="0"/>
                  </a:rPr>
                  <a:t>m.K</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is Wien’s displacement law. Which implies that the peak in the blackbody spectrum shifts to progressively shorter wavelengths as the temperature is increased.</a:t>
                </a:r>
              </a:p>
            </p:txBody>
          </p:sp>
        </mc:Choice>
        <mc:Fallback xmlns="">
          <p:sp>
            <p:nvSpPr>
              <p:cNvPr id="5" name="TextBox 4">
                <a:extLst>
                  <a:ext uri="{FF2B5EF4-FFF2-40B4-BE49-F238E27FC236}">
                    <a16:creationId xmlns:a16="http://schemas.microsoft.com/office/drawing/2014/main" xmlns="" xmlns:a14="http://schemas.microsoft.com/office/drawing/2010/main" id="{91645E3C-C71E-9CCD-EC69-E773EAC5620A}"/>
                  </a:ext>
                </a:extLst>
              </p:cNvPr>
              <p:cNvSpPr txBox="1">
                <a:spLocks noRot="1" noChangeAspect="1" noMove="1" noResize="1" noEditPoints="1" noAdjustHandles="1" noChangeArrowheads="1" noChangeShapeType="1" noTextEdit="1"/>
              </p:cNvSpPr>
              <p:nvPr/>
            </p:nvSpPr>
            <p:spPr>
              <a:xfrm>
                <a:off x="173677" y="873941"/>
                <a:ext cx="7199228" cy="5841471"/>
              </a:xfrm>
              <a:prstGeom prst="rect">
                <a:avLst/>
              </a:prstGeom>
              <a:blipFill>
                <a:blip r:embed="rId2"/>
                <a:stretch>
                  <a:fillRect l="-1270" t="-834" b="-1356"/>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2F189A57-181A-D999-68CD-C8346A7813C1}"/>
              </a:ext>
            </a:extLst>
          </p:cNvPr>
          <p:cNvPicPr>
            <a:picLocks noChangeAspect="1"/>
          </p:cNvPicPr>
          <p:nvPr/>
        </p:nvPicPr>
        <p:blipFill>
          <a:blip r:embed="rId3"/>
          <a:stretch>
            <a:fillRect/>
          </a:stretch>
        </p:blipFill>
        <p:spPr>
          <a:xfrm>
            <a:off x="7199228" y="873941"/>
            <a:ext cx="4757006" cy="2828048"/>
          </a:xfrm>
          <a:prstGeom prst="rect">
            <a:avLst/>
          </a:prstGeom>
        </p:spPr>
      </p:pic>
    </p:spTree>
    <p:extLst>
      <p:ext uri="{BB962C8B-B14F-4D97-AF65-F5344CB8AC3E}">
        <p14:creationId xmlns:p14="http://schemas.microsoft.com/office/powerpoint/2010/main" val="525817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A963393-A7D5-96C5-26C5-8720754D6EAF}"/>
                  </a:ext>
                </a:extLst>
              </p:cNvPr>
              <p:cNvSpPr txBox="1"/>
              <p:nvPr/>
            </p:nvSpPr>
            <p:spPr>
              <a:xfrm>
                <a:off x="1313895" y="0"/>
                <a:ext cx="9277165" cy="3159391"/>
              </a:xfrm>
              <a:prstGeom prst="rect">
                <a:avLst/>
              </a:prstGeom>
              <a:noFill/>
            </p:spPr>
            <p:txBody>
              <a:bodyPr wrap="square" rtlCol="0">
                <a:spAutoFit/>
              </a:bodyPr>
              <a:lstStyle/>
              <a:p>
                <a:pPr algn="just"/>
                <a:r>
                  <a:rPr lang="en-US" sz="2400" dirty="0">
                    <a:solidFill>
                      <a:srgbClr val="FF0000"/>
                    </a:solidFill>
                  </a:rPr>
                  <a:t>Radiation from the Big Bang has been doppler-shifted to longer wavelengths by the expansion of the universe today has a spectrum corresponding to that of a blackbody at 2.7 K. Find the wavelength at which the energy density of this radiation is maximum. In what region of the spectrum is this radiation?</a:t>
                </a:r>
              </a:p>
              <a:p>
                <a:endParaRPr lang="en-US" dirty="0"/>
              </a:p>
              <a:p>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𝑚𝑎𝑥</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898</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m:oMathPara>
                </a14:m>
                <a:endParaRPr lang="en-US" dirty="0"/>
              </a:p>
              <a:p>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𝑚𝑎𝑥</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2</m:t>
                            </m:r>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898</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3</m:t>
                            </m:r>
                          </m:sup>
                        </m:sSup>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a14:m>
                <a:r>
                  <a:rPr lang="en-US" dirty="0"/>
                  <a:t>m= 1.1 mm, In microwave region.</a:t>
                </a:r>
              </a:p>
            </p:txBody>
          </p:sp>
        </mc:Choice>
        <mc:Fallback xmlns="">
          <p:sp>
            <p:nvSpPr>
              <p:cNvPr id="4" name="TextBox 3">
                <a:extLst>
                  <a:ext uri="{FF2B5EF4-FFF2-40B4-BE49-F238E27FC236}">
                    <a16:creationId xmlns:a16="http://schemas.microsoft.com/office/drawing/2014/main" xmlns="" xmlns:a14="http://schemas.microsoft.com/office/drawing/2010/main" id="{6A963393-A7D5-96C5-26C5-8720754D6EAF}"/>
                  </a:ext>
                </a:extLst>
              </p:cNvPr>
              <p:cNvSpPr txBox="1">
                <a:spLocks noRot="1" noChangeAspect="1" noMove="1" noResize="1" noEditPoints="1" noAdjustHandles="1" noChangeArrowheads="1" noChangeShapeType="1" noTextEdit="1"/>
              </p:cNvSpPr>
              <p:nvPr/>
            </p:nvSpPr>
            <p:spPr>
              <a:xfrm>
                <a:off x="1313895" y="0"/>
                <a:ext cx="9277165" cy="3159391"/>
              </a:xfrm>
              <a:prstGeom prst="rect">
                <a:avLst/>
              </a:prstGeom>
              <a:blipFill>
                <a:blip r:embed="rId2"/>
                <a:stretch>
                  <a:fillRect l="-1052" t="-1544" r="-10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9B7266A-B57C-1723-70E5-F76738E52C57}"/>
                  </a:ext>
                </a:extLst>
              </p:cNvPr>
              <p:cNvSpPr txBox="1"/>
              <p:nvPr/>
            </p:nvSpPr>
            <p:spPr>
              <a:xfrm>
                <a:off x="1109710" y="3698610"/>
                <a:ext cx="10362458" cy="2420727"/>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Consider the Earth to be a blackbody of temperature 300 K. Find the wavelength at which the earth radiates the most. In what region of the spectrum is this radiation?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𝑚𝑎𝑥</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898</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𝑚𝑎𝑥</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898</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10</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sup>
                        </m:sSup>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𝑇</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00966</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9</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66</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m:t>
                    </m:r>
                  </m:oMath>
                </a14:m>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in </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radio wave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region.</a:t>
                </a:r>
              </a:p>
            </p:txBody>
          </p:sp>
        </mc:Choice>
        <mc:Fallback xmlns="">
          <p:sp>
            <p:nvSpPr>
              <p:cNvPr id="6" name="TextBox 5">
                <a:extLst>
                  <a:ext uri="{FF2B5EF4-FFF2-40B4-BE49-F238E27FC236}">
                    <a16:creationId xmlns:a16="http://schemas.microsoft.com/office/drawing/2014/main" xmlns="" xmlns:a14="http://schemas.microsoft.com/office/drawing/2010/main" id="{D9B7266A-B57C-1723-70E5-F76738E52C57}"/>
                  </a:ext>
                </a:extLst>
              </p:cNvPr>
              <p:cNvSpPr txBox="1">
                <a:spLocks noRot="1" noChangeAspect="1" noMove="1" noResize="1" noEditPoints="1" noAdjustHandles="1" noChangeArrowheads="1" noChangeShapeType="1" noTextEdit="1"/>
              </p:cNvSpPr>
              <p:nvPr/>
            </p:nvSpPr>
            <p:spPr>
              <a:xfrm>
                <a:off x="1109710" y="3698610"/>
                <a:ext cx="10362458" cy="2420727"/>
              </a:xfrm>
              <a:prstGeom prst="rect">
                <a:avLst/>
              </a:prstGeom>
              <a:blipFill>
                <a:blip r:embed="rId3"/>
                <a:stretch>
                  <a:fillRect l="-882" t="-2015" r="-941"/>
                </a:stretch>
              </a:blipFill>
            </p:spPr>
            <p:txBody>
              <a:bodyPr/>
              <a:lstStyle/>
              <a:p>
                <a:r>
                  <a:rPr lang="en-US">
                    <a:noFill/>
                  </a:rPr>
                  <a:t> </a:t>
                </a:r>
              </a:p>
            </p:txBody>
          </p:sp>
        </mc:Fallback>
      </mc:AlternateContent>
    </p:spTree>
    <p:extLst>
      <p:ext uri="{BB962C8B-B14F-4D97-AF65-F5344CB8AC3E}">
        <p14:creationId xmlns:p14="http://schemas.microsoft.com/office/powerpoint/2010/main" val="449110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DE3B7C3-2E76-25A9-E5E8-0D112055E5E4}"/>
                  </a:ext>
                </a:extLst>
              </p:cNvPr>
              <p:cNvSpPr txBox="1"/>
              <p:nvPr/>
            </p:nvSpPr>
            <p:spPr>
              <a:xfrm>
                <a:off x="553453" y="505326"/>
                <a:ext cx="11085094" cy="4385111"/>
              </a:xfrm>
              <a:prstGeom prst="rect">
                <a:avLst/>
              </a:prstGeom>
              <a:noFill/>
            </p:spPr>
            <p:txBody>
              <a:bodyPr wrap="square" rtlCol="0">
                <a:spAutoFit/>
              </a:bodyPr>
              <a:lstStyle/>
              <a:p>
                <a:r>
                  <a:rPr lang="en-US" sz="2400" dirty="0">
                    <a:solidFill>
                      <a:srgbClr val="FF0000"/>
                    </a:solidFill>
                  </a:rPr>
                  <a:t>Sunlight arrives at the earth at the rate of about 1.4kW/m2 when the sun is directly overhead. The average radius of the earth orbit is </a:t>
                </a:r>
                <a14:m>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1</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5</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m:t>
                        </m:r>
                      </m:e>
                      <m:sup>
                        <m:r>
                          <a:rPr lang="en-US" sz="2400" b="0" i="1" smtClean="0">
                            <a:solidFill>
                              <a:srgbClr val="FF0000"/>
                            </a:solidFill>
                            <a:latin typeface="Cambria Math" panose="02040503050406030204" pitchFamily="18" charset="0"/>
                          </a:rPr>
                          <m:t>11</m:t>
                        </m:r>
                      </m:sup>
                    </m:sSup>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𝑚</m:t>
                    </m:r>
                  </m:oMath>
                </a14:m>
                <a:r>
                  <a:rPr lang="en-US" sz="2400" dirty="0">
                    <a:solidFill>
                      <a:srgbClr val="FF0000"/>
                    </a:solidFill>
                  </a:rPr>
                  <a:t> and the radius of the sun is </a:t>
                </a:r>
                <a14:m>
                  <m:oMath xmlns:m="http://schemas.openxmlformats.org/officeDocument/2006/math">
                    <m:sSup>
                      <m:sSupPr>
                        <m:ctrlPr>
                          <a:rPr lang="en-US" sz="2400" i="1">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7</m:t>
                        </m:r>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10</m:t>
                        </m:r>
                      </m:e>
                      <m:sup>
                        <m:r>
                          <a:rPr lang="en-US" sz="2400" b="0" i="1" smtClean="0">
                            <a:solidFill>
                              <a:srgbClr val="FF0000"/>
                            </a:solidFill>
                            <a:latin typeface="Cambria Math" panose="02040503050406030204" pitchFamily="18" charset="0"/>
                            <a:ea typeface="Cambria Math" panose="02040503050406030204" pitchFamily="18" charset="0"/>
                          </a:rPr>
                          <m:t>8</m:t>
                        </m:r>
                      </m:sup>
                    </m:sSup>
                    <m:r>
                      <a:rPr lang="en-US" sz="2400" b="0" i="1" smtClean="0">
                        <a:solidFill>
                          <a:srgbClr val="FF0000"/>
                        </a:solidFill>
                        <a:latin typeface="Cambria Math" panose="02040503050406030204" pitchFamily="18" charset="0"/>
                      </a:rPr>
                      <m:t> </m:t>
                    </m:r>
                    <m:r>
                      <a:rPr lang="en-US" sz="2400" b="0" i="1" smtClean="0">
                        <a:solidFill>
                          <a:srgbClr val="FF0000"/>
                        </a:solidFill>
                        <a:latin typeface="Cambria Math" panose="02040503050406030204" pitchFamily="18" charset="0"/>
                      </a:rPr>
                      <m:t>𝑚</m:t>
                    </m:r>
                    <m:r>
                      <a:rPr lang="en-US" sz="2400" b="0" i="1" smtClean="0">
                        <a:solidFill>
                          <a:srgbClr val="FF0000"/>
                        </a:solidFill>
                        <a:latin typeface="Cambria Math" panose="02040503050406030204" pitchFamily="18" charset="0"/>
                      </a:rPr>
                      <m:t>.</m:t>
                    </m:r>
                  </m:oMath>
                </a14:m>
                <a:r>
                  <a:rPr lang="en-US" sz="2400" dirty="0">
                    <a:solidFill>
                      <a:srgbClr val="FF0000"/>
                    </a:solidFill>
                  </a:rPr>
                  <a:t> From these data find the surface temperature of the sun on the assumption that it is a blackbody.</a:t>
                </a:r>
              </a:p>
              <a:p>
                <a:endParaRPr lang="en-US" sz="2400" dirty="0"/>
              </a:p>
              <a:p>
                <a:r>
                  <a:rPr lang="en-US" sz="2400" dirty="0"/>
                  <a:t>The total power radiated by the sun is </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1</m:t>
                          </m:r>
                          <m:r>
                            <a:rPr lang="en-US" sz="2400" i="1">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4</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b="0" i="1" smtClean="0">
                              <a:solidFill>
                                <a:prstClr val="black"/>
                              </a:solidFill>
                              <a:latin typeface="Cambria Math" panose="02040503050406030204" pitchFamily="18" charset="0"/>
                              <a:ea typeface="Cambria Math" panose="02040503050406030204" pitchFamily="18" charset="0"/>
                            </a:rPr>
                            <m:t>3</m:t>
                          </m:r>
                        </m:sup>
                      </m:sSup>
                      <m:r>
                        <a:rPr lang="en-US" sz="2400" i="1" smtClean="0">
                          <a:solidFill>
                            <a:prstClr val="black"/>
                          </a:solidFill>
                          <a:latin typeface="Cambria Math" panose="02040503050406030204" pitchFamily="18" charset="0"/>
                          <a:ea typeface="Cambria Math" panose="02040503050406030204" pitchFamily="18" charset="0"/>
                        </a:rPr>
                        <m:t>×</m:t>
                      </m:r>
                      <m:d>
                        <m:dPr>
                          <m:ctrlPr>
                            <a:rPr lang="en-US" sz="2400" b="0" i="1" smtClean="0">
                              <a:solidFill>
                                <a:prstClr val="black"/>
                              </a:solidFill>
                              <a:latin typeface="Cambria Math" panose="02040503050406030204" pitchFamily="18" charset="0"/>
                            </a:rPr>
                          </m:ctrlPr>
                        </m:dPr>
                        <m:e>
                          <m:r>
                            <a:rPr lang="en-US" sz="2400" b="0" i="1" smtClean="0">
                              <a:solidFill>
                                <a:prstClr val="black"/>
                              </a:solidFill>
                              <a:latin typeface="Cambria Math" panose="02040503050406030204" pitchFamily="18" charset="0"/>
                            </a:rPr>
                            <m:t>4</m:t>
                          </m:r>
                          <m:r>
                            <a:rPr lang="en-US" sz="2400" b="0" i="1" smtClean="0">
                              <a:solidFill>
                                <a:prstClr val="black"/>
                              </a:solidFill>
                              <a:latin typeface="Cambria Math" panose="02040503050406030204" pitchFamily="18" charset="0"/>
                              <a:ea typeface="Cambria Math" panose="02040503050406030204" pitchFamily="18" charset="0"/>
                            </a:rPr>
                            <m:t>𝜋</m:t>
                          </m:r>
                          <m:r>
                            <a:rPr lang="en-US" sz="2400" b="0" i="1" smtClean="0">
                              <a:solidFill>
                                <a:prstClr val="black"/>
                              </a:solidFill>
                              <a:latin typeface="Cambria Math" panose="02040503050406030204" pitchFamily="18" charset="0"/>
                              <a:ea typeface="Cambria Math" panose="02040503050406030204" pitchFamily="18" charset="0"/>
                            </a:rPr>
                            <m:t> </m:t>
                          </m:r>
                          <m:sSup>
                            <m:sSupPr>
                              <m:ctrlPr>
                                <a:rPr lang="en-US" sz="2400" b="0" i="1" smtClean="0">
                                  <a:solidFill>
                                    <a:prstClr val="black"/>
                                  </a:solidFill>
                                  <a:latin typeface="Cambria Math" panose="02040503050406030204" pitchFamily="18" charset="0"/>
                                  <a:ea typeface="Cambria Math" panose="02040503050406030204" pitchFamily="18" charset="0"/>
                                </a:rPr>
                              </m:ctrlPr>
                            </m:sSupPr>
                            <m:e>
                              <m:d>
                                <m:dPr>
                                  <m:ctrlPr>
                                    <a:rPr lang="en-US" sz="2400" b="0" i="1" smtClean="0">
                                      <a:solidFill>
                                        <a:prstClr val="black"/>
                                      </a:solidFill>
                                      <a:latin typeface="Cambria Math" panose="02040503050406030204" pitchFamily="18" charset="0"/>
                                      <a:ea typeface="Cambria Math" panose="02040503050406030204" pitchFamily="18" charset="0"/>
                                    </a:rPr>
                                  </m:ctrlPr>
                                </m:dPr>
                                <m:e>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1</m:t>
                                      </m:r>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5</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rPr>
                                        <m:t>11</m:t>
                                      </m:r>
                                    </m:sup>
                                  </m:sSup>
                                </m:e>
                              </m:d>
                            </m:e>
                            <m:sup>
                              <m:r>
                                <a:rPr lang="en-US" sz="2400" b="0" i="1" smtClean="0">
                                  <a:solidFill>
                                    <a:prstClr val="black"/>
                                  </a:solidFill>
                                  <a:latin typeface="Cambria Math" panose="02040503050406030204" pitchFamily="18" charset="0"/>
                                  <a:ea typeface="Cambria Math" panose="02040503050406030204" pitchFamily="18" charset="0"/>
                                </a:rPr>
                                <m:t>2</m:t>
                              </m:r>
                            </m:sup>
                          </m:sSup>
                        </m:e>
                      </m:d>
                      <m:r>
                        <a:rPr lang="en-US" sz="2400" b="0" i="1" smtClean="0">
                          <a:solidFill>
                            <a:prstClr val="black"/>
                          </a:solidFill>
                          <a:latin typeface="Cambria Math" panose="02040503050406030204" pitchFamily="18" charset="0"/>
                          <a:ea typeface="Cambria Math" panose="02040503050406030204" pitchFamily="18" charset="0"/>
                        </a:rPr>
                        <m:t>=</m:t>
                      </m:r>
                      <m:sSup>
                        <m:sSupPr>
                          <m:ctrlPr>
                            <a:rPr lang="en-US" sz="2400" b="0" i="1" smtClean="0">
                              <a:solidFill>
                                <a:prstClr val="black"/>
                              </a:solidFill>
                              <a:latin typeface="Cambria Math" panose="02040503050406030204" pitchFamily="18" charset="0"/>
                              <a:ea typeface="Cambria Math" panose="02040503050406030204" pitchFamily="18" charset="0"/>
                            </a:rPr>
                          </m:ctrlPr>
                        </m:sSupPr>
                        <m:e>
                          <m:r>
                            <a:rPr lang="en-US" sz="2400" b="0" i="1" smtClean="0">
                              <a:solidFill>
                                <a:prstClr val="black"/>
                              </a:solidFill>
                              <a:latin typeface="Cambria Math" panose="02040503050406030204" pitchFamily="18" charset="0"/>
                              <a:ea typeface="Cambria Math" panose="02040503050406030204" pitchFamily="18" charset="0"/>
                            </a:rPr>
                            <m:t>3</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96</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10</m:t>
                          </m:r>
                        </m:e>
                        <m:sup>
                          <m:r>
                            <a:rPr lang="en-US" sz="2400" b="0" i="1" smtClean="0">
                              <a:solidFill>
                                <a:prstClr val="black"/>
                              </a:solidFill>
                              <a:latin typeface="Cambria Math" panose="02040503050406030204" pitchFamily="18" charset="0"/>
                              <a:ea typeface="Cambria Math" panose="02040503050406030204" pitchFamily="18" charset="0"/>
                            </a:rPr>
                            <m:t>26</m:t>
                          </m:r>
                        </m:sup>
                      </m:sSup>
                      <m:r>
                        <a:rPr lang="en-US" sz="2400" b="0" i="1" smtClean="0">
                          <a:solidFill>
                            <a:prstClr val="black"/>
                          </a:solidFill>
                          <a:latin typeface="Cambria Math" panose="02040503050406030204" pitchFamily="18" charset="0"/>
                          <a:ea typeface="Cambria Math" panose="02040503050406030204" pitchFamily="18" charset="0"/>
                        </a:rPr>
                        <m:t>𝑊</m:t>
                      </m:r>
                    </m:oMath>
                  </m:oMathPara>
                </a14:m>
                <a:endParaRPr lang="en-US" sz="2400" dirty="0"/>
              </a:p>
              <a:p>
                <a:r>
                  <a:rPr lang="en-US" sz="2400" dirty="0"/>
                  <a:t>The rate of radiation of the sun is </a:t>
                </a:r>
                <a14:m>
                  <m:oMath xmlns:m="http://schemas.openxmlformats.org/officeDocument/2006/math">
                    <m:r>
                      <m:rPr>
                        <m:sty m:val="p"/>
                      </m:rPr>
                      <a:rPr lang="en-US" sz="2400" b="0" i="0" smtClean="0">
                        <a:latin typeface="Cambria Math" panose="02040503050406030204" pitchFamily="18" charset="0"/>
                      </a:rPr>
                      <m:t>u</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𝑝𝑜𝑤𝑒𝑟</m:t>
                        </m:r>
                        <m:r>
                          <a:rPr lang="en-US" sz="2400" b="0" i="1" smtClean="0">
                            <a:latin typeface="Cambria Math" panose="02040503050406030204" pitchFamily="18" charset="0"/>
                          </a:rPr>
                          <m:t> </m:t>
                        </m:r>
                        <m:r>
                          <a:rPr lang="en-US" sz="2400" b="0" i="1" smtClean="0">
                            <a:latin typeface="Cambria Math" panose="02040503050406030204" pitchFamily="18" charset="0"/>
                          </a:rPr>
                          <m:t>𝑜𝑢𝑡𝑝𝑢𝑡</m:t>
                        </m:r>
                      </m:num>
                      <m:den>
                        <m:r>
                          <a:rPr lang="en-US" sz="2400" b="0" i="1" smtClean="0">
                            <a:latin typeface="Cambria Math" panose="02040503050406030204" pitchFamily="18" charset="0"/>
                          </a:rPr>
                          <m:t>𝑠𝑢𝑟𝑓𝑎𝑐𝑒</m:t>
                        </m:r>
                        <m:r>
                          <a:rPr lang="en-US" sz="2400" b="0" i="1" smtClean="0">
                            <a:latin typeface="Cambria Math" panose="02040503050406030204" pitchFamily="18" charset="0"/>
                          </a:rPr>
                          <m:t> </m:t>
                        </m:r>
                        <m:r>
                          <a:rPr lang="en-US" sz="2400" b="0" i="1" smtClean="0">
                            <a:latin typeface="Cambria Math" panose="02040503050406030204" pitchFamily="18" charset="0"/>
                          </a:rPr>
                          <m:t>𝑎𝑟𝑒𝑎</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sSup>
                          <m:sSupPr>
                            <m:ctrlPr>
                              <a:rPr lang="en-US" sz="2400" i="1">
                                <a:solidFill>
                                  <a:prstClr val="black"/>
                                </a:solidFill>
                                <a:latin typeface="Cambria Math" panose="02040503050406030204" pitchFamily="18" charset="0"/>
                                <a:ea typeface="Cambria Math" panose="02040503050406030204" pitchFamily="18" charset="0"/>
                              </a:rPr>
                            </m:ctrlPr>
                          </m:sSupPr>
                          <m:e>
                            <m:r>
                              <a:rPr lang="en-US" sz="2400" i="1">
                                <a:solidFill>
                                  <a:prstClr val="black"/>
                                </a:solidFill>
                                <a:latin typeface="Cambria Math" panose="02040503050406030204" pitchFamily="18" charset="0"/>
                                <a:ea typeface="Cambria Math" panose="02040503050406030204" pitchFamily="18" charset="0"/>
                              </a:rPr>
                              <m:t>3</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96</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ea typeface="Cambria Math" panose="02040503050406030204" pitchFamily="18" charset="0"/>
                              </a:rPr>
                              <m:t>26</m:t>
                            </m:r>
                          </m:sup>
                        </m:sSup>
                      </m:num>
                      <m:den>
                        <m:d>
                          <m:dPr>
                            <m:ctrlPr>
                              <a:rPr lang="en-US" sz="2400" i="1">
                                <a:solidFill>
                                  <a:prstClr val="black"/>
                                </a:solidFill>
                                <a:latin typeface="Cambria Math" panose="02040503050406030204" pitchFamily="18" charset="0"/>
                              </a:rPr>
                            </m:ctrlPr>
                          </m:dPr>
                          <m:e>
                            <m:r>
                              <a:rPr lang="en-US" sz="2400" i="1">
                                <a:solidFill>
                                  <a:prstClr val="black"/>
                                </a:solidFill>
                                <a:latin typeface="Cambria Math" panose="02040503050406030204" pitchFamily="18" charset="0"/>
                              </a:rPr>
                              <m:t>4</m:t>
                            </m:r>
                            <m:r>
                              <a:rPr lang="en-US" sz="2400" i="1">
                                <a:solidFill>
                                  <a:prstClr val="black"/>
                                </a:solidFill>
                                <a:latin typeface="Cambria Math" panose="02040503050406030204" pitchFamily="18" charset="0"/>
                                <a:ea typeface="Cambria Math" panose="02040503050406030204" pitchFamily="18" charset="0"/>
                              </a:rPr>
                              <m:t>𝜋</m:t>
                            </m:r>
                            <m:r>
                              <a:rPr lang="en-US" sz="2400" i="1">
                                <a:solidFill>
                                  <a:prstClr val="black"/>
                                </a:solidFill>
                                <a:latin typeface="Cambria Math" panose="02040503050406030204" pitchFamily="18" charset="0"/>
                                <a:ea typeface="Cambria Math" panose="02040503050406030204" pitchFamily="18" charset="0"/>
                              </a:rPr>
                              <m:t> </m:t>
                            </m:r>
                            <m:sSup>
                              <m:sSupPr>
                                <m:ctrlPr>
                                  <a:rPr lang="en-US" sz="2400" i="1">
                                    <a:solidFill>
                                      <a:prstClr val="black"/>
                                    </a:solidFill>
                                    <a:latin typeface="Cambria Math" panose="02040503050406030204" pitchFamily="18" charset="0"/>
                                    <a:ea typeface="Cambria Math" panose="02040503050406030204" pitchFamily="18" charset="0"/>
                                  </a:rPr>
                                </m:ctrlPr>
                              </m:sSupPr>
                              <m:e>
                                <m:d>
                                  <m:dPr>
                                    <m:ctrlPr>
                                      <a:rPr lang="en-US" sz="2400" i="1">
                                        <a:solidFill>
                                          <a:prstClr val="black"/>
                                        </a:solidFill>
                                        <a:latin typeface="Cambria Math" panose="02040503050406030204" pitchFamily="18" charset="0"/>
                                        <a:ea typeface="Cambria Math" panose="02040503050406030204" pitchFamily="18" charset="0"/>
                                      </a:rPr>
                                    </m:ctrlPr>
                                  </m:dPr>
                                  <m:e>
                                    <m:sSup>
                                      <m:sSupPr>
                                        <m:ctrlPr>
                                          <a:rPr lang="en-US" sz="2400" i="1">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7</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b="0" i="1" smtClean="0">
                                            <a:solidFill>
                                              <a:prstClr val="black"/>
                                            </a:solidFill>
                                            <a:latin typeface="Cambria Math" panose="02040503050406030204" pitchFamily="18" charset="0"/>
                                            <a:ea typeface="Cambria Math" panose="02040503050406030204" pitchFamily="18" charset="0"/>
                                          </a:rPr>
                                          <m:t>8</m:t>
                                        </m:r>
                                      </m:sup>
                                    </m:sSup>
                                  </m:e>
                                </m:d>
                              </m:e>
                              <m:sup>
                                <m:r>
                                  <a:rPr lang="en-US" sz="2400" i="1">
                                    <a:solidFill>
                                      <a:prstClr val="black"/>
                                    </a:solidFill>
                                    <a:latin typeface="Cambria Math" panose="02040503050406030204" pitchFamily="18" charset="0"/>
                                    <a:ea typeface="Cambria Math" panose="02040503050406030204" pitchFamily="18" charset="0"/>
                                  </a:rPr>
                                  <m:t>2</m:t>
                                </m:r>
                              </m:sup>
                            </m:sSup>
                          </m:e>
                        </m:d>
                      </m:den>
                    </m:f>
                    <m:r>
                      <a:rPr lang="en-US" sz="2400" b="0" i="1" smtClean="0">
                        <a:latin typeface="Cambria Math" panose="02040503050406030204" pitchFamily="18" charset="0"/>
                      </a:rPr>
                      <m:t>=</m:t>
                    </m:r>
                    <m:sSup>
                      <m:sSupPr>
                        <m:ctrlPr>
                          <a:rPr lang="en-US" sz="2400" i="1">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6</m:t>
                        </m:r>
                        <m:r>
                          <a:rPr lang="en-US" sz="2400" b="0" i="1" smtClean="0">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43</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b="0" i="1" smtClean="0">
                            <a:solidFill>
                              <a:prstClr val="black"/>
                            </a:solidFill>
                            <a:latin typeface="Cambria Math" panose="02040503050406030204" pitchFamily="18" charset="0"/>
                            <a:ea typeface="Cambria Math" panose="02040503050406030204" pitchFamily="18" charset="0"/>
                          </a:rPr>
                          <m:t>7</m:t>
                        </m:r>
                      </m:sup>
                    </m:sSup>
                    <m:r>
                      <a:rPr lang="en-US" sz="2400" b="0" i="1" smtClean="0">
                        <a:solidFill>
                          <a:prstClr val="black"/>
                        </a:solidFill>
                        <a:latin typeface="Cambria Math" panose="02040503050406030204" pitchFamily="18" charset="0"/>
                      </a:rPr>
                      <m:t>𝑊</m:t>
                    </m:r>
                    <m:r>
                      <a:rPr lang="en-US" sz="2400" b="0" i="1" smtClean="0">
                        <a:solidFill>
                          <a:prstClr val="black"/>
                        </a:solidFill>
                        <a:latin typeface="Cambria Math" panose="02040503050406030204" pitchFamily="18" charset="0"/>
                      </a:rPr>
                      <m:t>/</m:t>
                    </m:r>
                    <m:sSup>
                      <m:sSupPr>
                        <m:ctrlPr>
                          <a:rPr lang="en-US" sz="2400" b="0" i="1" smtClean="0">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𝑚</m:t>
                        </m:r>
                      </m:e>
                      <m:sup>
                        <m:r>
                          <a:rPr lang="en-US" sz="2400" b="0" i="1" smtClean="0">
                            <a:solidFill>
                              <a:prstClr val="black"/>
                            </a:solidFill>
                            <a:latin typeface="Cambria Math" panose="02040503050406030204" pitchFamily="18" charset="0"/>
                          </a:rPr>
                          <m:t>2</m:t>
                        </m:r>
                      </m:sup>
                    </m:sSup>
                  </m:oMath>
                </a14:m>
                <a:endParaRPr lang="en-US" sz="2400" dirty="0"/>
              </a:p>
              <a:p>
                <a:r>
                  <a:rPr lang="en-US" sz="2400" dirty="0"/>
                  <a:t>Now from the Stefan-Boltzmann law </a:t>
                </a:r>
                <a14:m>
                  <m:oMath xmlns:m="http://schemas.openxmlformats.org/officeDocument/2006/math">
                    <m:r>
                      <a:rPr lang="en-US" sz="2400" b="0" i="1" smtClean="0">
                        <a:latin typeface="Cambria Math" panose="02040503050406030204" pitchFamily="18" charset="0"/>
                      </a:rPr>
                      <m:t>𝑢</m:t>
                    </m:r>
                    <m:r>
                      <a:rPr lang="en-US" sz="2400" b="0" i="1" smtClean="0">
                        <a:latin typeface="Cambria Math" panose="02040503050406030204" pitchFamily="18" charset="0"/>
                      </a:rPr>
                      <m:t>=</m:t>
                    </m:r>
                    <m:r>
                      <a:rPr lang="en-US" sz="2400" b="0" i="1" smtClean="0">
                        <a:latin typeface="Cambria Math" panose="02040503050406030204" pitchFamily="18" charset="0"/>
                      </a:rPr>
                      <m:t>𝑎</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𝑇</m:t>
                        </m:r>
                      </m:e>
                      <m:sup>
                        <m:r>
                          <a:rPr lang="en-US" sz="2400" b="0" i="1" smtClean="0">
                            <a:latin typeface="Cambria Math" panose="02040503050406030204" pitchFamily="18" charset="0"/>
                          </a:rPr>
                          <m:t>4</m:t>
                        </m:r>
                      </m:sup>
                    </m:sSup>
                  </m:oMath>
                </a14:m>
                <a:endParaRPr lang="en-US"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𝑇</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𝑢</m:t>
                              </m:r>
                            </m:num>
                            <m:den>
                              <m:r>
                                <a:rPr lang="en-US" sz="2400" b="0" i="1" smtClean="0">
                                  <a:latin typeface="Cambria Math" panose="02040503050406030204" pitchFamily="18" charset="0"/>
                                </a:rPr>
                                <m:t>𝑎</m:t>
                              </m:r>
                            </m:den>
                          </m:f>
                        </m:e>
                        <m:sup>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4</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5</m:t>
                          </m:r>
                          <m:r>
                            <a:rPr lang="en-US" sz="2400" b="0" i="1" smtClean="0">
                              <a:latin typeface="Cambria Math" panose="02040503050406030204" pitchFamily="18" charset="0"/>
                            </a:rPr>
                            <m:t>.</m:t>
                          </m:r>
                          <m:r>
                            <a:rPr lang="en-US" sz="2400" b="0" i="1" smtClean="0">
                              <a:latin typeface="Cambria Math" panose="02040503050406030204" pitchFamily="18" charset="0"/>
                            </a:rPr>
                            <m:t>8</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3</m:t>
                          </m:r>
                        </m:sup>
                      </m:sSup>
                      <m:r>
                        <a:rPr lang="en-US" sz="2400" b="0" i="1" smtClean="0">
                          <a:latin typeface="Cambria Math" panose="02040503050406030204" pitchFamily="18" charset="0"/>
                        </a:rPr>
                        <m:t>𝐾</m:t>
                      </m:r>
                    </m:oMath>
                  </m:oMathPara>
                </a14:m>
                <a:endParaRPr lang="en-US" sz="2400" dirty="0"/>
              </a:p>
            </p:txBody>
          </p:sp>
        </mc:Choice>
        <mc:Fallback xmlns="">
          <p:sp>
            <p:nvSpPr>
              <p:cNvPr id="2" name="TextBox 1">
                <a:extLst>
                  <a:ext uri="{FF2B5EF4-FFF2-40B4-BE49-F238E27FC236}">
                    <a16:creationId xmlns:a16="http://schemas.microsoft.com/office/drawing/2014/main" xmlns="" xmlns:a14="http://schemas.microsoft.com/office/drawing/2010/main" id="{FDE3B7C3-2E76-25A9-E5E8-0D112055E5E4}"/>
                  </a:ext>
                </a:extLst>
              </p:cNvPr>
              <p:cNvSpPr txBox="1">
                <a:spLocks noRot="1" noChangeAspect="1" noMove="1" noResize="1" noEditPoints="1" noAdjustHandles="1" noChangeArrowheads="1" noChangeShapeType="1" noTextEdit="1"/>
              </p:cNvSpPr>
              <p:nvPr/>
            </p:nvSpPr>
            <p:spPr>
              <a:xfrm>
                <a:off x="553453" y="505326"/>
                <a:ext cx="11085094" cy="4385111"/>
              </a:xfrm>
              <a:prstGeom prst="rect">
                <a:avLst/>
              </a:prstGeom>
              <a:blipFill>
                <a:blip r:embed="rId2"/>
                <a:stretch>
                  <a:fillRect l="-880" t="-1113"/>
                </a:stretch>
              </a:blipFill>
            </p:spPr>
            <p:txBody>
              <a:bodyPr/>
              <a:lstStyle/>
              <a:p>
                <a:r>
                  <a:rPr lang="en-US">
                    <a:noFill/>
                  </a:rPr>
                  <a:t> </a:t>
                </a:r>
              </a:p>
            </p:txBody>
          </p:sp>
        </mc:Fallback>
      </mc:AlternateContent>
    </p:spTree>
    <p:extLst>
      <p:ext uri="{BB962C8B-B14F-4D97-AF65-F5344CB8AC3E}">
        <p14:creationId xmlns:p14="http://schemas.microsoft.com/office/powerpoint/2010/main" val="1018047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4BDE5F0-9AFF-39C3-F02D-FDC108681E7B}"/>
                  </a:ext>
                </a:extLst>
              </p:cNvPr>
              <p:cNvSpPr txBox="1"/>
              <p:nvPr/>
            </p:nvSpPr>
            <p:spPr>
              <a:xfrm>
                <a:off x="497058" y="856357"/>
                <a:ext cx="11197883" cy="6001643"/>
              </a:xfrm>
              <a:prstGeom prst="rect">
                <a:avLst/>
              </a:prstGeom>
              <a:noFill/>
            </p:spPr>
            <p:txBody>
              <a:bodyPr wrap="square" rtlCol="0">
                <a:spAutoFit/>
              </a:bodyPr>
              <a:lstStyle/>
              <a:p>
                <a:pPr marL="342900" indent="-342900">
                  <a:buAutoNum type="arabicPeriod"/>
                </a:pPr>
                <a:r>
                  <a:rPr lang="en-US" sz="2400" dirty="0"/>
                  <a:t>Sunspots appear dark, although their temperature are typically 5000 K because the rest of the sun’s surface is even hotter, about 5800 K. Compare the radiation rates of surfaces of the same emissivity whose temperatures are respectively 5000 and 5800 K.</a:t>
                </a:r>
              </a:p>
              <a:p>
                <a:pPr marL="342900" indent="-342900">
                  <a:buAutoNum type="arabicPeriod"/>
                </a:pPr>
                <a:r>
                  <a:rPr lang="en-US" sz="2400" dirty="0"/>
                  <a:t>At what rate would solar energy arrive at the earth if the solar surface had a temperature 10 percent lower than it is?</a:t>
                </a:r>
              </a:p>
              <a:p>
                <a:pPr marL="342900" indent="-342900">
                  <a:buAutoNum type="arabicPeriod"/>
                </a:pPr>
                <a:r>
                  <a:rPr lang="en-US" sz="2400" dirty="0"/>
                  <a:t>An object is at a temperature of 400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400" dirty="0"/>
                  <a:t>. At what temperature would it radiate energy twice as fast?</a:t>
                </a:r>
              </a:p>
              <a:p>
                <a:pPr marL="342900" indent="-342900">
                  <a:buAutoNum type="arabicPeriod"/>
                </a:pPr>
                <a:r>
                  <a:rPr lang="en-US" sz="2400" dirty="0"/>
                  <a:t>Find the surface area of a blackbody that radiates 1.00 kW when the temperature is 500</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lang="en-US" sz="2400" dirty="0"/>
                  <a:t>. If the blackbody is a sphere, what is its radius?</a:t>
                </a:r>
              </a:p>
              <a:p>
                <a:pPr marL="342900" indent="-342900">
                  <a:buAutoNum type="arabicPeriod"/>
                </a:pPr>
                <a:r>
                  <a:rPr lang="en-US" sz="2400" dirty="0"/>
                  <a:t>Find the peak wavelength in the spectrum of the radiation from a blackbody at a temperature of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500</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lang="en-US" sz="2400" dirty="0"/>
                  <a:t> In what part of the electromagnetic spectrum is this wavelength?</a:t>
                </a:r>
              </a:p>
              <a:p>
                <a:pPr marL="342900" indent="-342900">
                  <a:buAutoNum type="arabicPeriod"/>
                </a:pPr>
                <a:r>
                  <a:rPr lang="en-US" sz="2400" dirty="0"/>
                  <a:t>The brightest part of the spectrum of the star </a:t>
                </a:r>
                <a:r>
                  <a:rPr lang="en-US" sz="2400" dirty="0" err="1"/>
                  <a:t>Sirus</a:t>
                </a:r>
                <a:r>
                  <a:rPr lang="en-US" sz="2400" dirty="0"/>
                  <a:t> is located at a wavelength of about 290 nm. What is the surface temperature of </a:t>
                </a:r>
                <a:r>
                  <a:rPr lang="en-US" sz="2400" dirty="0" err="1"/>
                  <a:t>Sirus</a:t>
                </a:r>
                <a:r>
                  <a:rPr lang="en-US" sz="2400" dirty="0"/>
                  <a:t>?</a:t>
                </a:r>
              </a:p>
              <a:p>
                <a:pPr marL="342900" indent="-342900">
                  <a:buAutoNum type="arabicPeriod"/>
                </a:pPr>
                <a:endParaRPr lang="en-US" sz="2400" dirty="0"/>
              </a:p>
            </p:txBody>
          </p:sp>
        </mc:Choice>
        <mc:Fallback xmlns="">
          <p:sp>
            <p:nvSpPr>
              <p:cNvPr id="5" name="TextBox 4">
                <a:extLst>
                  <a:ext uri="{FF2B5EF4-FFF2-40B4-BE49-F238E27FC236}">
                    <a16:creationId xmlns:a16="http://schemas.microsoft.com/office/drawing/2014/main" xmlns="" xmlns:a14="http://schemas.microsoft.com/office/drawing/2010/main" id="{C4BDE5F0-9AFF-39C3-F02D-FDC108681E7B}"/>
                  </a:ext>
                </a:extLst>
              </p:cNvPr>
              <p:cNvSpPr txBox="1">
                <a:spLocks noRot="1" noChangeAspect="1" noMove="1" noResize="1" noEditPoints="1" noAdjustHandles="1" noChangeArrowheads="1" noChangeShapeType="1" noTextEdit="1"/>
              </p:cNvSpPr>
              <p:nvPr/>
            </p:nvSpPr>
            <p:spPr>
              <a:xfrm>
                <a:off x="497058" y="856357"/>
                <a:ext cx="11197883" cy="6001643"/>
              </a:xfrm>
              <a:prstGeom prst="rect">
                <a:avLst/>
              </a:prstGeom>
              <a:blipFill>
                <a:blip r:embed="rId2"/>
                <a:stretch>
                  <a:fillRect l="-871" t="-914" r="-54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229373A9-6472-2F44-AC35-A837398F3A02}"/>
              </a:ext>
            </a:extLst>
          </p:cNvPr>
          <p:cNvSpPr txBox="1"/>
          <p:nvPr/>
        </p:nvSpPr>
        <p:spPr>
          <a:xfrm>
            <a:off x="5005754" y="0"/>
            <a:ext cx="2180492" cy="646331"/>
          </a:xfrm>
          <a:prstGeom prst="rect">
            <a:avLst/>
          </a:prstGeom>
          <a:noFill/>
        </p:spPr>
        <p:txBody>
          <a:bodyPr wrap="square" rtlCol="0">
            <a:spAutoFit/>
          </a:bodyPr>
          <a:lstStyle/>
          <a:p>
            <a:r>
              <a:rPr lang="en-US" sz="3600" dirty="0"/>
              <a:t>Problems</a:t>
            </a:r>
          </a:p>
        </p:txBody>
      </p:sp>
    </p:spTree>
    <p:extLst>
      <p:ext uri="{BB962C8B-B14F-4D97-AF65-F5344CB8AC3E}">
        <p14:creationId xmlns:p14="http://schemas.microsoft.com/office/powerpoint/2010/main" val="2576411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CDE59D-5D7D-9C9F-433C-F5F7BD42583C}"/>
              </a:ext>
            </a:extLst>
          </p:cNvPr>
          <p:cNvSpPr txBox="1"/>
          <p:nvPr/>
        </p:nvSpPr>
        <p:spPr>
          <a:xfrm>
            <a:off x="3992880" y="0"/>
            <a:ext cx="420624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Photo-electric Effect</a:t>
            </a:r>
          </a:p>
        </p:txBody>
      </p:sp>
      <p:sp>
        <p:nvSpPr>
          <p:cNvPr id="5" name="TextBox 4">
            <a:extLst>
              <a:ext uri="{FF2B5EF4-FFF2-40B4-BE49-F238E27FC236}">
                <a16:creationId xmlns:a16="http://schemas.microsoft.com/office/drawing/2014/main" id="{CC71542E-4EC7-C9DF-9E13-5DCE9D4A5FFE}"/>
              </a:ext>
            </a:extLst>
          </p:cNvPr>
          <p:cNvSpPr txBox="1"/>
          <p:nvPr/>
        </p:nvSpPr>
        <p:spPr>
          <a:xfrm>
            <a:off x="588936" y="646331"/>
            <a:ext cx="11406751"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phenomenon of emission of electrons from a metal surface when light of certain frequency is shine on it is know as photo electric effect, and the emitted electrons are known as photo electron.</a:t>
            </a:r>
          </a:p>
        </p:txBody>
      </p:sp>
      <p:pic>
        <p:nvPicPr>
          <p:cNvPr id="7" name="Picture 6">
            <a:extLst>
              <a:ext uri="{FF2B5EF4-FFF2-40B4-BE49-F238E27FC236}">
                <a16:creationId xmlns:a16="http://schemas.microsoft.com/office/drawing/2014/main" id="{2EFABD18-AF7B-82FF-8BF1-871DDC445233}"/>
              </a:ext>
            </a:extLst>
          </p:cNvPr>
          <p:cNvPicPr>
            <a:picLocks noChangeAspect="1"/>
          </p:cNvPicPr>
          <p:nvPr/>
        </p:nvPicPr>
        <p:blipFill>
          <a:blip r:embed="rId2"/>
          <a:stretch>
            <a:fillRect/>
          </a:stretch>
        </p:blipFill>
        <p:spPr>
          <a:xfrm>
            <a:off x="2781991" y="1846660"/>
            <a:ext cx="6628017" cy="4507645"/>
          </a:xfrm>
          <a:prstGeom prst="rect">
            <a:avLst/>
          </a:prstGeom>
        </p:spPr>
      </p:pic>
    </p:spTree>
    <p:extLst>
      <p:ext uri="{BB962C8B-B14F-4D97-AF65-F5344CB8AC3E}">
        <p14:creationId xmlns:p14="http://schemas.microsoft.com/office/powerpoint/2010/main" val="2063521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A96D9F-DFF0-CE40-7C4F-1A63F4D49E9F}"/>
              </a:ext>
            </a:extLst>
          </p:cNvPr>
          <p:cNvSpPr txBox="1"/>
          <p:nvPr/>
        </p:nvSpPr>
        <p:spPr>
          <a:xfrm>
            <a:off x="4243952" y="0"/>
            <a:ext cx="370409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Few Observations</a:t>
            </a:r>
          </a:p>
        </p:txBody>
      </p:sp>
      <p:sp>
        <p:nvSpPr>
          <p:cNvPr id="3" name="TextBox 2">
            <a:extLst>
              <a:ext uri="{FF2B5EF4-FFF2-40B4-BE49-F238E27FC236}">
                <a16:creationId xmlns:a16="http://schemas.microsoft.com/office/drawing/2014/main" id="{7073D1FD-FA0F-C280-041D-48C8CA10196D}"/>
              </a:ext>
            </a:extLst>
          </p:cNvPr>
          <p:cNvSpPr txBox="1"/>
          <p:nvPr/>
        </p:nvSpPr>
        <p:spPr>
          <a:xfrm>
            <a:off x="772093" y="646331"/>
            <a:ext cx="7889523" cy="5632311"/>
          </a:xfrm>
          <a:prstGeom prst="rect">
            <a:avLst/>
          </a:prstGeom>
          <a:noFill/>
        </p:spPr>
        <p:txBody>
          <a:bodyPr wrap="square" rtlCol="0">
            <a:spAutoFit/>
          </a:bodyPr>
          <a:lstStyle/>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Within the limit of experimental accuracy there is no time delay between shinning of light and emission of electrons. If light behaves as waves it should take finite amount of time to accumulate energy to free an electron from the atomic binding.</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bright light yields more photoelectrons than a dim one of the same frequency, but the electron energies remain the same. The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em</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theory of light, on the contrary, predicts that the more intense the light, the greater the energy of electrons.</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C0D069AE-02FA-043C-4FBC-20E6DF55F052}"/>
              </a:ext>
            </a:extLst>
          </p:cNvPr>
          <p:cNvPicPr>
            <a:picLocks noChangeAspect="1"/>
          </p:cNvPicPr>
          <p:nvPr/>
        </p:nvPicPr>
        <p:blipFill>
          <a:blip r:embed="rId2"/>
          <a:stretch>
            <a:fillRect/>
          </a:stretch>
        </p:blipFill>
        <p:spPr>
          <a:xfrm>
            <a:off x="8720140" y="1773588"/>
            <a:ext cx="3471860" cy="4791167"/>
          </a:xfrm>
          <a:prstGeom prst="rect">
            <a:avLst/>
          </a:prstGeom>
        </p:spPr>
      </p:pic>
    </p:spTree>
    <p:extLst>
      <p:ext uri="{BB962C8B-B14F-4D97-AF65-F5344CB8AC3E}">
        <p14:creationId xmlns:p14="http://schemas.microsoft.com/office/powerpoint/2010/main" val="3277031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9B4151-F367-B96D-C6B9-DAE2B8A10C86}"/>
                  </a:ext>
                </a:extLst>
              </p:cNvPr>
              <p:cNvSpPr txBox="1"/>
              <p:nvPr/>
            </p:nvSpPr>
            <p:spPr>
              <a:xfrm>
                <a:off x="172866" y="6835"/>
                <a:ext cx="11310424" cy="2677656"/>
              </a:xfrm>
              <a:prstGeom prst="rect">
                <a:avLst/>
              </a:prstGeom>
              <a:noFill/>
            </p:spPr>
            <p:txBody>
              <a:bodyPr wrap="square">
                <a:spAutoFit/>
              </a:bodyPr>
              <a:lstStyle/>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 The higher the frequency of the light, the more energy the photoelectrons have. Blue light results in faster electrons than the red light. At frequencies below a certain frequency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which is characteristic of each particular metal, no electrons are emitted. Above the photoelectrons range in energy from 0 to a maximum value that increases linearly with increasing frequency. This observation, also, cannot be explained by the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em</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theory of light.</a:t>
                </a:r>
              </a:p>
            </p:txBody>
          </p:sp>
        </mc:Choice>
        <mc:Fallback xmlns="">
          <p:sp>
            <p:nvSpPr>
              <p:cNvPr id="3" name="TextBox 2">
                <a:extLst>
                  <a:ext uri="{FF2B5EF4-FFF2-40B4-BE49-F238E27FC236}">
                    <a16:creationId xmlns:a16="http://schemas.microsoft.com/office/drawing/2014/main" xmlns="" xmlns:a14="http://schemas.microsoft.com/office/drawing/2010/main" id="{D39B4151-F367-B96D-C6B9-DAE2B8A10C86}"/>
                  </a:ext>
                </a:extLst>
              </p:cNvPr>
              <p:cNvSpPr txBox="1">
                <a:spLocks noRot="1" noChangeAspect="1" noMove="1" noResize="1" noEditPoints="1" noAdjustHandles="1" noChangeArrowheads="1" noChangeShapeType="1" noTextEdit="1"/>
              </p:cNvSpPr>
              <p:nvPr/>
            </p:nvSpPr>
            <p:spPr>
              <a:xfrm>
                <a:off x="172866" y="6835"/>
                <a:ext cx="11310424" cy="2677656"/>
              </a:xfrm>
              <a:prstGeom prst="rect">
                <a:avLst/>
              </a:prstGeom>
              <a:blipFill>
                <a:blip r:embed="rId2"/>
                <a:stretch>
                  <a:fillRect l="-808" r="-808" b="-432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18A68B49-9699-4780-6A4B-892D5DF7399A}"/>
              </a:ext>
            </a:extLst>
          </p:cNvPr>
          <p:cNvPicPr>
            <a:picLocks noChangeAspect="1"/>
          </p:cNvPicPr>
          <p:nvPr/>
        </p:nvPicPr>
        <p:blipFill>
          <a:blip r:embed="rId3"/>
          <a:stretch>
            <a:fillRect/>
          </a:stretch>
        </p:blipFill>
        <p:spPr>
          <a:xfrm>
            <a:off x="387457" y="2935260"/>
            <a:ext cx="3468461" cy="3612980"/>
          </a:xfrm>
          <a:prstGeom prst="rect">
            <a:avLst/>
          </a:prstGeom>
        </p:spPr>
      </p:pic>
    </p:spTree>
    <p:extLst>
      <p:ext uri="{BB962C8B-B14F-4D97-AF65-F5344CB8AC3E}">
        <p14:creationId xmlns:p14="http://schemas.microsoft.com/office/powerpoint/2010/main" val="1147777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1A5C5F7-4E26-7A55-AB3F-4BE5EBB2735D}"/>
                  </a:ext>
                </a:extLst>
              </p:cNvPr>
              <p:cNvSpPr txBox="1"/>
              <p:nvPr/>
            </p:nvSpPr>
            <p:spPr>
              <a:xfrm>
                <a:off x="1111349" y="726631"/>
                <a:ext cx="10353820" cy="526297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Later Einstein in 1905 realized that if light is considered to be composed of small packet of energy called photon than the experimental findings of photoelectric effect can be explain. Each photon with frequency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can have energy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three experimental observations listed above follow directly from Einstein’s hypothesis:</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Because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em</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wave energy is concentrated in photons and not spread out, there should be no delay in the emission of photoelectrons.</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All photons of frequency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have the same energy, so changing the intensity of a monochromatic light beam will change the number of photoelectrons but not their energies.</a:t>
                </a: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Tx/>
                  <a:buAutoNum type="arabicPeriod"/>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higher the frequency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r>
                      <a:rPr kumimoji="0" lang="en-US" sz="24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the greater the photon energy </a:t>
                </a:r>
                <a14:m>
                  <m:oMath xmlns:m="http://schemas.openxmlformats.org/officeDocument/2006/math">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𝜈</m:t>
                    </m:r>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so the more energy the photoelectrons have. </a:t>
                </a:r>
              </a:p>
            </p:txBody>
          </p:sp>
        </mc:Choice>
        <mc:Fallback xmlns="">
          <p:sp>
            <p:nvSpPr>
              <p:cNvPr id="2" name="TextBox 1">
                <a:extLst>
                  <a:ext uri="{FF2B5EF4-FFF2-40B4-BE49-F238E27FC236}">
                    <a16:creationId xmlns:a16="http://schemas.microsoft.com/office/drawing/2014/main" xmlns="" xmlns:a14="http://schemas.microsoft.com/office/drawing/2010/main" id="{81A5C5F7-4E26-7A55-AB3F-4BE5EBB2735D}"/>
                  </a:ext>
                </a:extLst>
              </p:cNvPr>
              <p:cNvSpPr txBox="1">
                <a:spLocks noRot="1" noChangeAspect="1" noMove="1" noResize="1" noEditPoints="1" noAdjustHandles="1" noChangeArrowheads="1" noChangeShapeType="1" noTextEdit="1"/>
              </p:cNvSpPr>
              <p:nvPr/>
            </p:nvSpPr>
            <p:spPr>
              <a:xfrm>
                <a:off x="1111349" y="726631"/>
                <a:ext cx="10353820" cy="5262979"/>
              </a:xfrm>
              <a:prstGeom prst="rect">
                <a:avLst/>
              </a:prstGeom>
              <a:blipFill>
                <a:blip r:embed="rId2"/>
                <a:stretch>
                  <a:fillRect l="-942" t="-926" r="-883" b="-162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011F737A-E4CC-2C15-7E9F-F59A504D8047}"/>
              </a:ext>
            </a:extLst>
          </p:cNvPr>
          <p:cNvSpPr txBox="1"/>
          <p:nvPr/>
        </p:nvSpPr>
        <p:spPr>
          <a:xfrm>
            <a:off x="2920753" y="0"/>
            <a:ext cx="6196614" cy="646331"/>
          </a:xfrm>
          <a:prstGeom prst="rect">
            <a:avLst/>
          </a:prstGeom>
          <a:noFill/>
        </p:spPr>
        <p:txBody>
          <a:bodyPr wrap="square" rtlCol="0">
            <a:spAutoFit/>
          </a:bodyPr>
          <a:lstStyle/>
          <a:p>
            <a:r>
              <a:rPr lang="en-US" sz="3600" dirty="0"/>
              <a:t>Quantum Mechanical Solutions</a:t>
            </a:r>
          </a:p>
        </p:txBody>
      </p:sp>
    </p:spTree>
    <p:extLst>
      <p:ext uri="{BB962C8B-B14F-4D97-AF65-F5344CB8AC3E}">
        <p14:creationId xmlns:p14="http://schemas.microsoft.com/office/powerpoint/2010/main" val="3079803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49D7C9-3F2F-DE1C-F4EC-93529FCF788A}"/>
              </a:ext>
            </a:extLst>
          </p:cNvPr>
          <p:cNvSpPr txBox="1"/>
          <p:nvPr/>
        </p:nvSpPr>
        <p:spPr>
          <a:xfrm>
            <a:off x="2228295" y="0"/>
            <a:ext cx="7031115" cy="646331"/>
          </a:xfrm>
          <a:prstGeom prst="rect">
            <a:avLst/>
          </a:prstGeom>
          <a:noFill/>
        </p:spPr>
        <p:txBody>
          <a:bodyPr wrap="square" rtlCol="0">
            <a:spAutoFit/>
          </a:bodyPr>
          <a:lstStyle/>
          <a:p>
            <a:r>
              <a:rPr lang="en-US" sz="3600" dirty="0"/>
              <a:t>Work function and Einstein Equation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B3AA17-9FCD-7219-C96C-8C923E87F0CB}"/>
                  </a:ext>
                </a:extLst>
              </p:cNvPr>
              <p:cNvSpPr txBox="1"/>
              <p:nvPr/>
            </p:nvSpPr>
            <p:spPr>
              <a:xfrm>
                <a:off x="941032" y="839328"/>
                <a:ext cx="9605639" cy="1477328"/>
              </a:xfrm>
              <a:prstGeom prst="rect">
                <a:avLst/>
              </a:prstGeom>
              <a:noFill/>
            </p:spPr>
            <p:txBody>
              <a:bodyPr wrap="square" rtlCol="0">
                <a:spAutoFit/>
              </a:bodyPr>
              <a:lstStyle/>
              <a:p>
                <a:pPr algn="just"/>
                <a:r>
                  <a:rPr lang="en-US" dirty="0"/>
                  <a:t>Work function: The minimum energy required for an electron to escape from a particular metal surface. If a surface get the amount of energy equal to the work function it will release an electron with zero kinetic energy. It is denoted by </a:t>
                </a:r>
                <a14:m>
                  <m:oMath xmlns:m="http://schemas.openxmlformats.org/officeDocument/2006/math">
                    <m:r>
                      <a:rPr lang="en-US"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𝜈</m:t>
                        </m:r>
                      </m:e>
                      <m:sub>
                        <m:r>
                          <a:rPr lang="en-US" b="0" i="1" smtClean="0">
                            <a:latin typeface="Cambria Math" panose="02040503050406030204" pitchFamily="18" charset="0"/>
                            <a:ea typeface="Cambria Math" panose="02040503050406030204" pitchFamily="18" charset="0"/>
                          </a:rPr>
                          <m:t>0</m:t>
                        </m:r>
                      </m:sub>
                    </m:sSub>
                  </m:oMath>
                </a14:m>
                <a:r>
                  <a:rPr lang="en-US" dirty="0"/>
                  <a:t>, here </a:t>
                </a:r>
                <a14:m>
                  <m:oMath xmlns:m="http://schemas.openxmlformats.org/officeDocument/2006/math">
                    <m:sSub>
                      <m:sSubPr>
                        <m:ctrlPr>
                          <a:rPr lang="en-US" i="1">
                            <a:solidFill>
                              <a:prstClr val="black"/>
                            </a:solidFill>
                            <a:latin typeface="Cambria Math" panose="02040503050406030204" pitchFamily="18" charset="0"/>
                            <a:ea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𝜈</m:t>
                        </m:r>
                      </m:e>
                      <m:sub>
                        <m:r>
                          <a:rPr lang="en-US" i="1">
                            <a:solidFill>
                              <a:prstClr val="black"/>
                            </a:solidFill>
                            <a:latin typeface="Cambria Math" panose="02040503050406030204" pitchFamily="18" charset="0"/>
                            <a:ea typeface="Cambria Math" panose="02040503050406030204" pitchFamily="18" charset="0"/>
                          </a:rPr>
                          <m:t>0</m:t>
                        </m:r>
                      </m:sub>
                    </m:sSub>
                  </m:oMath>
                </a14:m>
                <a:r>
                  <a:rPr lang="en-US" dirty="0"/>
                  <a:t> is called the critical frequency or threshold frequency, because the photon with a frequency less than </a:t>
                </a:r>
                <a14:m>
                  <m:oMath xmlns:m="http://schemas.openxmlformats.org/officeDocument/2006/math">
                    <m:sSub>
                      <m:sSubPr>
                        <m:ctrlPr>
                          <a:rPr lang="en-US" i="1">
                            <a:solidFill>
                              <a:prstClr val="black"/>
                            </a:solidFill>
                            <a:latin typeface="Cambria Math" panose="02040503050406030204" pitchFamily="18" charset="0"/>
                            <a:ea typeface="Cambria Math" panose="02040503050406030204" pitchFamily="18" charset="0"/>
                          </a:rPr>
                        </m:ctrlPr>
                      </m:sSubPr>
                      <m:e>
                        <m:r>
                          <a:rPr lang="en-US" i="1">
                            <a:solidFill>
                              <a:prstClr val="black"/>
                            </a:solidFill>
                            <a:latin typeface="Cambria Math" panose="02040503050406030204" pitchFamily="18" charset="0"/>
                            <a:ea typeface="Cambria Math" panose="02040503050406030204" pitchFamily="18" charset="0"/>
                          </a:rPr>
                          <m:t>𝜈</m:t>
                        </m:r>
                      </m:e>
                      <m:sub>
                        <m:r>
                          <a:rPr lang="en-US" i="1">
                            <a:solidFill>
                              <a:prstClr val="black"/>
                            </a:solidFill>
                            <a:latin typeface="Cambria Math" panose="02040503050406030204" pitchFamily="18" charset="0"/>
                            <a:ea typeface="Cambria Math" panose="02040503050406030204" pitchFamily="18" charset="0"/>
                          </a:rPr>
                          <m:t>0</m:t>
                        </m:r>
                      </m:sub>
                    </m:sSub>
                  </m:oMath>
                </a14:m>
                <a:r>
                  <a:rPr lang="en-US" dirty="0"/>
                  <a:t> can not produce any photoelectron.</a:t>
                </a:r>
              </a:p>
              <a:p>
                <a:pPr algn="just"/>
                <a:endParaRPr lang="en-US" dirty="0"/>
              </a:p>
            </p:txBody>
          </p:sp>
        </mc:Choice>
        <mc:Fallback xmlns="">
          <p:sp>
            <p:nvSpPr>
              <p:cNvPr id="5" name="TextBox 4">
                <a:extLst>
                  <a:ext uri="{FF2B5EF4-FFF2-40B4-BE49-F238E27FC236}">
                    <a16:creationId xmlns:a16="http://schemas.microsoft.com/office/drawing/2014/main" xmlns="" xmlns:a14="http://schemas.microsoft.com/office/drawing/2010/main" id="{60B3AA17-9FCD-7219-C96C-8C923E87F0CB}"/>
                  </a:ext>
                </a:extLst>
              </p:cNvPr>
              <p:cNvSpPr txBox="1">
                <a:spLocks noRot="1" noChangeAspect="1" noMove="1" noResize="1" noEditPoints="1" noAdjustHandles="1" noChangeArrowheads="1" noChangeShapeType="1" noTextEdit="1"/>
              </p:cNvSpPr>
              <p:nvPr/>
            </p:nvSpPr>
            <p:spPr>
              <a:xfrm>
                <a:off x="941032" y="839328"/>
                <a:ext cx="9605639" cy="1477328"/>
              </a:xfrm>
              <a:prstGeom prst="rect">
                <a:avLst/>
              </a:prstGeom>
              <a:blipFill>
                <a:blip r:embed="rId2"/>
                <a:stretch>
                  <a:fillRect l="-508" t="-2479" r="-571"/>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65920685-36D6-2EEA-0D17-AAAE7A0A2768}"/>
              </a:ext>
            </a:extLst>
          </p:cNvPr>
          <p:cNvPicPr>
            <a:picLocks noChangeAspect="1"/>
          </p:cNvPicPr>
          <p:nvPr/>
        </p:nvPicPr>
        <p:blipFill>
          <a:blip r:embed="rId3"/>
          <a:stretch>
            <a:fillRect/>
          </a:stretch>
        </p:blipFill>
        <p:spPr>
          <a:xfrm>
            <a:off x="8416031" y="2316656"/>
            <a:ext cx="3503906" cy="203621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AEF847-4103-06BD-89F5-F3AE7A9325BF}"/>
                  </a:ext>
                </a:extLst>
              </p:cNvPr>
              <p:cNvSpPr txBox="1"/>
              <p:nvPr/>
            </p:nvSpPr>
            <p:spPr>
              <a:xfrm>
                <a:off x="941032" y="2743200"/>
                <a:ext cx="7182036" cy="1938992"/>
              </a:xfrm>
              <a:prstGeom prst="rect">
                <a:avLst/>
              </a:prstGeom>
              <a:noFill/>
            </p:spPr>
            <p:txBody>
              <a:bodyPr wrap="square" rtlCol="0">
                <a:spAutoFit/>
              </a:bodyPr>
              <a:lstStyle/>
              <a:p>
                <a:r>
                  <a:rPr lang="en-US" sz="2400" dirty="0"/>
                  <a:t>According to Einstein, the photoelectric effect should obey the equation </a:t>
                </a:r>
                <a14:m>
                  <m:oMath xmlns:m="http://schemas.openxmlformats.org/officeDocument/2006/math">
                    <m:r>
                      <a:rPr kumimoji="0" lang="en-US" sz="2400" b="1"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𝐡</m:t>
                    </m:r>
                    <m:r>
                      <a:rPr kumimoji="0" lang="el-GR"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𝝂</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𝑲𝑬</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𝒎𝒂𝒙</m:t>
                        </m:r>
                      </m:sub>
                    </m:s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𝒉</m:t>
                    </m:r>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𝝂</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𝟎</m:t>
                        </m:r>
                      </m:sub>
                    </m:sSub>
                  </m:oMath>
                </a14:m>
                <a:r>
                  <a:rPr lang="en-US" sz="2400" dirty="0"/>
                  <a:t>, here </a:t>
                </a:r>
                <a14:m>
                  <m:oMath xmlns:m="http://schemas.openxmlformats.org/officeDocument/2006/math">
                    <m:r>
                      <m:rPr>
                        <m:sty m:val="p"/>
                      </m:rPr>
                      <a:rPr lang="en-US" sz="2400">
                        <a:solidFill>
                          <a:prstClr val="black"/>
                        </a:solidFill>
                        <a:latin typeface="Cambria Math" panose="02040503050406030204" pitchFamily="18" charset="0"/>
                        <a:ea typeface="Cambria Math" panose="02040503050406030204" pitchFamily="18" charset="0"/>
                      </a:rPr>
                      <m:t>h</m:t>
                    </m:r>
                    <m:r>
                      <m:rPr>
                        <m:sty m:val="p"/>
                      </m:rPr>
                      <a:rPr lang="el-GR" sz="2400" i="1">
                        <a:solidFill>
                          <a:prstClr val="black"/>
                        </a:solidFill>
                        <a:latin typeface="Cambria Math" panose="02040503050406030204" pitchFamily="18" charset="0"/>
                        <a:ea typeface="Cambria Math" panose="02040503050406030204" pitchFamily="18" charset="0"/>
                      </a:rPr>
                      <m:t>ν</m:t>
                    </m:r>
                  </m:oMath>
                </a14:m>
                <a:r>
                  <a:rPr lang="en-US" sz="2400" dirty="0"/>
                  <a:t> is the incident photon energy.</a:t>
                </a:r>
              </a:p>
              <a:p>
                <a:r>
                  <a:rPr lang="en-US" sz="2400" dirty="0"/>
                  <a:t>One can write </a:t>
                </a:r>
                <a14:m>
                  <m:oMath xmlns:m="http://schemas.openxmlformats.org/officeDocument/2006/math">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𝑲𝑬</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𝒎𝒂𝒙</m:t>
                        </m:r>
                      </m:sub>
                    </m:s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𝒉</m:t>
                    </m:r>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lang="el-GR" sz="2400" b="1" i="1">
                        <a:solidFill>
                          <a:prstClr val="black"/>
                        </a:solidFill>
                        <a:latin typeface="Cambria Math" panose="02040503050406030204" pitchFamily="18" charset="0"/>
                        <a:ea typeface="Cambria Math" panose="02040503050406030204" pitchFamily="18" charset="0"/>
                      </a:rPr>
                      <m:t>𝝂</m:t>
                    </m:r>
                    <m:r>
                      <a:rPr lang="en-US" sz="2400" b="1" i="1" smtClean="0">
                        <a:solidFill>
                          <a:prstClr val="black"/>
                        </a:solidFill>
                        <a:latin typeface="Cambria Math" panose="02040503050406030204" pitchFamily="18" charset="0"/>
                        <a:ea typeface="Cambria Math" panose="02040503050406030204" pitchFamily="18" charset="0"/>
                      </a:rPr>
                      <m:t>−</m:t>
                    </m:r>
                    <m:sSub>
                      <m:sSubPr>
                        <m:ctrlP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𝝂</m:t>
                        </m:r>
                      </m:e>
                      <m: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𝟎</m:t>
                        </m:r>
                      </m:sub>
                    </m:sSub>
                    <m:r>
                      <a:rPr kumimoji="0" lang="en-US" sz="24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endParaRPr lang="en-US" sz="2400" dirty="0"/>
              </a:p>
              <a:p>
                <a:endParaRPr lang="en-US" sz="2400" dirty="0"/>
              </a:p>
            </p:txBody>
          </p:sp>
        </mc:Choice>
        <mc:Fallback xmlns="">
          <p:sp>
            <p:nvSpPr>
              <p:cNvPr id="8" name="TextBox 7">
                <a:extLst>
                  <a:ext uri="{FF2B5EF4-FFF2-40B4-BE49-F238E27FC236}">
                    <a16:creationId xmlns:a16="http://schemas.microsoft.com/office/drawing/2014/main" xmlns="" xmlns:a14="http://schemas.microsoft.com/office/drawing/2010/main" id="{9EAEF847-4103-06BD-89F5-F3AE7A9325BF}"/>
                  </a:ext>
                </a:extLst>
              </p:cNvPr>
              <p:cNvSpPr txBox="1">
                <a:spLocks noRot="1" noChangeAspect="1" noMove="1" noResize="1" noEditPoints="1" noAdjustHandles="1" noChangeArrowheads="1" noChangeShapeType="1" noTextEdit="1"/>
              </p:cNvSpPr>
              <p:nvPr/>
            </p:nvSpPr>
            <p:spPr>
              <a:xfrm>
                <a:off x="941032" y="2743200"/>
                <a:ext cx="7182036" cy="1938992"/>
              </a:xfrm>
              <a:prstGeom prst="rect">
                <a:avLst/>
              </a:prstGeom>
              <a:blipFill>
                <a:blip r:embed="rId4"/>
                <a:stretch>
                  <a:fillRect l="-1272" t="-2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E460BE5-857F-84BC-AB4F-F3D555BBC6F5}"/>
                  </a:ext>
                </a:extLst>
              </p:cNvPr>
              <p:cNvSpPr txBox="1"/>
              <p:nvPr/>
            </p:nvSpPr>
            <p:spPr>
              <a:xfrm>
                <a:off x="681730" y="4660777"/>
                <a:ext cx="10868119" cy="1890518"/>
              </a:xfrm>
              <a:prstGeom prst="rect">
                <a:avLst/>
              </a:prstGeom>
              <a:noFill/>
            </p:spPr>
            <p:txBody>
              <a:bodyPr wrap="square" rtlCol="0">
                <a:spAutoFit/>
              </a:bodyPr>
              <a:lstStyle/>
              <a:p>
                <a:r>
                  <a:rPr lang="en-US" sz="2000" dirty="0"/>
                  <a:t>Photon energy in eV in terms of frequency  </a:t>
                </a:r>
                <a14:m>
                  <m:oMath xmlns:m="http://schemas.openxmlformats.org/officeDocument/2006/math">
                    <m:r>
                      <a:rPr lang="en-US" sz="2000" b="0" i="1" smtClean="0">
                        <a:latin typeface="Cambria Math" panose="02040503050406030204" pitchFamily="18" charset="0"/>
                      </a:rPr>
                      <m:t>𝐸</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6</m:t>
                                </m:r>
                                <m:r>
                                  <a:rPr lang="en-US" sz="2000" b="0" i="1" smtClean="0">
                                    <a:latin typeface="Cambria Math" panose="02040503050406030204" pitchFamily="18" charset="0"/>
                                  </a:rPr>
                                  <m:t>.</m:t>
                                </m:r>
                                <m:r>
                                  <a:rPr lang="en-US" sz="2000" b="0" i="1" smtClean="0">
                                    <a:latin typeface="Cambria Math" panose="02040503050406030204" pitchFamily="18" charset="0"/>
                                  </a:rPr>
                                  <m:t>626</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rPr>
                                  <m:t>−</m:t>
                                </m:r>
                                <m:r>
                                  <a:rPr lang="en-US" sz="2000" b="0" i="1" smtClean="0">
                                    <a:latin typeface="Cambria Math" panose="02040503050406030204" pitchFamily="18" charset="0"/>
                                  </a:rPr>
                                  <m:t>34</m:t>
                                </m:r>
                              </m:sup>
                            </m:sSup>
                            <m:r>
                              <a:rPr lang="en-US" sz="2000" b="0" i="1" smtClean="0">
                                <a:latin typeface="Cambria Math" panose="02040503050406030204" pitchFamily="18" charset="0"/>
                              </a:rPr>
                              <m:t>𝐽</m:t>
                            </m:r>
                            <m:r>
                              <a:rPr lang="en-US" sz="2000" b="0" i="1" smtClean="0">
                                <a:latin typeface="Cambria Math" panose="02040503050406030204" pitchFamily="18" charset="0"/>
                              </a:rPr>
                              <m:t>.</m:t>
                            </m:r>
                            <m:r>
                              <a:rPr lang="en-US" sz="2000" b="0" i="1" smtClean="0">
                                <a:latin typeface="Cambria Math" panose="02040503050406030204" pitchFamily="18" charset="0"/>
                              </a:rPr>
                              <m:t>𝑠</m:t>
                            </m:r>
                          </m:num>
                          <m:den>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1</m:t>
                                    </m:r>
                                    <m:r>
                                      <a:rPr lang="en-US" sz="2000" b="0" i="1" smtClean="0">
                                        <a:latin typeface="Cambria Math" panose="02040503050406030204" pitchFamily="18" charset="0"/>
                                      </a:rPr>
                                      <m:t>.</m:t>
                                    </m:r>
                                    <m:r>
                                      <a:rPr lang="en-US" sz="2000" b="0" i="1" smtClean="0">
                                        <a:latin typeface="Cambria Math" panose="02040503050406030204" pitchFamily="18" charset="0"/>
                                      </a:rPr>
                                      <m:t>602</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rPr>
                                      <m:t>−</m:t>
                                    </m:r>
                                    <m:r>
                                      <a:rPr lang="en-US" sz="2000" b="0" i="1" smtClean="0">
                                        <a:latin typeface="Cambria Math" panose="02040503050406030204" pitchFamily="18" charset="0"/>
                                      </a:rPr>
                                      <m:t>19</m:t>
                                    </m:r>
                                  </m:sup>
                                </m:sSup>
                                <m:r>
                                  <a:rPr lang="en-US" sz="2000" b="0" i="1" smtClean="0">
                                    <a:latin typeface="Cambria Math" panose="02040503050406030204" pitchFamily="18" charset="0"/>
                                  </a:rPr>
                                  <m:t>𝐽</m:t>
                                </m:r>
                              </m:num>
                              <m:den>
                                <m:r>
                                  <a:rPr lang="en-US" sz="2000" b="0" i="1" smtClean="0">
                                    <a:latin typeface="Cambria Math" panose="02040503050406030204" pitchFamily="18" charset="0"/>
                                  </a:rPr>
                                  <m:t>𝑒𝑉</m:t>
                                </m:r>
                              </m:den>
                            </m:f>
                          </m:den>
                        </m:f>
                      </m:e>
                    </m:d>
                    <m:r>
                      <a:rPr lang="en-US" sz="2000" b="0" i="1" smtClean="0">
                        <a:latin typeface="Cambria Math" panose="02040503050406030204" pitchFamily="18" charset="0"/>
                        <a:ea typeface="Cambria Math" panose="02040503050406030204" pitchFamily="18" charset="0"/>
                      </a:rPr>
                      <m:t>𝜈</m:t>
                    </m:r>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136</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10</m:t>
                        </m:r>
                      </m:e>
                      <m: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15</m:t>
                        </m:r>
                      </m:sup>
                    </m:sSup>
                    <m:r>
                      <a:rPr lang="en-US" sz="2000" b="0" i="1" smtClean="0">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𝜈</m:t>
                    </m:r>
                    <m:r>
                      <a:rPr lang="en-US" sz="2000" b="0" i="1" smtClean="0">
                        <a:solidFill>
                          <a:prstClr val="black"/>
                        </a:solidFill>
                        <a:latin typeface="Cambria Math" panose="02040503050406030204" pitchFamily="18" charset="0"/>
                        <a:ea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𝑒𝑉</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𝑠</m:t>
                    </m:r>
                  </m:oMath>
                </a14:m>
                <a:endParaRPr lang="en-US" sz="2000" dirty="0"/>
              </a:p>
              <a:p>
                <a:endParaRPr lang="en-US" sz="2000" dirty="0"/>
              </a:p>
              <a:p>
                <a:pPr lvl="0">
                  <a:defRPr/>
                </a:pPr>
                <a:r>
                  <a:rPr kumimoji="0" lang="en-US" sz="2000" b="0" i="0" u="none" strike="noStrike" kern="1200" cap="none" spc="0" normalizeH="0" baseline="0" noProof="0" dirty="0">
                    <a:ln>
                      <a:noFill/>
                    </a:ln>
                    <a:solidFill>
                      <a:prstClr val="black"/>
                    </a:solidFill>
                    <a:effectLst/>
                    <a:uLnTx/>
                    <a:uFillTx/>
                    <a:latin typeface="Calibri" panose="020F0502020204030204"/>
                  </a:rPr>
                  <a:t>Photon energy in eV in terms of wavelength  </a:t>
                </a:r>
                <a14:m>
                  <m:oMath xmlns:m="http://schemas.openxmlformats.org/officeDocument/2006/math">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𝐸</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m:t>
                    </m:r>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ctrlPr>
                      </m:dPr>
                      <m:e>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ctrlPr>
                          </m:fPr>
                          <m:num>
                            <m:sSup>
                              <m:sSupPr>
                                <m:ctrlPr>
                                  <a:rPr lang="en-US" sz="2000" i="1">
                                    <a:solidFill>
                                      <a:prstClr val="black"/>
                                    </a:solidFill>
                                    <a:latin typeface="Cambria Math" panose="02040503050406030204" pitchFamily="18" charset="0"/>
                                    <a:ea typeface="Cambria Math" panose="02040503050406030204" pitchFamily="18" charset="0"/>
                                  </a:rPr>
                                </m:ctrlPr>
                              </m:sSupPr>
                              <m:e>
                                <m:r>
                                  <a:rPr lang="en-US" sz="2000" i="1">
                                    <a:solidFill>
                                      <a:prstClr val="black"/>
                                    </a:solidFill>
                                    <a:latin typeface="Cambria Math" panose="02040503050406030204" pitchFamily="18" charset="0"/>
                                    <a:ea typeface="Cambria Math" panose="02040503050406030204" pitchFamily="18" charset="0"/>
                                  </a:rPr>
                                  <m:t>4</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136</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10</m:t>
                                </m:r>
                              </m:e>
                              <m:sup>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15</m:t>
                                </m:r>
                              </m:sup>
                            </m:sSup>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den>
                        </m:f>
                      </m:e>
                    </m:d>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ctrlPr>
                      </m:dPr>
                      <m:e>
                        <m:sSup>
                          <m:sSup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2</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998</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rPr>
                              <m:t>8</m:t>
                            </m:r>
                          </m:sup>
                        </m:sSup>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f>
                      <m:f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sSup>
                          <m:sSup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240</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6</m:t>
                            </m:r>
                          </m:sup>
                        </m:sSup>
                      </m:num>
                      <m:den>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den>
                    </m:f>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𝑒𝑉</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𝑚</m:t>
                    </m:r>
                  </m:oMath>
                </a14:m>
                <a:endParaRPr kumimoji="0" lang="en-US" sz="2000" b="0" i="0" u="none" strike="noStrike" kern="1200" cap="none" spc="0" normalizeH="0" baseline="0" noProof="0" dirty="0">
                  <a:ln>
                    <a:noFill/>
                  </a:ln>
                  <a:solidFill>
                    <a:prstClr val="black"/>
                  </a:solidFill>
                  <a:effectLst/>
                  <a:uLnTx/>
                  <a:uFillTx/>
                  <a:latin typeface="Calibri" panose="020F0502020204030204"/>
                </a:endParaRPr>
              </a:p>
              <a:p>
                <a:endParaRPr lang="en-US" sz="2000" dirty="0"/>
              </a:p>
            </p:txBody>
          </p:sp>
        </mc:Choice>
        <mc:Fallback xmlns="">
          <p:sp>
            <p:nvSpPr>
              <p:cNvPr id="11" name="TextBox 10">
                <a:extLst>
                  <a:ext uri="{FF2B5EF4-FFF2-40B4-BE49-F238E27FC236}">
                    <a16:creationId xmlns:a16="http://schemas.microsoft.com/office/drawing/2014/main" xmlns="" xmlns:a14="http://schemas.microsoft.com/office/drawing/2010/main" id="{4E460BE5-857F-84BC-AB4F-F3D555BBC6F5}"/>
                  </a:ext>
                </a:extLst>
              </p:cNvPr>
              <p:cNvSpPr txBox="1">
                <a:spLocks noRot="1" noChangeAspect="1" noMove="1" noResize="1" noEditPoints="1" noAdjustHandles="1" noChangeArrowheads="1" noChangeShapeType="1" noTextEdit="1"/>
              </p:cNvSpPr>
              <p:nvPr/>
            </p:nvSpPr>
            <p:spPr>
              <a:xfrm>
                <a:off x="681730" y="4660777"/>
                <a:ext cx="10868119" cy="1890518"/>
              </a:xfrm>
              <a:prstGeom prst="rect">
                <a:avLst/>
              </a:prstGeom>
              <a:blipFill>
                <a:blip r:embed="rId5"/>
                <a:stretch>
                  <a:fillRect l="-617"/>
                </a:stretch>
              </a:blipFill>
            </p:spPr>
            <p:txBody>
              <a:bodyPr/>
              <a:lstStyle/>
              <a:p>
                <a:r>
                  <a:rPr lang="en-US">
                    <a:noFill/>
                  </a:rPr>
                  <a:t> </a:t>
                </a:r>
              </a:p>
            </p:txBody>
          </p:sp>
        </mc:Fallback>
      </mc:AlternateContent>
    </p:spTree>
    <p:extLst>
      <p:ext uri="{BB962C8B-B14F-4D97-AF65-F5344CB8AC3E}">
        <p14:creationId xmlns:p14="http://schemas.microsoft.com/office/powerpoint/2010/main" val="470676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89EF19-C7A6-29CB-E5E0-DE487B3D094E}"/>
              </a:ext>
            </a:extLst>
          </p:cNvPr>
          <p:cNvSpPr txBox="1"/>
          <p:nvPr/>
        </p:nvSpPr>
        <p:spPr>
          <a:xfrm>
            <a:off x="1819922" y="124288"/>
            <a:ext cx="9703294" cy="830997"/>
          </a:xfrm>
          <a:prstGeom prst="rect">
            <a:avLst/>
          </a:prstGeom>
          <a:noFill/>
        </p:spPr>
        <p:txBody>
          <a:bodyPr wrap="square" rtlCol="0">
            <a:spAutoFit/>
          </a:bodyPr>
          <a:lstStyle/>
          <a:p>
            <a:r>
              <a:rPr lang="en-US" sz="2400" dirty="0">
                <a:solidFill>
                  <a:srgbClr val="FF0000"/>
                </a:solidFill>
              </a:rPr>
              <a:t>Ultraviolet light of wavelength 350 nm and intensity 1.00 W/m</a:t>
            </a:r>
            <a:r>
              <a:rPr lang="en-US" sz="2400" baseline="30000" dirty="0">
                <a:solidFill>
                  <a:srgbClr val="FF0000"/>
                </a:solidFill>
              </a:rPr>
              <a:t>2</a:t>
            </a:r>
            <a:r>
              <a:rPr lang="en-US" sz="2400" dirty="0">
                <a:solidFill>
                  <a:srgbClr val="FF0000"/>
                </a:solidFill>
              </a:rPr>
              <a:t> is directed at a potassium surface. Find the maximum KE of the photoelectrons.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C37D7E-F5FE-9DD1-9A87-B44A76618FFC}"/>
                  </a:ext>
                </a:extLst>
              </p:cNvPr>
              <p:cNvSpPr txBox="1"/>
              <p:nvPr/>
            </p:nvSpPr>
            <p:spPr>
              <a:xfrm>
                <a:off x="1748902" y="1620428"/>
                <a:ext cx="9374819" cy="1254574"/>
              </a:xfrm>
              <a:prstGeom prst="rect">
                <a:avLst/>
              </a:prstGeom>
              <a:noFill/>
            </p:spPr>
            <p:txBody>
              <a:bodyPr wrap="square" rtlCol="0">
                <a:spAutoFit/>
              </a:bodyPr>
              <a:lstStyle/>
              <a:p>
                <a:pPr lvl="0"/>
                <a:r>
                  <a:rPr lang="en-US" dirty="0"/>
                  <a:t>(a) We know the photon energy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24</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rPr>
                              <m:t>−</m:t>
                            </m:r>
                            <m:r>
                              <a:rPr lang="en-US" b="0" i="1" smtClean="0">
                                <a:latin typeface="Cambria Math" panose="02040503050406030204" pitchFamily="18" charset="0"/>
                              </a:rPr>
                              <m:t>6</m:t>
                            </m:r>
                          </m:sup>
                        </m:sSup>
                      </m:num>
                      <m:den>
                        <m:r>
                          <a:rPr lang="en-US" b="0" i="1" smtClean="0">
                            <a:latin typeface="Cambria Math" panose="02040503050406030204" pitchFamily="18" charset="0"/>
                          </a:rPr>
                          <m:t>350</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9</m:t>
                            </m:r>
                          </m:sup>
                        </m:sSup>
                      </m:den>
                    </m:f>
                    <m:r>
                      <a:rPr lang="en-US" b="0" i="1" smtClean="0">
                        <a:latin typeface="Cambria Math" panose="02040503050406030204" pitchFamily="18" charset="0"/>
                      </a:rPr>
                      <m:t>=</m:t>
                    </m:r>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5</m:t>
                    </m:r>
                    <m:r>
                      <a:rPr lang="en-US" b="0" i="1" smtClean="0">
                        <a:latin typeface="Cambria Math" panose="02040503050406030204" pitchFamily="18" charset="0"/>
                      </a:rPr>
                      <m:t> </m:t>
                    </m:r>
                    <m:r>
                      <a:rPr lang="en-US" b="0" i="1" smtClean="0">
                        <a:latin typeface="Cambria Math" panose="02040503050406030204" pitchFamily="18" charset="0"/>
                      </a:rPr>
                      <m:t>𝑒𝑉</m:t>
                    </m:r>
                  </m:oMath>
                </a14:m>
                <a:r>
                  <a:rPr lang="en-US" dirty="0"/>
                  <a:t>, now the work function of potassium is 2.2 eV, so the kinetic energy of the emitted electron will be </a:t>
                </a:r>
                <a14:m>
                  <m:oMath xmlns:m="http://schemas.openxmlformats.org/officeDocument/2006/math">
                    <m:sSub>
                      <m:sSubPr>
                        <m:ctrlPr>
                          <a:rPr lang="en-US" sz="2400" i="1">
                            <a:solidFill>
                              <a:prstClr val="black"/>
                            </a:solidFill>
                            <a:latin typeface="Cambria Math" panose="02040503050406030204" pitchFamily="18" charset="0"/>
                            <a:ea typeface="Cambria Math" panose="02040503050406030204" pitchFamily="18" charset="0"/>
                          </a:rPr>
                        </m:ctrlPr>
                      </m:sSubPr>
                      <m:e>
                        <m:r>
                          <a:rPr lang="en-US" sz="2400" b="0" i="1">
                            <a:solidFill>
                              <a:prstClr val="black"/>
                            </a:solidFill>
                            <a:latin typeface="Cambria Math" panose="02040503050406030204" pitchFamily="18" charset="0"/>
                            <a:ea typeface="Cambria Math" panose="02040503050406030204" pitchFamily="18" charset="0"/>
                          </a:rPr>
                          <m:t>𝐾𝐸</m:t>
                        </m:r>
                      </m:e>
                      <m:sub>
                        <m:r>
                          <a:rPr lang="en-US" sz="2400" b="0" i="1">
                            <a:solidFill>
                              <a:prstClr val="black"/>
                            </a:solidFill>
                            <a:latin typeface="Cambria Math" panose="02040503050406030204" pitchFamily="18" charset="0"/>
                            <a:ea typeface="Cambria Math" panose="02040503050406030204" pitchFamily="18" charset="0"/>
                          </a:rPr>
                          <m:t>𝑚𝑎𝑥</m:t>
                        </m:r>
                      </m:sub>
                    </m:sSub>
                    <m:r>
                      <a:rPr lang="en-US" sz="2400" b="0" i="1">
                        <a:solidFill>
                          <a:prstClr val="black"/>
                        </a:solidFill>
                        <a:latin typeface="Cambria Math" panose="02040503050406030204" pitchFamily="18" charset="0"/>
                        <a:ea typeface="Cambria Math" panose="02040503050406030204" pitchFamily="18" charset="0"/>
                      </a:rPr>
                      <m:t>=</m:t>
                    </m:r>
                    <m:r>
                      <a:rPr lang="en-US" sz="2400" b="0" i="1">
                        <a:solidFill>
                          <a:prstClr val="black"/>
                        </a:solidFill>
                        <a:latin typeface="Cambria Math" panose="02040503050406030204" pitchFamily="18" charset="0"/>
                        <a:ea typeface="Cambria Math" panose="02040503050406030204" pitchFamily="18" charset="0"/>
                      </a:rPr>
                      <m:t>h</m:t>
                    </m:r>
                    <m:r>
                      <a:rPr lang="el-GR" sz="2400" b="0" i="1">
                        <a:solidFill>
                          <a:prstClr val="black"/>
                        </a:solidFill>
                        <a:latin typeface="Cambria Math" panose="02040503050406030204" pitchFamily="18" charset="0"/>
                        <a:ea typeface="Cambria Math" panose="02040503050406030204" pitchFamily="18" charset="0"/>
                      </a:rPr>
                      <m:t>𝜈</m:t>
                    </m:r>
                    <m:r>
                      <a:rPr lang="en-US" sz="2400" b="0" i="1">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𝜙</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3</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5</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2</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2</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1</m:t>
                    </m:r>
                    <m:r>
                      <a:rPr lang="en-US" sz="2400" b="0" i="1" smtClean="0">
                        <a:solidFill>
                          <a:prstClr val="black"/>
                        </a:solidFill>
                        <a:latin typeface="Cambria Math" panose="02040503050406030204" pitchFamily="18" charset="0"/>
                        <a:ea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3</m:t>
                    </m:r>
                    <m:r>
                      <a:rPr lang="en-US" sz="2400" b="0" i="1" smtClean="0">
                        <a:solidFill>
                          <a:prstClr val="black"/>
                        </a:solidFill>
                        <a:latin typeface="Cambria Math" panose="02040503050406030204" pitchFamily="18" charset="0"/>
                        <a:ea typeface="Cambria Math" panose="02040503050406030204" pitchFamily="18" charset="0"/>
                      </a:rPr>
                      <m:t> </m:t>
                    </m:r>
                    <m:r>
                      <a:rPr lang="en-US" sz="2400" b="0" i="1" smtClean="0">
                        <a:solidFill>
                          <a:prstClr val="black"/>
                        </a:solidFill>
                        <a:latin typeface="Cambria Math" panose="02040503050406030204" pitchFamily="18" charset="0"/>
                        <a:ea typeface="Cambria Math" panose="02040503050406030204" pitchFamily="18" charset="0"/>
                      </a:rPr>
                      <m:t>𝑒𝑉</m:t>
                    </m:r>
                  </m:oMath>
                </a14:m>
                <a:endParaRPr lang="en-US" dirty="0"/>
              </a:p>
            </p:txBody>
          </p:sp>
        </mc:Choice>
        <mc:Fallback xmlns="">
          <p:sp>
            <p:nvSpPr>
              <p:cNvPr id="9" name="TextBox 8">
                <a:extLst>
                  <a:ext uri="{FF2B5EF4-FFF2-40B4-BE49-F238E27FC236}">
                    <a16:creationId xmlns:a16="http://schemas.microsoft.com/office/drawing/2014/main" xmlns="" xmlns:a14="http://schemas.microsoft.com/office/drawing/2010/main" id="{86C37D7E-F5FE-9DD1-9A87-B44A76618FFC}"/>
                  </a:ext>
                </a:extLst>
              </p:cNvPr>
              <p:cNvSpPr txBox="1">
                <a:spLocks noRot="1" noChangeAspect="1" noMove="1" noResize="1" noEditPoints="1" noAdjustHandles="1" noChangeArrowheads="1" noChangeShapeType="1" noTextEdit="1"/>
              </p:cNvSpPr>
              <p:nvPr/>
            </p:nvSpPr>
            <p:spPr>
              <a:xfrm>
                <a:off x="1748902" y="1620428"/>
                <a:ext cx="9374819" cy="1254574"/>
              </a:xfrm>
              <a:prstGeom prst="rect">
                <a:avLst/>
              </a:prstGeom>
              <a:blipFill>
                <a:blip r:embed="rId2"/>
                <a:stretch>
                  <a:fillRect l="-585"/>
                </a:stretch>
              </a:blipFill>
            </p:spPr>
            <p:txBody>
              <a:bodyPr/>
              <a:lstStyle/>
              <a:p>
                <a:r>
                  <a:rPr lang="en-US">
                    <a:noFill/>
                  </a:rPr>
                  <a:t> </a:t>
                </a:r>
              </a:p>
            </p:txBody>
          </p:sp>
        </mc:Fallback>
      </mc:AlternateContent>
    </p:spTree>
    <p:extLst>
      <p:ext uri="{BB962C8B-B14F-4D97-AF65-F5344CB8AC3E}">
        <p14:creationId xmlns:p14="http://schemas.microsoft.com/office/powerpoint/2010/main" val="315608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81CBC7-C850-5551-C468-30E207655C51}"/>
                  </a:ext>
                </a:extLst>
              </p:cNvPr>
              <p:cNvSpPr txBox="1"/>
              <p:nvPr/>
            </p:nvSpPr>
            <p:spPr>
              <a:xfrm>
                <a:off x="142042" y="646331"/>
                <a:ext cx="11907915" cy="6379310"/>
              </a:xfrm>
              <a:prstGeom prst="rect">
                <a:avLst/>
              </a:prstGeom>
              <a:noFill/>
            </p:spPr>
            <p:txBody>
              <a:bodyPr wrap="square" rtlCol="0">
                <a:spAutoFit/>
              </a:bodyPr>
              <a:lstStyle/>
              <a:p>
                <a:pPr marL="342900" indent="-342900" algn="just">
                  <a:buAutoNum type="arabicPeriod"/>
                </a:pPr>
                <a:r>
                  <a:rPr lang="en-US" sz="2400" dirty="0"/>
                  <a:t>The maximum wavelength for photoelectric emission in tungsten is 230 nm. What wavelength of light must be used in order for electrons with maximum energy of 1.5 eV to be ejected?</a:t>
                </a:r>
              </a:p>
              <a:p>
                <a:pPr marL="342900" indent="-342900" algn="just">
                  <a:buAutoNum type="arabicPeriod"/>
                </a:pPr>
                <a:r>
                  <a:rPr lang="en-US" sz="2400" dirty="0"/>
                  <a:t>The minimum frequency for photoelectric emission in copper is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15</m:t>
                        </m:r>
                      </m:sup>
                    </m:sSup>
                  </m:oMath>
                </a14:m>
                <a:r>
                  <a:rPr lang="en-US" sz="2400" dirty="0"/>
                  <a:t> Hz. Find the maximum energy of the photoelectrons (in </a:t>
                </a:r>
                <a:r>
                  <a:rPr lang="en-US" sz="2400" dirty="0" err="1"/>
                  <a:t>electronvolts</a:t>
                </a:r>
                <a:r>
                  <a:rPr lang="en-US" sz="2400" dirty="0"/>
                  <a:t>) when light of frequency </a:t>
                </a:r>
                <a14:m>
                  <m:oMath xmlns:m="http://schemas.openxmlformats.org/officeDocument/2006/math">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1</m:t>
                        </m:r>
                        <m:r>
                          <a:rPr lang="en-US" sz="2400" i="1">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5</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rPr>
                          <m:t>1</m:t>
                        </m:r>
                        <m:r>
                          <a:rPr lang="en-US" sz="2400" b="0" i="1" smtClean="0">
                            <a:solidFill>
                              <a:prstClr val="black"/>
                            </a:solidFill>
                            <a:latin typeface="Cambria Math" panose="02040503050406030204" pitchFamily="18" charset="0"/>
                          </a:rPr>
                          <m:t>5</m:t>
                        </m:r>
                      </m:sup>
                    </m:sSup>
                  </m:oMath>
                </a14:m>
                <a:r>
                  <a:rPr lang="en-US" sz="2400" dirty="0"/>
                  <a:t> Hz is directed on a copper surface?</a:t>
                </a:r>
              </a:p>
              <a:p>
                <a:pPr marL="342900" indent="-342900" algn="just">
                  <a:buAutoNum type="arabicPeriod"/>
                </a:pPr>
                <a:r>
                  <a:rPr lang="en-US" sz="2400" dirty="0"/>
                  <a:t>What is the maximum wavelength of light that will cause photoelectrons to be emitted from sodium? What will the maximum kinetic energy of the photoelectrons be if 200-nm light falls on a sodium surface? (work function for sodium is 2.3 eV).</a:t>
                </a:r>
              </a:p>
              <a:p>
                <a:pPr marL="342900" indent="-342900" algn="just">
                  <a:buAutoNum type="arabicPeriod"/>
                </a:pPr>
                <a:r>
                  <a:rPr lang="en-US" sz="2400" dirty="0"/>
                  <a:t>A metal surface illuminated by </a:t>
                </a:r>
                <a14:m>
                  <m:oMath xmlns:m="http://schemas.openxmlformats.org/officeDocument/2006/math">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8</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14</m:t>
                        </m:r>
                      </m:sup>
                    </m:sSup>
                  </m:oMath>
                </a14:m>
                <a:r>
                  <a:rPr lang="en-US" sz="2400" dirty="0"/>
                  <a:t>Hz light emits electrons whose maximum energy is 0.52 eV. The same surface illuminated by </a:t>
                </a:r>
                <a14:m>
                  <m:oMath xmlns:m="http://schemas.openxmlformats.org/officeDocument/2006/math">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1</m:t>
                        </m:r>
                        <m:r>
                          <a:rPr lang="en-US" sz="2400" b="0" i="1" smtClean="0">
                            <a:solidFill>
                              <a:prstClr val="black"/>
                            </a:solidFill>
                            <a:latin typeface="Cambria Math" panose="02040503050406030204" pitchFamily="18" charset="0"/>
                          </a:rPr>
                          <m:t>2</m:t>
                        </m:r>
                        <m:r>
                          <a:rPr lang="en-US" sz="2400" i="1">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0</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rPr>
                          <m:t>1</m:t>
                        </m:r>
                        <m:r>
                          <a:rPr lang="en-US" sz="2400" b="0" i="1" smtClean="0">
                            <a:solidFill>
                              <a:prstClr val="black"/>
                            </a:solidFill>
                            <a:latin typeface="Cambria Math" panose="02040503050406030204" pitchFamily="18" charset="0"/>
                          </a:rPr>
                          <m:t>4</m:t>
                        </m:r>
                      </m:sup>
                    </m:sSup>
                  </m:oMath>
                </a14:m>
                <a:r>
                  <a:rPr lang="en-US" sz="2400" dirty="0"/>
                  <a:t>Hz light emits electrons whose maximum energy is 1.97 eV. From these data find Planck’s constant and the work function of the surface.</a:t>
                </a:r>
              </a:p>
              <a:p>
                <a:pPr marL="342900" indent="-342900" algn="just">
                  <a:buAutoNum type="arabicPeriod"/>
                </a:pPr>
                <a:r>
                  <a:rPr lang="en-US" sz="2400" dirty="0"/>
                  <a:t>The work function of a tungsten surface is 5.4 eV. When the surface is illuminated by light of wavelength 175 nm, the maximum photoelectron energy is 1.7 eV. Find the Planck’s constant from these data.</a:t>
                </a:r>
              </a:p>
              <a:p>
                <a:pPr marL="342900" indent="-342900" algn="just">
                  <a:buAutoNum type="arabicPeriod"/>
                </a:pPr>
                <a:endParaRPr lang="en-US" sz="2400" dirty="0"/>
              </a:p>
            </p:txBody>
          </p:sp>
        </mc:Choice>
        <mc:Fallback xmlns="">
          <p:sp>
            <p:nvSpPr>
              <p:cNvPr id="4" name="TextBox 3">
                <a:extLst>
                  <a:ext uri="{FF2B5EF4-FFF2-40B4-BE49-F238E27FC236}">
                    <a16:creationId xmlns:a16="http://schemas.microsoft.com/office/drawing/2014/main" xmlns="" xmlns:a14="http://schemas.microsoft.com/office/drawing/2010/main" id="{FB81CBC7-C850-5551-C468-30E207655C51}"/>
                  </a:ext>
                </a:extLst>
              </p:cNvPr>
              <p:cNvSpPr txBox="1">
                <a:spLocks noRot="1" noChangeAspect="1" noMove="1" noResize="1" noEditPoints="1" noAdjustHandles="1" noChangeArrowheads="1" noChangeShapeType="1" noTextEdit="1"/>
              </p:cNvSpPr>
              <p:nvPr/>
            </p:nvSpPr>
            <p:spPr>
              <a:xfrm>
                <a:off x="142042" y="646331"/>
                <a:ext cx="11907915" cy="6379310"/>
              </a:xfrm>
              <a:prstGeom prst="rect">
                <a:avLst/>
              </a:prstGeom>
              <a:blipFill>
                <a:blip r:embed="rId2"/>
                <a:stretch>
                  <a:fillRect l="-819" t="-860" r="-76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F8E4D8C-F686-7CCD-F260-6A711A6037E0}"/>
              </a:ext>
            </a:extLst>
          </p:cNvPr>
          <p:cNvSpPr txBox="1"/>
          <p:nvPr/>
        </p:nvSpPr>
        <p:spPr>
          <a:xfrm>
            <a:off x="4669654" y="0"/>
            <a:ext cx="2565647" cy="646331"/>
          </a:xfrm>
          <a:prstGeom prst="rect">
            <a:avLst/>
          </a:prstGeom>
          <a:noFill/>
        </p:spPr>
        <p:txBody>
          <a:bodyPr wrap="square" rtlCol="0">
            <a:spAutoFit/>
          </a:bodyPr>
          <a:lstStyle/>
          <a:p>
            <a:r>
              <a:rPr lang="en-US" sz="3600" dirty="0"/>
              <a:t>Problem Set</a:t>
            </a:r>
          </a:p>
        </p:txBody>
      </p:sp>
    </p:spTree>
    <p:extLst>
      <p:ext uri="{BB962C8B-B14F-4D97-AF65-F5344CB8AC3E}">
        <p14:creationId xmlns:p14="http://schemas.microsoft.com/office/powerpoint/2010/main" val="480304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38CBF7-7EBC-5270-EAD6-30F2794C4F85}"/>
              </a:ext>
            </a:extLst>
          </p:cNvPr>
          <p:cNvSpPr txBox="1"/>
          <p:nvPr/>
        </p:nvSpPr>
        <p:spPr>
          <a:xfrm>
            <a:off x="4438835" y="-97654"/>
            <a:ext cx="3471169" cy="646331"/>
          </a:xfrm>
          <a:prstGeom prst="rect">
            <a:avLst/>
          </a:prstGeom>
          <a:noFill/>
        </p:spPr>
        <p:txBody>
          <a:bodyPr wrap="square" rtlCol="0">
            <a:spAutoFit/>
          </a:bodyPr>
          <a:lstStyle/>
          <a:p>
            <a:r>
              <a:rPr lang="en-US" sz="3600" dirty="0"/>
              <a:t>Compton Effect</a:t>
            </a:r>
          </a:p>
        </p:txBody>
      </p:sp>
      <p:sp>
        <p:nvSpPr>
          <p:cNvPr id="3" name="TextBox 2">
            <a:extLst>
              <a:ext uri="{FF2B5EF4-FFF2-40B4-BE49-F238E27FC236}">
                <a16:creationId xmlns:a16="http://schemas.microsoft.com/office/drawing/2014/main" id="{80DD562B-55B4-4803-1E98-2062CB5D4986}"/>
              </a:ext>
            </a:extLst>
          </p:cNvPr>
          <p:cNvSpPr txBox="1"/>
          <p:nvPr/>
        </p:nvSpPr>
        <p:spPr>
          <a:xfrm>
            <a:off x="457200" y="963386"/>
            <a:ext cx="11593286" cy="1200329"/>
          </a:xfrm>
          <a:prstGeom prst="rect">
            <a:avLst/>
          </a:prstGeom>
          <a:noFill/>
        </p:spPr>
        <p:txBody>
          <a:bodyPr wrap="square" rtlCol="0">
            <a:spAutoFit/>
          </a:bodyPr>
          <a:lstStyle/>
          <a:p>
            <a:r>
              <a:rPr lang="en-US" dirty="0"/>
              <a:t>When a photon strikes an electron (assumed to be at rest ) and is scattered away from its original direction of motion while the electron receives an impulse and begins to move. This phenomenon is called Compton effect. In this case, the photon loses kinetic energy and the electron gains the same amount of energy. </a:t>
            </a:r>
          </a:p>
          <a:p>
            <a:endParaRPr lang="en-US" dirty="0"/>
          </a:p>
        </p:txBody>
      </p:sp>
      <p:pic>
        <p:nvPicPr>
          <p:cNvPr id="5" name="Picture 4">
            <a:extLst>
              <a:ext uri="{FF2B5EF4-FFF2-40B4-BE49-F238E27FC236}">
                <a16:creationId xmlns:a16="http://schemas.microsoft.com/office/drawing/2014/main" id="{C2900CAA-F231-D15D-10B3-2394ACC06A51}"/>
              </a:ext>
            </a:extLst>
          </p:cNvPr>
          <p:cNvPicPr>
            <a:picLocks noChangeAspect="1"/>
          </p:cNvPicPr>
          <p:nvPr/>
        </p:nvPicPr>
        <p:blipFill>
          <a:blip r:embed="rId2"/>
          <a:stretch>
            <a:fillRect/>
          </a:stretch>
        </p:blipFill>
        <p:spPr>
          <a:xfrm>
            <a:off x="207817" y="2379307"/>
            <a:ext cx="11776365" cy="3993502"/>
          </a:xfrm>
          <a:prstGeom prst="rect">
            <a:avLst/>
          </a:prstGeom>
        </p:spPr>
      </p:pic>
    </p:spTree>
    <p:extLst>
      <p:ext uri="{BB962C8B-B14F-4D97-AF65-F5344CB8AC3E}">
        <p14:creationId xmlns:p14="http://schemas.microsoft.com/office/powerpoint/2010/main" val="3578504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8DF71B-A7EB-D2D7-7216-BB3DB16AFD91}"/>
                  </a:ext>
                </a:extLst>
              </p:cNvPr>
              <p:cNvSpPr txBox="1"/>
              <p:nvPr/>
            </p:nvSpPr>
            <p:spPr>
              <a:xfrm>
                <a:off x="963386" y="879071"/>
                <a:ext cx="10711542" cy="5469190"/>
              </a:xfrm>
              <a:prstGeom prst="rect">
                <a:avLst/>
              </a:prstGeom>
              <a:noFill/>
            </p:spPr>
            <p:txBody>
              <a:bodyPr wrap="square" rtlCol="0">
                <a:spAutoFit/>
              </a:bodyPr>
              <a:lstStyle/>
              <a:p>
                <a:r>
                  <a:rPr lang="en-US" sz="2400" dirty="0"/>
                  <a:t>Loss of Photon energy = gain of electron energy</a:t>
                </a:r>
              </a:p>
              <a:p>
                <a:pPr algn="ctr"/>
                <a14:m>
                  <m:oMath xmlns:m="http://schemas.openxmlformats.org/officeDocument/2006/math">
                    <m:r>
                      <a:rPr lang="en-US" sz="2400" b="0" i="1" smtClean="0">
                        <a:latin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h</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𝜈</m:t>
                        </m:r>
                      </m:e>
                      <m:sup>
                        <m:r>
                          <a:rPr lang="en-US" sz="2400" b="0" i="1" smtClean="0">
                            <a:latin typeface="Cambria Math" panose="02040503050406030204" pitchFamily="18" charset="0"/>
                            <a:ea typeface="Cambria Math" panose="02040503050406030204" pitchFamily="18" charset="0"/>
                          </a:rPr>
                          <m:t>′</m:t>
                        </m:r>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𝐾𝐸</m:t>
                    </m:r>
                  </m:oMath>
                </a14:m>
                <a:r>
                  <a:rPr lang="en-US" sz="2400" dirty="0"/>
                  <a:t>                                                                               (1)</a:t>
                </a:r>
              </a:p>
              <a:p>
                <a:r>
                  <a:rPr lang="en-US" sz="2400" dirty="0"/>
                  <a:t>The momentum of massless particle is related to its energy by</a:t>
                </a:r>
              </a:p>
              <a:p>
                <a:pPr algn="ctr"/>
                <a14:m>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𝑝𝑐</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num>
                      <m:den>
                        <m:r>
                          <a:rPr lang="en-US" sz="2400" b="0" i="1" smtClean="0">
                            <a:latin typeface="Cambria Math" panose="02040503050406030204" pitchFamily="18" charset="0"/>
                          </a:rPr>
                          <m:t>𝑐</m:t>
                        </m:r>
                      </m:den>
                    </m:f>
                  </m:oMath>
                </a14:m>
                <a:r>
                  <a:rPr lang="en-US" sz="2400" dirty="0"/>
                  <a:t>                                                                           (2)</a:t>
                </a:r>
              </a:p>
              <a:p>
                <a:r>
                  <a:rPr lang="en-US" sz="2400" dirty="0"/>
                  <a:t>The collision must obey the conservation of momentum</a:t>
                </a:r>
              </a:p>
              <a:p>
                <a:pPr algn="ct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𝜈</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𝑐𝑜𝑠</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𝜙</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𝑝𝑐𝑜𝑠</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𝜃</m:t>
                    </m:r>
                  </m:oMath>
                </a14:m>
                <a:r>
                  <a:rPr lang="en-US" sz="2400" dirty="0"/>
                  <a:t>                                                          (3)</a:t>
                </a:r>
              </a:p>
              <a:p>
                <a:r>
                  <a:rPr lang="en-US" sz="2400" dirty="0"/>
                  <a:t>And along the perpendicular direction</a:t>
                </a:r>
              </a:p>
              <a:p>
                <a:pPr algn="ct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up>
                        </m:sSup>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𝑠𝑖𝑛</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𝑝𝑐𝑜𝑠</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𝜃</m:t>
                    </m:r>
                  </m:oMath>
                </a14:m>
                <a:r>
                  <a:rPr lang="en-US" sz="2400" dirty="0"/>
                  <a:t>                                                                    (4)</a:t>
                </a:r>
              </a:p>
              <a:p>
                <a:r>
                  <a:rPr lang="en-US" sz="2400" dirty="0"/>
                  <a:t>From equation (3) and (4) we can have</a:t>
                </a:r>
              </a:p>
              <a:p>
                <a:endParaRPr lang="en-US" sz="2400" dirty="0"/>
              </a:p>
              <a:p>
                <a:pPr algn="ctr"/>
                <a14:m>
                  <m:oMath xmlns:m="http://schemas.openxmlformats.org/officeDocument/2006/math">
                    <m:r>
                      <a:rPr lang="en-US" sz="2400" b="0" i="1" smtClean="0">
                        <a:latin typeface="Cambria Math" panose="02040503050406030204" pitchFamily="18" charset="0"/>
                      </a:rPr>
                      <m:t>𝑝𝑐</m:t>
                    </m:r>
                    <m:r>
                      <a:rPr lang="en-US" sz="2400" b="0" i="1" smtClean="0">
                        <a:latin typeface="Cambria Math" panose="02040503050406030204" pitchFamily="18" charset="0"/>
                      </a:rPr>
                      <m:t> </m:t>
                    </m:r>
                    <m:r>
                      <a:rPr lang="en-US" sz="2400" b="0" i="1" smtClean="0">
                        <a:latin typeface="Cambria Math" panose="02040503050406030204" pitchFamily="18" charset="0"/>
                      </a:rPr>
                      <m:t>𝑐𝑜𝑠</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e>
                      <m:sup>
                        <m:r>
                          <a:rPr lang="en-US" sz="2400" b="0" i="1" smtClean="0">
                            <a:latin typeface="Cambria Math" panose="02040503050406030204" pitchFamily="18" charset="0"/>
                            <a:ea typeface="Cambria Math" panose="02040503050406030204" pitchFamily="18" charset="0"/>
                          </a:rPr>
                          <m:t>′</m:t>
                        </m:r>
                      </m:sup>
                    </m:sSup>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𝑐𝑜𝑠</m:t>
                    </m:r>
                    <m:r>
                      <a:rPr lang="en-US" sz="2400" b="0" i="1" smtClean="0">
                        <a:latin typeface="Cambria Math" panose="02040503050406030204" pitchFamily="18" charset="0"/>
                        <a:ea typeface="Cambria Math" panose="02040503050406030204" pitchFamily="18" charset="0"/>
                      </a:rPr>
                      <m:t>𝜙</m:t>
                    </m:r>
                  </m:oMath>
                </a14:m>
                <a:r>
                  <a:rPr lang="en-US" sz="2400" dirty="0"/>
                  <a:t>  and</a:t>
                </a:r>
              </a:p>
              <a:p>
                <a:endParaRPr lang="en-US" sz="2400" dirty="0"/>
              </a:p>
              <a:p>
                <a:pPr algn="ct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𝑝𝑐</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𝑠𝑖𝑛</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𝜃</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𝑠𝑖𝑛</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𝜙</m:t>
                      </m:r>
                    </m:oMath>
                  </m:oMathPara>
                </a14:m>
                <a:endParaRPr lang="en-US" sz="2400" dirty="0"/>
              </a:p>
            </p:txBody>
          </p:sp>
        </mc:Choice>
        <mc:Fallback xmlns="">
          <p:sp>
            <p:nvSpPr>
              <p:cNvPr id="2" name="TextBox 1">
                <a:extLst>
                  <a:ext uri="{FF2B5EF4-FFF2-40B4-BE49-F238E27FC236}">
                    <a16:creationId xmlns:a16="http://schemas.microsoft.com/office/drawing/2014/main" xmlns="" xmlns:a14="http://schemas.microsoft.com/office/drawing/2010/main" id="{C28DF71B-A7EB-D2D7-7216-BB3DB16AFD91}"/>
                  </a:ext>
                </a:extLst>
              </p:cNvPr>
              <p:cNvSpPr txBox="1">
                <a:spLocks noRot="1" noChangeAspect="1" noMove="1" noResize="1" noEditPoints="1" noAdjustHandles="1" noChangeArrowheads="1" noChangeShapeType="1" noTextEdit="1"/>
              </p:cNvSpPr>
              <p:nvPr/>
            </p:nvSpPr>
            <p:spPr>
              <a:xfrm>
                <a:off x="963386" y="879071"/>
                <a:ext cx="10711542" cy="5469190"/>
              </a:xfrm>
              <a:prstGeom prst="rect">
                <a:avLst/>
              </a:prstGeom>
              <a:blipFill>
                <a:blip r:embed="rId2"/>
                <a:stretch>
                  <a:fillRect l="-854" t="-892" b="-557"/>
                </a:stretch>
              </a:blipFill>
            </p:spPr>
            <p:txBody>
              <a:bodyPr/>
              <a:lstStyle/>
              <a:p>
                <a:r>
                  <a:rPr lang="en-US">
                    <a:noFill/>
                  </a:rPr>
                  <a:t> </a:t>
                </a:r>
              </a:p>
            </p:txBody>
          </p:sp>
        </mc:Fallback>
      </mc:AlternateContent>
    </p:spTree>
    <p:extLst>
      <p:ext uri="{BB962C8B-B14F-4D97-AF65-F5344CB8AC3E}">
        <p14:creationId xmlns:p14="http://schemas.microsoft.com/office/powerpoint/2010/main" val="61991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643E6E4-D85D-FFDA-2EEA-6B28AACD8432}"/>
                  </a:ext>
                </a:extLst>
              </p:cNvPr>
              <p:cNvSpPr txBox="1"/>
              <p:nvPr/>
            </p:nvSpPr>
            <p:spPr>
              <a:xfrm>
                <a:off x="830036" y="262162"/>
                <a:ext cx="11361964" cy="6818213"/>
              </a:xfrm>
              <a:prstGeom prst="rect">
                <a:avLst/>
              </a:prstGeom>
              <a:noFill/>
            </p:spPr>
            <p:txBody>
              <a:bodyPr wrap="square" rtlCol="0">
                <a:spAutoFit/>
              </a:bodyPr>
              <a:lstStyle/>
              <a:p>
                <a:r>
                  <a:rPr lang="en-US" sz="2400" dirty="0"/>
                  <a:t>By squaring and adding the above two equations we can have</a:t>
                </a:r>
              </a:p>
              <a:p>
                <a:endParaRPr lang="en-US" sz="2400" dirty="0"/>
              </a:p>
              <a:p>
                <a:pPr algn="ct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2</m:t>
                        </m:r>
                      </m:sup>
                    </m:sSup>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r>
                          <a:rPr lang="en-US" sz="2400" b="0" i="1" smtClean="0">
                            <a:latin typeface="Cambria Math" panose="02040503050406030204" pitchFamily="18" charset="0"/>
                            <a:ea typeface="Cambria Math" panose="02040503050406030204" pitchFamily="18" charset="0"/>
                          </a:rPr>
                          <m:t>)</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r>
                      <a:rPr lang="en-US" sz="2400" b="0" i="1" smtClean="0">
                        <a:latin typeface="Cambria Math" panose="02040503050406030204" pitchFamily="18" charset="0"/>
                      </a:rPr>
                      <m:t>2</m:t>
                    </m:r>
                    <m:d>
                      <m:dPr>
                        <m:ctrlPr>
                          <a:rPr lang="en-US" sz="2400" b="0" i="1" smtClean="0">
                            <a:latin typeface="Cambria Math" panose="02040503050406030204" pitchFamily="18" charset="0"/>
                          </a:rPr>
                        </m:ctrlPr>
                      </m:dPr>
                      <m:e>
                        <m:r>
                          <a:rPr lang="en-US" sz="2400" i="1">
                            <a:solidFill>
                              <a:prstClr val="black"/>
                            </a:solidFill>
                            <a:latin typeface="Cambria Math" panose="02040503050406030204" pitchFamily="18" charset="0"/>
                          </a:rPr>
                          <m:t>h</m:t>
                        </m:r>
                        <m:r>
                          <a:rPr lang="en-US" sz="2400" i="1">
                            <a:solidFill>
                              <a:prstClr val="black"/>
                            </a:solidFill>
                            <a:latin typeface="Cambria Math" panose="02040503050406030204" pitchFamily="18" charset="0"/>
                            <a:ea typeface="Cambria Math" panose="02040503050406030204" pitchFamily="18" charset="0"/>
                          </a:rPr>
                          <m:t>𝜈</m:t>
                        </m:r>
                      </m:e>
                    </m:d>
                    <m:d>
                      <m:dPr>
                        <m:ctrlPr>
                          <a:rPr lang="en-US" sz="2400" b="0" i="1" smtClean="0">
                            <a:solidFill>
                              <a:prstClr val="black"/>
                            </a:solidFill>
                            <a:latin typeface="Cambria Math" panose="02040503050406030204" pitchFamily="18" charset="0"/>
                            <a:ea typeface="Cambria Math" panose="02040503050406030204" pitchFamily="18" charset="0"/>
                          </a:rPr>
                        </m:ctrlPr>
                      </m:dPr>
                      <m:e>
                        <m:sSup>
                          <m:sSupPr>
                            <m:ctrlPr>
                              <a:rPr lang="en-US" sz="2400" b="0" i="1" smtClean="0">
                                <a:solidFill>
                                  <a:prstClr val="black"/>
                                </a:solidFill>
                                <a:latin typeface="Cambria Math" panose="02040503050406030204" pitchFamily="18" charset="0"/>
                                <a:ea typeface="Cambria Math" panose="02040503050406030204" pitchFamily="18" charset="0"/>
                              </a:rPr>
                            </m:ctrlPr>
                          </m:sSupPr>
                          <m:e>
                            <m:r>
                              <a:rPr lang="en-US" sz="2400" b="0" i="1" smtClean="0">
                                <a:solidFill>
                                  <a:prstClr val="black"/>
                                </a:solidFill>
                                <a:latin typeface="Cambria Math" panose="02040503050406030204" pitchFamily="18" charset="0"/>
                                <a:ea typeface="Cambria Math" panose="02040503050406030204" pitchFamily="18" charset="0"/>
                              </a:rPr>
                              <m:t>h</m:t>
                            </m:r>
                            <m:r>
                              <a:rPr lang="en-US" sz="2400" b="0" i="1" smtClean="0">
                                <a:solidFill>
                                  <a:prstClr val="black"/>
                                </a:solidFill>
                                <a:latin typeface="Cambria Math" panose="02040503050406030204" pitchFamily="18" charset="0"/>
                                <a:ea typeface="Cambria Math" panose="02040503050406030204" pitchFamily="18" charset="0"/>
                              </a:rPr>
                              <m:t>𝜈</m:t>
                            </m:r>
                          </m:e>
                          <m:sup>
                            <m:r>
                              <a:rPr lang="en-US" sz="2400" b="0" i="1" smtClean="0">
                                <a:solidFill>
                                  <a:prstClr val="black"/>
                                </a:solidFill>
                                <a:latin typeface="Cambria Math" panose="02040503050406030204" pitchFamily="18" charset="0"/>
                                <a:ea typeface="Cambria Math" panose="02040503050406030204" pitchFamily="18" charset="0"/>
                              </a:rPr>
                              <m:t>′</m:t>
                            </m:r>
                          </m:sup>
                        </m:sSup>
                      </m:e>
                    </m:d>
                    <m:r>
                      <a:rPr lang="en-US" sz="2400" b="0" i="1" smtClean="0">
                        <a:solidFill>
                          <a:prstClr val="black"/>
                        </a:solidFill>
                        <a:latin typeface="Cambria Math" panose="02040503050406030204" pitchFamily="18" charset="0"/>
                        <a:ea typeface="Cambria Math" panose="02040503050406030204" pitchFamily="18" charset="0"/>
                      </a:rPr>
                      <m:t>𝑐𝑜𝑠</m:t>
                    </m:r>
                    <m:r>
                      <a:rPr lang="en-US" sz="2400" b="0" i="1" smtClean="0">
                        <a:solidFill>
                          <a:prstClr val="black"/>
                        </a:solidFill>
                        <a:latin typeface="Cambria Math" panose="02040503050406030204" pitchFamily="18" charset="0"/>
                        <a:ea typeface="Cambria Math" panose="02040503050406030204" pitchFamily="18" charset="0"/>
                      </a:rPr>
                      <m:t>𝜙</m:t>
                    </m:r>
                    <m:r>
                      <a:rPr lang="en-US" sz="2400" b="0" i="1" smtClean="0">
                        <a:solidFill>
                          <a:prstClr val="black"/>
                        </a:solidFill>
                        <a:latin typeface="Cambria Math" panose="02040503050406030204" pitchFamily="18" charset="0"/>
                        <a:ea typeface="Cambria Math" panose="02040503050406030204" pitchFamily="18" charset="0"/>
                      </a:rPr>
                      <m:t>+</m:t>
                    </m:r>
                    <m:sSup>
                      <m:sSupPr>
                        <m:ctrlPr>
                          <a:rPr lang="en-US" sz="2400" b="0" i="1" smtClean="0">
                            <a:solidFill>
                              <a:prstClr val="black"/>
                            </a:solidFill>
                            <a:latin typeface="Cambria Math" panose="02040503050406030204" pitchFamily="18" charset="0"/>
                            <a:ea typeface="Cambria Math" panose="02040503050406030204" pitchFamily="18" charset="0"/>
                          </a:rPr>
                        </m:ctrlPr>
                      </m:sSupPr>
                      <m:e>
                        <m:r>
                          <a:rPr lang="en-US" sz="2400" b="0" i="1" smtClean="0">
                            <a:solidFill>
                              <a:prstClr val="black"/>
                            </a:solidFill>
                            <a:latin typeface="Cambria Math" panose="02040503050406030204" pitchFamily="18" charset="0"/>
                            <a:ea typeface="Cambria Math" panose="02040503050406030204" pitchFamily="18" charset="0"/>
                          </a:rPr>
                          <m:t>(</m:t>
                        </m:r>
                        <m:sSup>
                          <m:sSupPr>
                            <m:ctrlPr>
                              <a:rPr lang="en-US" sz="2400" b="0" i="1" smtClean="0">
                                <a:solidFill>
                                  <a:prstClr val="black"/>
                                </a:solidFill>
                                <a:latin typeface="Cambria Math" panose="02040503050406030204" pitchFamily="18" charset="0"/>
                                <a:ea typeface="Cambria Math" panose="02040503050406030204" pitchFamily="18" charset="0"/>
                              </a:rPr>
                            </m:ctrlPr>
                          </m:sSupPr>
                          <m:e>
                            <m:r>
                              <a:rPr lang="en-US" sz="2400" b="0" i="1" smtClean="0">
                                <a:solidFill>
                                  <a:prstClr val="black"/>
                                </a:solidFill>
                                <a:latin typeface="Cambria Math" panose="02040503050406030204" pitchFamily="18" charset="0"/>
                                <a:ea typeface="Cambria Math" panose="02040503050406030204" pitchFamily="18" charset="0"/>
                              </a:rPr>
                              <m:t>h</m:t>
                            </m:r>
                            <m:r>
                              <a:rPr lang="en-US" sz="2400" b="0" i="1" smtClean="0">
                                <a:solidFill>
                                  <a:prstClr val="black"/>
                                </a:solidFill>
                                <a:latin typeface="Cambria Math" panose="02040503050406030204" pitchFamily="18" charset="0"/>
                                <a:ea typeface="Cambria Math" panose="02040503050406030204" pitchFamily="18" charset="0"/>
                              </a:rPr>
                              <m:t>𝜈</m:t>
                            </m:r>
                          </m:e>
                          <m:sup>
                            <m:r>
                              <a:rPr lang="en-US" sz="2400" b="0" i="1" smtClean="0">
                                <a:solidFill>
                                  <a:prstClr val="black"/>
                                </a:solidFill>
                                <a:latin typeface="Cambria Math" panose="02040503050406030204" pitchFamily="18" charset="0"/>
                                <a:ea typeface="Cambria Math" panose="02040503050406030204" pitchFamily="18" charset="0"/>
                              </a:rPr>
                              <m:t>′</m:t>
                            </m:r>
                          </m:sup>
                        </m:sSup>
                        <m:r>
                          <a:rPr lang="en-US" sz="2400" b="0" i="1" smtClean="0">
                            <a:solidFill>
                              <a:prstClr val="black"/>
                            </a:solidFill>
                            <a:latin typeface="Cambria Math" panose="02040503050406030204" pitchFamily="18" charset="0"/>
                            <a:ea typeface="Cambria Math" panose="02040503050406030204" pitchFamily="18" charset="0"/>
                          </a:rPr>
                          <m:t>)</m:t>
                        </m:r>
                      </m:e>
                      <m:sup>
                        <m:r>
                          <a:rPr lang="en-US" sz="2400" b="0" i="1" smtClean="0">
                            <a:solidFill>
                              <a:prstClr val="black"/>
                            </a:solidFill>
                            <a:latin typeface="Cambria Math" panose="02040503050406030204" pitchFamily="18" charset="0"/>
                            <a:ea typeface="Cambria Math" panose="02040503050406030204" pitchFamily="18" charset="0"/>
                          </a:rPr>
                          <m:t>2</m:t>
                        </m:r>
                      </m:sup>
                    </m:sSup>
                  </m:oMath>
                </a14:m>
                <a:r>
                  <a:rPr lang="en-US" sz="2400" dirty="0"/>
                  <a:t>                                                       (5)</a:t>
                </a:r>
              </a:p>
              <a:p>
                <a:r>
                  <a:rPr lang="en-US" sz="2400" dirty="0"/>
                  <a:t>Now the total energy of a photon can be expressed as </a:t>
                </a:r>
                <a14:m>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4</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e>
                    </m:rad>
                  </m:oMath>
                </a14:m>
                <a:r>
                  <a:rPr lang="en-US" sz="2400" dirty="0"/>
                  <a:t>, but the photon energy can be written as rest energy plus the kinetic energy of the photon, which means</a:t>
                </a:r>
              </a:p>
              <a:p>
                <a14:m>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𝐾𝐸</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𝑚𝑐</m:t>
                        </m:r>
                      </m:e>
                      <m:sup>
                        <m:r>
                          <a:rPr lang="en-US" sz="2400" b="0" i="1" smtClean="0">
                            <a:latin typeface="Cambria Math" panose="02040503050406030204" pitchFamily="18" charset="0"/>
                          </a:rPr>
                          <m:t>2</m:t>
                        </m:r>
                      </m:sup>
                    </m:sSup>
                  </m:oMath>
                </a14:m>
                <a:r>
                  <a:rPr lang="en-US" sz="2400" dirty="0"/>
                  <a:t> and the above two equation gives</a:t>
                </a:r>
              </a:p>
              <a:p>
                <a:endParaRPr lang="en-US" sz="2400" dirty="0"/>
              </a:p>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m:t>
                          </m:r>
                          <m:r>
                            <a:rPr lang="en-US" sz="2400" i="1">
                              <a:solidFill>
                                <a:prstClr val="black"/>
                              </a:solidFill>
                              <a:latin typeface="Cambria Math" panose="02040503050406030204" pitchFamily="18" charset="0"/>
                            </a:rPr>
                            <m:t>𝐾𝐸</m:t>
                          </m:r>
                          <m:r>
                            <a:rPr lang="en-US" sz="2400" i="1">
                              <a:solidFill>
                                <a:prstClr val="black"/>
                              </a:solidFill>
                              <a:latin typeface="Cambria Math" panose="02040503050406030204" pitchFamily="18" charset="0"/>
                            </a:rPr>
                            <m:t>+</m:t>
                          </m:r>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𝑚𝑐</m:t>
                              </m:r>
                            </m:e>
                            <m:sup>
                              <m:r>
                                <a:rPr lang="en-US" sz="2400" i="1">
                                  <a:solidFill>
                                    <a:prstClr val="black"/>
                                  </a:solidFill>
                                  <a:latin typeface="Cambria Math" panose="02040503050406030204" pitchFamily="18" charset="0"/>
                                </a:rPr>
                                <m:t>2</m:t>
                              </m:r>
                            </m:sup>
                          </m:sSup>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𝑚</m:t>
                          </m:r>
                        </m:e>
                        <m:sup>
                          <m:r>
                            <a:rPr lang="en-US" sz="2400" i="1">
                              <a:solidFill>
                                <a:prstClr val="black"/>
                              </a:solidFill>
                              <a:latin typeface="Cambria Math" panose="02040503050406030204" pitchFamily="18" charset="0"/>
                            </a:rPr>
                            <m:t>2</m:t>
                          </m:r>
                        </m:sup>
                      </m:sSup>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𝑐</m:t>
                          </m:r>
                        </m:e>
                        <m:sup>
                          <m:r>
                            <a:rPr lang="en-US" sz="2400" i="1">
                              <a:solidFill>
                                <a:prstClr val="black"/>
                              </a:solidFill>
                              <a:latin typeface="Cambria Math" panose="02040503050406030204" pitchFamily="18" charset="0"/>
                            </a:rPr>
                            <m:t>4</m:t>
                          </m:r>
                        </m:sup>
                      </m:sSup>
                      <m:r>
                        <a:rPr lang="en-US" sz="2400" i="1">
                          <a:solidFill>
                            <a:prstClr val="black"/>
                          </a:solidFill>
                          <a:latin typeface="Cambria Math" panose="02040503050406030204" pitchFamily="18" charset="0"/>
                        </a:rPr>
                        <m:t>+</m:t>
                      </m:r>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𝑝</m:t>
                          </m:r>
                        </m:e>
                        <m:sup>
                          <m:r>
                            <a:rPr lang="en-US" sz="2400" i="1">
                              <a:solidFill>
                                <a:prstClr val="black"/>
                              </a:solidFill>
                              <a:latin typeface="Cambria Math" panose="02040503050406030204" pitchFamily="18" charset="0"/>
                            </a:rPr>
                            <m:t>2</m:t>
                          </m:r>
                        </m:sup>
                      </m:sSup>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𝑐</m:t>
                          </m:r>
                        </m:e>
                        <m:sup>
                          <m:r>
                            <a:rPr lang="en-US" sz="2400" i="1">
                              <a:solidFill>
                                <a:prstClr val="black"/>
                              </a:solidFill>
                              <a:latin typeface="Cambria Math" panose="02040503050406030204" pitchFamily="18" charset="0"/>
                            </a:rPr>
                            <m:t>2</m:t>
                          </m:r>
                        </m:sup>
                      </m:sSup>
                      <m:r>
                        <a:rPr lang="en-US" sz="2400" i="1" smtClean="0">
                          <a:solidFill>
                            <a:prstClr val="black"/>
                          </a:solidFill>
                          <a:latin typeface="Cambria Math" panose="02040503050406030204" pitchFamily="18" charset="0"/>
                          <a:ea typeface="Cambria Math" panose="02040503050406030204" pitchFamily="18" charset="0"/>
                        </a:rPr>
                        <m:t>⇒</m:t>
                      </m:r>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𝑝</m:t>
                          </m:r>
                        </m:e>
                        <m:sup>
                          <m:r>
                            <a:rPr lang="en-US" sz="2400" i="1">
                              <a:solidFill>
                                <a:prstClr val="black"/>
                              </a:solidFill>
                              <a:latin typeface="Cambria Math" panose="02040503050406030204" pitchFamily="18" charset="0"/>
                            </a:rPr>
                            <m:t>2</m:t>
                          </m:r>
                        </m:sup>
                      </m:sSup>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𝑐</m:t>
                          </m:r>
                        </m:e>
                        <m:sup>
                          <m:r>
                            <a:rPr lang="en-US" sz="2400" i="1">
                              <a:solidFill>
                                <a:prstClr val="black"/>
                              </a:solidFill>
                              <a:latin typeface="Cambria Math" panose="02040503050406030204" pitchFamily="18" charset="0"/>
                            </a:rPr>
                            <m:t>2</m:t>
                          </m:r>
                        </m:sup>
                      </m:sSup>
                      <m:r>
                        <a:rPr lang="en-US" sz="2400" b="0" i="1" smtClean="0">
                          <a:solidFill>
                            <a:prstClr val="black"/>
                          </a:solidFill>
                          <a:latin typeface="Cambria Math" panose="02040503050406030204" pitchFamily="18" charset="0"/>
                        </a:rPr>
                        <m:t>=</m:t>
                      </m:r>
                      <m:sSup>
                        <m:sSupPr>
                          <m:ctrlPr>
                            <a:rPr lang="en-US" sz="2400" b="0" i="1" smtClean="0">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𝐾𝐸</m:t>
                          </m:r>
                          <m:r>
                            <a:rPr lang="en-US" sz="2400" b="0" i="1" smtClean="0">
                              <a:solidFill>
                                <a:prstClr val="black"/>
                              </a:solidFill>
                              <a:latin typeface="Cambria Math" panose="02040503050406030204" pitchFamily="18" charset="0"/>
                            </a:rPr>
                            <m:t>)</m:t>
                          </m:r>
                        </m:e>
                        <m:sup>
                          <m:r>
                            <a:rPr lang="en-US" sz="2400" b="0" i="1" smtClean="0">
                              <a:solidFill>
                                <a:prstClr val="black"/>
                              </a:solidFill>
                              <a:latin typeface="Cambria Math" panose="02040503050406030204" pitchFamily="18" charset="0"/>
                            </a:rPr>
                            <m:t>2</m:t>
                          </m:r>
                        </m:sup>
                      </m:sSup>
                      <m:r>
                        <a:rPr lang="en-US" sz="2400" b="0" i="1" smtClean="0">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2</m:t>
                      </m:r>
                      <m:sSup>
                        <m:sSupPr>
                          <m:ctrlPr>
                            <a:rPr lang="en-US" sz="2400" b="0" i="1" smtClean="0">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𝑚𝑐</m:t>
                          </m:r>
                        </m:e>
                        <m:sup>
                          <m:r>
                            <a:rPr lang="en-US" sz="2400" b="0" i="1" smtClean="0">
                              <a:solidFill>
                                <a:prstClr val="black"/>
                              </a:solidFill>
                              <a:latin typeface="Cambria Math" panose="02040503050406030204" pitchFamily="18" charset="0"/>
                            </a:rPr>
                            <m:t>2</m:t>
                          </m:r>
                        </m:sup>
                      </m:sSup>
                      <m:r>
                        <a:rPr lang="en-US" sz="2400" b="0" i="1" smtClean="0">
                          <a:solidFill>
                            <a:prstClr val="black"/>
                          </a:solidFill>
                          <a:latin typeface="Cambria Math" panose="02040503050406030204" pitchFamily="18" charset="0"/>
                        </a:rPr>
                        <m:t>𝐾𝐸</m:t>
                      </m:r>
                    </m:oMath>
                  </m:oMathPara>
                </a14:m>
                <a:endParaRPr lang="en-US" sz="2400" dirty="0"/>
              </a:p>
              <a:p>
                <a:endParaRPr lang="en-US" sz="2400" dirty="0"/>
              </a:p>
              <a:p>
                <a:r>
                  <a:rPr lang="en-US" sz="2400" dirty="0"/>
                  <a:t>But we know from equation (1)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h</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𝜈</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𝐾𝐸</m:t>
                    </m:r>
                  </m:oMath>
                </a14:m>
                <a:endParaRPr lang="en-US" sz="2400" dirty="0"/>
              </a:p>
              <a:p>
                <a:endParaRPr lang="en-US" sz="2400" dirty="0"/>
              </a:p>
              <a:p>
                <a:pPr algn="ctr"/>
                <a:r>
                  <a:rPr lang="en-US" sz="2400" dirty="0"/>
                  <a:t>So </a:t>
                </a:r>
                <a14:m>
                  <m:oMath xmlns:m="http://schemas.openxmlformats.org/officeDocument/2006/math">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𝑐</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lang="en-US" sz="2400" i="1">
                            <a:solidFill>
                              <a:prstClr val="black"/>
                            </a:solidFill>
                            <a:latin typeface="Cambria Math" panose="02040503050406030204" pitchFamily="18" charset="0"/>
                          </a:rPr>
                          <m:t>h</m:t>
                        </m:r>
                        <m:r>
                          <a:rPr lang="en-US" sz="2400" i="1">
                            <a:solidFill>
                              <a:prstClr val="black"/>
                            </a:solidFill>
                            <a:latin typeface="Cambria Math" panose="02040503050406030204" pitchFamily="18" charset="0"/>
                            <a:ea typeface="Cambria Math" panose="02040503050406030204" pitchFamily="18" charset="0"/>
                          </a:rPr>
                          <m:t>𝜈</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lang="en-US" sz="2400" i="1">
                            <a:solidFill>
                              <a:prstClr val="black"/>
                            </a:solidFill>
                            <a:latin typeface="Cambria Math" panose="02040503050406030204" pitchFamily="18" charset="0"/>
                          </a:rPr>
                          <m:t>h</m:t>
                        </m:r>
                        <m:r>
                          <a:rPr lang="en-US" sz="2400" i="1">
                            <a:solidFill>
                              <a:prstClr val="black"/>
                            </a:solidFill>
                            <a:latin typeface="Cambria Math" panose="02040503050406030204" pitchFamily="18" charset="0"/>
                            <a:ea typeface="Cambria Math" panose="02040503050406030204" pitchFamily="18" charset="0"/>
                          </a:rPr>
                          <m:t>𝜈</m:t>
                        </m:r>
                      </m:e>
                    </m:d>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lang="en-US" sz="2400" i="1">
                            <a:solidFill>
                              <a:prstClr val="black"/>
                            </a:solidFill>
                            <a:latin typeface="Cambria Math" panose="02040503050406030204" pitchFamily="18" charset="0"/>
                            <a:ea typeface="Cambria Math" panose="02040503050406030204" pitchFamily="18" charset="0"/>
                          </a:rPr>
                          <m:t>h</m:t>
                        </m:r>
                        <m:sSup>
                          <m:sSupPr>
                            <m:ctrlPr>
                              <a:rPr lang="en-US" sz="2400" i="1">
                                <a:solidFill>
                                  <a:prstClr val="black"/>
                                </a:solidFill>
                                <a:latin typeface="Cambria Math" panose="02040503050406030204" pitchFamily="18" charset="0"/>
                                <a:ea typeface="Cambria Math" panose="02040503050406030204" pitchFamily="18" charset="0"/>
                              </a:rPr>
                            </m:ctrlPr>
                          </m:sSupPr>
                          <m:e>
                            <m:r>
                              <a:rPr lang="en-US" sz="2400" i="1">
                                <a:solidFill>
                                  <a:prstClr val="black"/>
                                </a:solidFill>
                                <a:latin typeface="Cambria Math" panose="02040503050406030204" pitchFamily="18" charset="0"/>
                                <a:ea typeface="Cambria Math" panose="02040503050406030204" pitchFamily="18" charset="0"/>
                              </a:rPr>
                              <m:t>𝜈</m:t>
                            </m:r>
                          </m:e>
                          <m:sup>
                            <m:r>
                              <a:rPr lang="en-US" sz="2400" i="1">
                                <a:solidFill>
                                  <a:prstClr val="black"/>
                                </a:solidFill>
                                <a:latin typeface="Cambria Math" panose="02040503050406030204" pitchFamily="18" charset="0"/>
                                <a:ea typeface="Cambria Math" panose="02040503050406030204" pitchFamily="18" charset="0"/>
                              </a:rPr>
                              <m:t>′</m:t>
                            </m:r>
                          </m:sup>
                        </m:sSup>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lang="en-US" sz="2400" i="1">
                                <a:solidFill>
                                  <a:prstClr val="black"/>
                                </a:solidFill>
                                <a:latin typeface="Cambria Math" panose="02040503050406030204" pitchFamily="18" charset="0"/>
                                <a:ea typeface="Cambria Math" panose="02040503050406030204" pitchFamily="18" charset="0"/>
                              </a:rPr>
                              <m:t>h</m:t>
                            </m:r>
                            <m:sSup>
                              <m:sSupPr>
                                <m:ctrlPr>
                                  <a:rPr lang="en-US" sz="2400" i="1">
                                    <a:solidFill>
                                      <a:prstClr val="black"/>
                                    </a:solidFill>
                                    <a:latin typeface="Cambria Math" panose="02040503050406030204" pitchFamily="18" charset="0"/>
                                    <a:ea typeface="Cambria Math" panose="02040503050406030204" pitchFamily="18" charset="0"/>
                                  </a:rPr>
                                </m:ctrlPr>
                              </m:sSupPr>
                              <m:e>
                                <m:r>
                                  <a:rPr lang="en-US" sz="2400" i="1">
                                    <a:solidFill>
                                      <a:prstClr val="black"/>
                                    </a:solidFill>
                                    <a:latin typeface="Cambria Math" panose="02040503050406030204" pitchFamily="18" charset="0"/>
                                    <a:ea typeface="Cambria Math" panose="02040503050406030204" pitchFamily="18" charset="0"/>
                                  </a:rPr>
                                  <m:t>𝜈</m:t>
                                </m:r>
                              </m:e>
                              <m:sup>
                                <m:r>
                                  <a:rPr lang="en-US" sz="2400" i="1">
                                    <a:solidFill>
                                      <a:prstClr val="black"/>
                                    </a:solidFill>
                                    <a:latin typeface="Cambria Math" panose="02040503050406030204" pitchFamily="18" charset="0"/>
                                    <a:ea typeface="Cambria Math" panose="02040503050406030204" pitchFamily="18" charset="0"/>
                                  </a:rPr>
                                  <m:t>′</m:t>
                                </m:r>
                              </m:sup>
                            </m:sSup>
                          </m:e>
                        </m:d>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𝑚𝑐</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lang="en-US" sz="2400" i="1">
                        <a:solidFill>
                          <a:prstClr val="black"/>
                        </a:solidFill>
                        <a:latin typeface="Cambria Math" panose="02040503050406030204" pitchFamily="18" charset="0"/>
                      </a:rPr>
                      <m:t>h</m:t>
                    </m:r>
                    <m:r>
                      <a:rPr lang="en-US" sz="2400" i="1">
                        <a:solidFill>
                          <a:prstClr val="black"/>
                        </a:solidFill>
                        <a:latin typeface="Cambria Math" panose="02040503050406030204" pitchFamily="18" charset="0"/>
                        <a:ea typeface="Cambria Math" panose="02040503050406030204" pitchFamily="18" charset="0"/>
                      </a:rPr>
                      <m:t>𝜈</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h</m:t>
                    </m:r>
                    <m:sSup>
                      <m:sSupPr>
                        <m:ctrlPr>
                          <a:rPr lang="en-US" sz="2400" i="1">
                            <a:solidFill>
                              <a:prstClr val="black"/>
                            </a:solidFill>
                            <a:latin typeface="Cambria Math" panose="02040503050406030204" pitchFamily="18" charset="0"/>
                            <a:ea typeface="Cambria Math" panose="02040503050406030204" pitchFamily="18" charset="0"/>
                          </a:rPr>
                        </m:ctrlPr>
                      </m:sSupPr>
                      <m:e>
                        <m:r>
                          <a:rPr lang="en-US" sz="2400" i="1">
                            <a:solidFill>
                              <a:prstClr val="black"/>
                            </a:solidFill>
                            <a:latin typeface="Cambria Math" panose="02040503050406030204" pitchFamily="18" charset="0"/>
                            <a:ea typeface="Cambria Math" panose="02040503050406030204" pitchFamily="18" charset="0"/>
                          </a:rPr>
                          <m:t>𝜈</m:t>
                        </m:r>
                      </m:e>
                      <m:sup>
                        <m:r>
                          <a:rPr lang="en-US" sz="2400" i="1">
                            <a:solidFill>
                              <a:prstClr val="black"/>
                            </a:solidFill>
                            <a:latin typeface="Cambria Math" panose="02040503050406030204" pitchFamily="18" charset="0"/>
                            <a:ea typeface="Cambria Math" panose="02040503050406030204" pitchFamily="18" charset="0"/>
                          </a:rPr>
                          <m:t>′</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lang="en-US" sz="2400" dirty="0"/>
                  <a:t>                        (6) </a:t>
                </a:r>
              </a:p>
              <a:p>
                <a:endParaRPr lang="en-US" sz="2400" dirty="0"/>
              </a:p>
              <a:p>
                <a:r>
                  <a:rPr lang="en-US" sz="2400" dirty="0"/>
                  <a:t>Substituting this value in equation (5) we obtain</a:t>
                </a:r>
              </a:p>
              <a:p>
                <a:endParaRPr lang="en-US" sz="2400" dirty="0"/>
              </a:p>
              <a:p>
                <a:pPr algn="ct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𝑚𝑐</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p>
                    </m:sSup>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𝜈</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h</m:t>
                        </m:r>
                        <m:sSup>
                          <m:sSup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𝜈</m:t>
                            </m:r>
                          </m:e>
                          <m:sup>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p>
                        </m:sSup>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lang="en-US" sz="2400" i="1">
                        <a:solidFill>
                          <a:prstClr val="black"/>
                        </a:solidFill>
                        <a:latin typeface="Cambria Math" panose="02040503050406030204" pitchFamily="18" charset="0"/>
                      </a:rPr>
                      <m:t>2</m:t>
                    </m:r>
                    <m:d>
                      <m:dPr>
                        <m:ctrlPr>
                          <a:rPr lang="en-US" sz="2400" i="1">
                            <a:solidFill>
                              <a:prstClr val="black"/>
                            </a:solidFill>
                            <a:latin typeface="Cambria Math" panose="02040503050406030204" pitchFamily="18" charset="0"/>
                          </a:rPr>
                        </m:ctrlPr>
                      </m:dPr>
                      <m:e>
                        <m:r>
                          <a:rPr lang="en-US" sz="2400" i="1">
                            <a:solidFill>
                              <a:prstClr val="black"/>
                            </a:solidFill>
                            <a:latin typeface="Cambria Math" panose="02040503050406030204" pitchFamily="18" charset="0"/>
                          </a:rPr>
                          <m:t>h</m:t>
                        </m:r>
                        <m:r>
                          <a:rPr lang="en-US" sz="2400" i="1">
                            <a:solidFill>
                              <a:prstClr val="black"/>
                            </a:solidFill>
                            <a:latin typeface="Cambria Math" panose="02040503050406030204" pitchFamily="18" charset="0"/>
                            <a:ea typeface="Cambria Math" panose="02040503050406030204" pitchFamily="18" charset="0"/>
                          </a:rPr>
                          <m:t>𝜈</m:t>
                        </m:r>
                      </m:e>
                    </m:d>
                    <m:d>
                      <m:dPr>
                        <m:ctrlPr>
                          <a:rPr lang="en-US" sz="2400" i="1">
                            <a:solidFill>
                              <a:prstClr val="black"/>
                            </a:solidFill>
                            <a:latin typeface="Cambria Math" panose="02040503050406030204" pitchFamily="18" charset="0"/>
                            <a:ea typeface="Cambria Math" panose="02040503050406030204" pitchFamily="18" charset="0"/>
                          </a:rPr>
                        </m:ctrlPr>
                      </m:dPr>
                      <m:e>
                        <m:sSup>
                          <m:sSupPr>
                            <m:ctrlPr>
                              <a:rPr lang="en-US" sz="2400" i="1">
                                <a:solidFill>
                                  <a:prstClr val="black"/>
                                </a:solidFill>
                                <a:latin typeface="Cambria Math" panose="02040503050406030204" pitchFamily="18" charset="0"/>
                                <a:ea typeface="Cambria Math" panose="02040503050406030204" pitchFamily="18" charset="0"/>
                              </a:rPr>
                            </m:ctrlPr>
                          </m:sSupPr>
                          <m:e>
                            <m:r>
                              <a:rPr lang="en-US" sz="2400" i="1">
                                <a:solidFill>
                                  <a:prstClr val="black"/>
                                </a:solidFill>
                                <a:latin typeface="Cambria Math" panose="02040503050406030204" pitchFamily="18" charset="0"/>
                                <a:ea typeface="Cambria Math" panose="02040503050406030204" pitchFamily="18" charset="0"/>
                              </a:rPr>
                              <m:t>h</m:t>
                            </m:r>
                            <m:r>
                              <a:rPr lang="en-US" sz="2400" i="1">
                                <a:solidFill>
                                  <a:prstClr val="black"/>
                                </a:solidFill>
                                <a:latin typeface="Cambria Math" panose="02040503050406030204" pitchFamily="18" charset="0"/>
                                <a:ea typeface="Cambria Math" panose="02040503050406030204" pitchFamily="18" charset="0"/>
                              </a:rPr>
                              <m:t>𝜈</m:t>
                            </m:r>
                          </m:e>
                          <m:sup>
                            <m:r>
                              <a:rPr lang="en-US" sz="2400" i="1">
                                <a:solidFill>
                                  <a:prstClr val="black"/>
                                </a:solidFill>
                                <a:latin typeface="Cambria Math" panose="02040503050406030204" pitchFamily="18" charset="0"/>
                                <a:ea typeface="Cambria Math" panose="02040503050406030204" pitchFamily="18" charset="0"/>
                              </a:rPr>
                              <m:t>′</m:t>
                            </m:r>
                          </m:sup>
                        </m:sSup>
                      </m:e>
                    </m:d>
                    <m:d>
                      <m:dPr>
                        <m:ctrlPr>
                          <a:rPr lang="en-US" sz="2400" b="0" i="1" smtClean="0">
                            <a:solidFill>
                              <a:prstClr val="black"/>
                            </a:solidFill>
                            <a:latin typeface="Cambria Math" panose="02040503050406030204" pitchFamily="18" charset="0"/>
                            <a:ea typeface="Cambria Math" panose="02040503050406030204" pitchFamily="18" charset="0"/>
                          </a:rPr>
                        </m:ctrlPr>
                      </m:dPr>
                      <m:e>
                        <m:r>
                          <a:rPr lang="en-US" sz="2400" b="0" i="1" smtClean="0">
                            <a:solidFill>
                              <a:prstClr val="black"/>
                            </a:solidFill>
                            <a:latin typeface="Cambria Math" panose="02040503050406030204" pitchFamily="18" charset="0"/>
                            <a:ea typeface="Cambria Math" panose="02040503050406030204" pitchFamily="18" charset="0"/>
                          </a:rPr>
                          <m:t>1</m:t>
                        </m:r>
                        <m:r>
                          <a:rPr lang="en-US" sz="2400" b="0" i="1" smtClean="0">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𝑐𝑜𝑠</m:t>
                        </m:r>
                        <m:r>
                          <a:rPr lang="en-US" sz="2400" i="1">
                            <a:solidFill>
                              <a:prstClr val="black"/>
                            </a:solidFill>
                            <a:latin typeface="Cambria Math" panose="02040503050406030204" pitchFamily="18" charset="0"/>
                            <a:ea typeface="Cambria Math" panose="02040503050406030204" pitchFamily="18" charset="0"/>
                          </a:rPr>
                          <m:t>𝜙</m:t>
                        </m:r>
                      </m:e>
                    </m:d>
                  </m:oMath>
                </a14:m>
                <a:r>
                  <a:rPr lang="en-US" sz="2400" dirty="0"/>
                  <a:t>                                                        (7) </a:t>
                </a:r>
              </a:p>
              <a:p>
                <a:endParaRPr lang="en-US" sz="2400" dirty="0"/>
              </a:p>
            </p:txBody>
          </p:sp>
        </mc:Choice>
        <mc:Fallback xmlns="">
          <p:sp>
            <p:nvSpPr>
              <p:cNvPr id="2" name="TextBox 1">
                <a:extLst>
                  <a:ext uri="{FF2B5EF4-FFF2-40B4-BE49-F238E27FC236}">
                    <a16:creationId xmlns:a16="http://schemas.microsoft.com/office/drawing/2014/main" xmlns="" xmlns:a14="http://schemas.microsoft.com/office/drawing/2010/main" id="{0643E6E4-D85D-FFDA-2EEA-6B28AACD8432}"/>
                  </a:ext>
                </a:extLst>
              </p:cNvPr>
              <p:cNvSpPr txBox="1">
                <a:spLocks noRot="1" noChangeAspect="1" noMove="1" noResize="1" noEditPoints="1" noAdjustHandles="1" noChangeArrowheads="1" noChangeShapeType="1" noTextEdit="1"/>
              </p:cNvSpPr>
              <p:nvPr/>
            </p:nvSpPr>
            <p:spPr>
              <a:xfrm>
                <a:off x="830036" y="262162"/>
                <a:ext cx="11361964" cy="6818213"/>
              </a:xfrm>
              <a:prstGeom prst="rect">
                <a:avLst/>
              </a:prstGeom>
              <a:blipFill>
                <a:blip r:embed="rId2"/>
                <a:stretch>
                  <a:fillRect l="-805" t="-716"/>
                </a:stretch>
              </a:blipFill>
            </p:spPr>
            <p:txBody>
              <a:bodyPr/>
              <a:lstStyle/>
              <a:p>
                <a:r>
                  <a:rPr lang="en-US">
                    <a:noFill/>
                  </a:rPr>
                  <a:t> </a:t>
                </a:r>
              </a:p>
            </p:txBody>
          </p:sp>
        </mc:Fallback>
      </mc:AlternateContent>
    </p:spTree>
    <p:extLst>
      <p:ext uri="{BB962C8B-B14F-4D97-AF65-F5344CB8AC3E}">
        <p14:creationId xmlns:p14="http://schemas.microsoft.com/office/powerpoint/2010/main" val="34486541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582D0E-FBB3-6519-F9F1-09E15A813F7B}"/>
              </a:ext>
            </a:extLst>
          </p:cNvPr>
          <p:cNvPicPr>
            <a:picLocks noChangeAspect="1"/>
          </p:cNvPicPr>
          <p:nvPr/>
        </p:nvPicPr>
        <p:blipFill>
          <a:blip r:embed="rId2"/>
          <a:stretch>
            <a:fillRect/>
          </a:stretch>
        </p:blipFill>
        <p:spPr>
          <a:xfrm>
            <a:off x="481263" y="0"/>
            <a:ext cx="10734574" cy="5184608"/>
          </a:xfrm>
          <a:prstGeom prst="rect">
            <a:avLst/>
          </a:prstGeom>
        </p:spPr>
      </p:pic>
      <p:sp>
        <p:nvSpPr>
          <p:cNvPr id="4" name="TextBox 3">
            <a:extLst>
              <a:ext uri="{FF2B5EF4-FFF2-40B4-BE49-F238E27FC236}">
                <a16:creationId xmlns:a16="http://schemas.microsoft.com/office/drawing/2014/main" id="{82E8CE56-B973-B5BC-B88C-7F0748C2F54B}"/>
              </a:ext>
            </a:extLst>
          </p:cNvPr>
          <p:cNvSpPr txBox="1"/>
          <p:nvPr/>
        </p:nvSpPr>
        <p:spPr>
          <a:xfrm>
            <a:off x="481263" y="5613100"/>
            <a:ext cx="11357811" cy="830997"/>
          </a:xfrm>
          <a:prstGeom prst="rect">
            <a:avLst/>
          </a:prstGeom>
          <a:noFill/>
        </p:spPr>
        <p:txBody>
          <a:bodyPr wrap="square" rtlCol="0">
            <a:spAutoFit/>
          </a:bodyPr>
          <a:lstStyle/>
          <a:p>
            <a:r>
              <a:rPr lang="en-US" sz="2400" dirty="0"/>
              <a:t>This equation was derived by Compton in 1920, and the phenomenon it described is know as Compton effect.</a:t>
            </a:r>
          </a:p>
        </p:txBody>
      </p:sp>
    </p:spTree>
    <p:extLst>
      <p:ext uri="{BB962C8B-B14F-4D97-AF65-F5344CB8AC3E}">
        <p14:creationId xmlns:p14="http://schemas.microsoft.com/office/powerpoint/2010/main" val="2848927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15CF232-31D6-D17F-DA5B-D2F5F29E1D40}"/>
                  </a:ext>
                </a:extLst>
              </p:cNvPr>
              <p:cNvSpPr txBox="1"/>
              <p:nvPr/>
            </p:nvSpPr>
            <p:spPr>
              <a:xfrm>
                <a:off x="1002632" y="433136"/>
                <a:ext cx="10982539" cy="993605"/>
              </a:xfrm>
              <a:prstGeom prst="rect">
                <a:avLst/>
              </a:prstGeom>
              <a:noFill/>
            </p:spPr>
            <p:txBody>
              <a:bodyPr wrap="square" rtlCol="0">
                <a:spAutoFit/>
              </a:bodyPr>
              <a:lstStyle/>
              <a:p>
                <a:r>
                  <a:rPr lang="en-US" sz="2400" dirty="0"/>
                  <a:t>The quantity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rPr>
                          <m:t>𝑐</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num>
                      <m:den>
                        <m:r>
                          <a:rPr lang="en-US" sz="2400" b="0" i="1" smtClean="0">
                            <a:latin typeface="Cambria Math" panose="02040503050406030204" pitchFamily="18" charset="0"/>
                          </a:rPr>
                          <m:t>𝑚𝑐</m:t>
                        </m:r>
                      </m:den>
                    </m:f>
                  </m:oMath>
                </a14:m>
                <a:r>
                  <a:rPr lang="en-US" sz="2400" dirty="0"/>
                  <a:t> is known as the Compton wavelength of the scattering particle.</a:t>
                </a:r>
              </a:p>
              <a:p>
                <a:r>
                  <a:rPr lang="en-US" sz="2400" dirty="0"/>
                  <a:t>For an electron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𝑐</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2.426</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−12</m:t>
                        </m:r>
                      </m:sup>
                    </m:sSup>
                  </m:oMath>
                </a14:m>
                <a:r>
                  <a:rPr lang="en-US" sz="2400" dirty="0"/>
                  <a:t> m. </a:t>
                </a:r>
              </a:p>
            </p:txBody>
          </p:sp>
        </mc:Choice>
        <mc:Fallback xmlns="">
          <p:sp>
            <p:nvSpPr>
              <p:cNvPr id="2" name="TextBox 1">
                <a:extLst>
                  <a:ext uri="{FF2B5EF4-FFF2-40B4-BE49-F238E27FC236}">
                    <a16:creationId xmlns:a16="http://schemas.microsoft.com/office/drawing/2014/main" xmlns="" xmlns:a14="http://schemas.microsoft.com/office/drawing/2010/main" id="{315CF232-31D6-D17F-DA5B-D2F5F29E1D40}"/>
                  </a:ext>
                </a:extLst>
              </p:cNvPr>
              <p:cNvSpPr txBox="1">
                <a:spLocks noRot="1" noChangeAspect="1" noMove="1" noResize="1" noEditPoints="1" noAdjustHandles="1" noChangeArrowheads="1" noChangeShapeType="1" noTextEdit="1"/>
              </p:cNvSpPr>
              <p:nvPr/>
            </p:nvSpPr>
            <p:spPr>
              <a:xfrm>
                <a:off x="1002632" y="433136"/>
                <a:ext cx="10982539" cy="993605"/>
              </a:xfrm>
              <a:prstGeom prst="rect">
                <a:avLst/>
              </a:prstGeom>
              <a:blipFill>
                <a:blip r:embed="rId2"/>
                <a:stretch>
                  <a:fillRect l="-832" b="-134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9A3C30-1BFC-F2DF-E851-6177CA3A2BC9}"/>
                  </a:ext>
                </a:extLst>
              </p:cNvPr>
              <p:cNvSpPr txBox="1"/>
              <p:nvPr/>
            </p:nvSpPr>
            <p:spPr>
              <a:xfrm>
                <a:off x="942512" y="1979720"/>
                <a:ext cx="10633970" cy="1200329"/>
              </a:xfrm>
              <a:prstGeom prst="rect">
                <a:avLst/>
              </a:prstGeom>
              <a:noFill/>
            </p:spPr>
            <p:txBody>
              <a:bodyPr wrap="square" rtlCol="0">
                <a:spAutoFit/>
              </a:bodyPr>
              <a:lstStyle/>
              <a:p>
                <a:pPr algn="just"/>
                <a:r>
                  <a:rPr lang="en-US" sz="2400" dirty="0">
                    <a:solidFill>
                      <a:srgbClr val="FF0000"/>
                    </a:solidFill>
                  </a:rPr>
                  <a:t>X-rays of wavelength 10.0 pm are scattered from a target. (a) Find the wavelength of the x-rays scattered through </a:t>
                </a:r>
                <a14:m>
                  <m:oMath xmlns:m="http://schemas.openxmlformats.org/officeDocument/2006/math">
                    <m:r>
                      <a:rPr lang="en-US" sz="2400" b="0" i="1" smtClean="0">
                        <a:solidFill>
                          <a:srgbClr val="FF0000"/>
                        </a:solidFill>
                        <a:latin typeface="Cambria Math" panose="02040503050406030204" pitchFamily="18" charset="0"/>
                      </a:rPr>
                      <m:t>45</m:t>
                    </m:r>
                    <m:r>
                      <a:rPr lang="en-US" sz="2400" b="0" i="1" smtClean="0">
                        <a:solidFill>
                          <a:srgbClr val="FF0000"/>
                        </a:solidFill>
                        <a:latin typeface="Cambria Math" panose="02040503050406030204" pitchFamily="18" charset="0"/>
                        <a:ea typeface="Cambria Math" panose="02040503050406030204" pitchFamily="18" charset="0"/>
                      </a:rPr>
                      <m:t>°</m:t>
                    </m:r>
                  </m:oMath>
                </a14:m>
                <a:r>
                  <a:rPr lang="en-US" sz="2400" dirty="0">
                    <a:solidFill>
                      <a:srgbClr val="FF0000"/>
                    </a:solidFill>
                  </a:rPr>
                  <a:t>. (b) Find the maximum wavelength present in the scattered x-rays. (c) Find the maximum kinetic energy of the recoil electrons.</a:t>
                </a:r>
              </a:p>
            </p:txBody>
          </p:sp>
        </mc:Choice>
        <mc:Fallback xmlns="">
          <p:sp>
            <p:nvSpPr>
              <p:cNvPr id="5" name="TextBox 4">
                <a:extLst>
                  <a:ext uri="{FF2B5EF4-FFF2-40B4-BE49-F238E27FC236}">
                    <a16:creationId xmlns:a16="http://schemas.microsoft.com/office/drawing/2014/main" xmlns="" xmlns:a14="http://schemas.microsoft.com/office/drawing/2010/main" id="{429A3C30-1BFC-F2DF-E851-6177CA3A2BC9}"/>
                  </a:ext>
                </a:extLst>
              </p:cNvPr>
              <p:cNvSpPr txBox="1">
                <a:spLocks noRot="1" noChangeAspect="1" noMove="1" noResize="1" noEditPoints="1" noAdjustHandles="1" noChangeArrowheads="1" noChangeShapeType="1" noTextEdit="1"/>
              </p:cNvSpPr>
              <p:nvPr/>
            </p:nvSpPr>
            <p:spPr>
              <a:xfrm>
                <a:off x="942512" y="1979720"/>
                <a:ext cx="10633970" cy="1200329"/>
              </a:xfrm>
              <a:prstGeom prst="rect">
                <a:avLst/>
              </a:prstGeom>
              <a:blipFill>
                <a:blip r:embed="rId3"/>
                <a:stretch>
                  <a:fillRect l="-917" t="-4061" r="-860" b="-1066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2648764-418D-160C-4781-BC6BAB42173A}"/>
              </a:ext>
            </a:extLst>
          </p:cNvPr>
          <p:cNvPicPr>
            <a:picLocks noChangeAspect="1"/>
          </p:cNvPicPr>
          <p:nvPr/>
        </p:nvPicPr>
        <p:blipFill>
          <a:blip r:embed="rId4"/>
          <a:stretch>
            <a:fillRect/>
          </a:stretch>
        </p:blipFill>
        <p:spPr>
          <a:xfrm>
            <a:off x="3216054" y="3577706"/>
            <a:ext cx="5205247" cy="2180208"/>
          </a:xfrm>
          <a:prstGeom prst="rect">
            <a:avLst/>
          </a:prstGeom>
        </p:spPr>
      </p:pic>
      <p:sp>
        <p:nvSpPr>
          <p:cNvPr id="8" name="TextBox 7">
            <a:extLst>
              <a:ext uri="{FF2B5EF4-FFF2-40B4-BE49-F238E27FC236}">
                <a16:creationId xmlns:a16="http://schemas.microsoft.com/office/drawing/2014/main" id="{A8A1E1B5-0949-CBE2-A00E-29C97A5D74A3}"/>
              </a:ext>
            </a:extLst>
          </p:cNvPr>
          <p:cNvSpPr txBox="1"/>
          <p:nvPr/>
        </p:nvSpPr>
        <p:spPr>
          <a:xfrm>
            <a:off x="1091953" y="3180049"/>
            <a:ext cx="568171" cy="461665"/>
          </a:xfrm>
          <a:prstGeom prst="rect">
            <a:avLst/>
          </a:prstGeom>
          <a:noFill/>
        </p:spPr>
        <p:txBody>
          <a:bodyPr wrap="square" rtlCol="0">
            <a:spAutoFit/>
          </a:bodyPr>
          <a:lstStyle/>
          <a:p>
            <a:r>
              <a:rPr lang="en-US" sz="2400" dirty="0"/>
              <a:t>(a)</a:t>
            </a:r>
          </a:p>
        </p:txBody>
      </p:sp>
    </p:spTree>
    <p:extLst>
      <p:ext uri="{BB962C8B-B14F-4D97-AF65-F5344CB8AC3E}">
        <p14:creationId xmlns:p14="http://schemas.microsoft.com/office/powerpoint/2010/main" val="73782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4ECC2B-C1B5-4949-AA23-DA0FEF272CF9}"/>
              </a:ext>
            </a:extLst>
          </p:cNvPr>
          <p:cNvPicPr>
            <a:picLocks noChangeAspect="1"/>
          </p:cNvPicPr>
          <p:nvPr/>
        </p:nvPicPr>
        <p:blipFill>
          <a:blip r:embed="rId2"/>
          <a:stretch>
            <a:fillRect/>
          </a:stretch>
        </p:blipFill>
        <p:spPr>
          <a:xfrm>
            <a:off x="795892" y="436670"/>
            <a:ext cx="9803385" cy="1276720"/>
          </a:xfrm>
          <a:prstGeom prst="rect">
            <a:avLst/>
          </a:prstGeom>
        </p:spPr>
      </p:pic>
      <p:pic>
        <p:nvPicPr>
          <p:cNvPr id="5" name="Picture 4">
            <a:extLst>
              <a:ext uri="{FF2B5EF4-FFF2-40B4-BE49-F238E27FC236}">
                <a16:creationId xmlns:a16="http://schemas.microsoft.com/office/drawing/2014/main" id="{E0888002-2FDA-E1E1-9261-5FEBD5082B49}"/>
              </a:ext>
            </a:extLst>
          </p:cNvPr>
          <p:cNvPicPr>
            <a:picLocks noChangeAspect="1"/>
          </p:cNvPicPr>
          <p:nvPr/>
        </p:nvPicPr>
        <p:blipFill>
          <a:blip r:embed="rId3"/>
          <a:stretch>
            <a:fillRect/>
          </a:stretch>
        </p:blipFill>
        <p:spPr>
          <a:xfrm>
            <a:off x="795892" y="1926454"/>
            <a:ext cx="10398851" cy="4707940"/>
          </a:xfrm>
          <a:prstGeom prst="rect">
            <a:avLst/>
          </a:prstGeom>
        </p:spPr>
      </p:pic>
    </p:spTree>
    <p:extLst>
      <p:ext uri="{BB962C8B-B14F-4D97-AF65-F5344CB8AC3E}">
        <p14:creationId xmlns:p14="http://schemas.microsoft.com/office/powerpoint/2010/main" val="858455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117E42A-5B30-184F-3871-861C16F5E96B}"/>
                  </a:ext>
                </a:extLst>
              </p:cNvPr>
              <p:cNvSpPr txBox="1"/>
              <p:nvPr/>
            </p:nvSpPr>
            <p:spPr>
              <a:xfrm>
                <a:off x="1784412" y="159798"/>
                <a:ext cx="9809825" cy="6001643"/>
              </a:xfrm>
              <a:prstGeom prst="rect">
                <a:avLst/>
              </a:prstGeom>
              <a:noFill/>
            </p:spPr>
            <p:txBody>
              <a:bodyPr wrap="square" rtlCol="0">
                <a:spAutoFit/>
              </a:bodyPr>
              <a:lstStyle/>
              <a:p>
                <a:pPr marL="342900" indent="-342900" algn="just">
                  <a:buAutoNum type="arabicPeriod"/>
                </a:pPr>
                <a:r>
                  <a:rPr lang="en-US" sz="2400" dirty="0"/>
                  <a:t>A monochromatic x-ray beam whose wavelength is 55.8 pm is scattered through </a:t>
                </a:r>
                <a14:m>
                  <m:oMath xmlns:m="http://schemas.openxmlformats.org/officeDocument/2006/math">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rPr>
                      <m:t>46</m:t>
                    </m:r>
                    <m:r>
                      <a:rPr kumimoji="0" lang="en-US" sz="24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rPr>
                      <m:t>°</m:t>
                    </m:r>
                  </m:oMath>
                </a14:m>
                <a:r>
                  <a:rPr lang="en-US" sz="2400" dirty="0"/>
                  <a:t>. Find the wavelength of the scattered beam.</a:t>
                </a:r>
              </a:p>
              <a:p>
                <a:pPr marL="342900" indent="-342900" algn="just">
                  <a:buAutoNum type="arabicPeriod"/>
                </a:pPr>
                <a:endParaRPr lang="en-US" sz="2400" dirty="0"/>
              </a:p>
              <a:p>
                <a:pPr marL="342900" indent="-342900" algn="just">
                  <a:buAutoNum type="arabicPeriod"/>
                </a:pPr>
                <a:r>
                  <a:rPr lang="en-US" sz="2400" dirty="0"/>
                  <a:t>A beam of x-rays is scattered by a target. At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45</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lang="en-US" sz="2400" dirty="0"/>
                  <a:t> from the beam direction the scattered x-rays have a wavelength of 2.2 pm. What is the wavelength of the x-rays in the direct beam?</a:t>
                </a:r>
              </a:p>
              <a:p>
                <a:pPr marL="342900" indent="-342900" algn="just">
                  <a:buAutoNum type="arabicPeriod"/>
                </a:pPr>
                <a:endParaRPr lang="en-US" sz="2400" dirty="0"/>
              </a:p>
              <a:p>
                <a:pPr marL="342900" indent="-342900" algn="just">
                  <a:buAutoNum type="arabicPeriod"/>
                </a:pPr>
                <a:r>
                  <a:rPr lang="en-US" sz="2400" dirty="0"/>
                  <a:t>An x-ray photon whose initial frequency was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5</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19</m:t>
                        </m:r>
                      </m:sup>
                    </m:sSup>
                    <m:r>
                      <a:rPr lang="en-US" sz="2400" b="0" i="1" smtClean="0">
                        <a:latin typeface="Cambria Math" panose="02040503050406030204" pitchFamily="18" charset="0"/>
                      </a:rPr>
                      <m:t> </m:t>
                    </m:r>
                    <m:r>
                      <a:rPr lang="en-US" sz="2400" b="0" i="1" smtClean="0">
                        <a:latin typeface="Cambria Math" panose="02040503050406030204" pitchFamily="18" charset="0"/>
                      </a:rPr>
                      <m:t>𝐻𝑧</m:t>
                    </m:r>
                  </m:oMath>
                </a14:m>
                <a:r>
                  <a:rPr lang="en-US" sz="2400" dirty="0"/>
                  <a:t> emerges from a collision with an electron with frequency of </a:t>
                </a:r>
                <a14:m>
                  <m:oMath xmlns:m="http://schemas.openxmlformats.org/officeDocument/2006/math">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1</m:t>
                        </m:r>
                        <m:r>
                          <a:rPr lang="en-US" sz="2400" i="1">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rPr>
                          <m:t>2</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rPr>
                          <m:t>19</m:t>
                        </m:r>
                      </m:sup>
                    </m:sSup>
                    <m:r>
                      <a:rPr lang="en-US" sz="2400" b="0" i="1" smtClean="0">
                        <a:solidFill>
                          <a:prstClr val="black"/>
                        </a:solidFill>
                        <a:latin typeface="Cambria Math" panose="02040503050406030204" pitchFamily="18" charset="0"/>
                      </a:rPr>
                      <m:t> </m:t>
                    </m:r>
                    <m:r>
                      <a:rPr lang="en-US" sz="2400" b="0" i="1" smtClean="0">
                        <a:solidFill>
                          <a:prstClr val="black"/>
                        </a:solidFill>
                        <a:latin typeface="Cambria Math" panose="02040503050406030204" pitchFamily="18" charset="0"/>
                      </a:rPr>
                      <m:t>𝐻𝑧</m:t>
                    </m:r>
                  </m:oMath>
                </a14:m>
                <a:r>
                  <a:rPr lang="en-US" sz="2400" dirty="0"/>
                  <a:t>. How much kinetic energy was imparted to the electron?</a:t>
                </a:r>
              </a:p>
              <a:p>
                <a:pPr marL="342900" indent="-342900" algn="just">
                  <a:buAutoNum type="arabicPeriod"/>
                </a:pPr>
                <a:endParaRPr lang="en-US" sz="2400" dirty="0"/>
              </a:p>
              <a:p>
                <a:pPr marL="342900" indent="-342900" algn="just">
                  <a:buAutoNum type="arabicPeriod"/>
                </a:pPr>
                <a:r>
                  <a:rPr lang="en-US" sz="2400" dirty="0"/>
                  <a:t>An x-ray photon of initial frequency </a:t>
                </a:r>
                <a14:m>
                  <m:oMath xmlns:m="http://schemas.openxmlformats.org/officeDocument/2006/math">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3</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0</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19</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𝐻𝑧</m:t>
                    </m:r>
                  </m:oMath>
                </a14:m>
                <a:r>
                  <a:rPr lang="en-US" sz="2400" dirty="0"/>
                  <a:t> collides with an electron and is scattered through </a:t>
                </a:r>
                <a14:m>
                  <m:oMath xmlns:m="http://schemas.openxmlformats.org/officeDocument/2006/math">
                    <m:r>
                      <a:rPr lang="en-US" sz="2400" i="1" dirty="0" smtClean="0">
                        <a:solidFill>
                          <a:prstClr val="black"/>
                        </a:solidFill>
                        <a:latin typeface="Cambria Math" panose="02040503050406030204" pitchFamily="18" charset="0"/>
                      </a:rPr>
                      <m:t>9</m:t>
                    </m:r>
                    <m:r>
                      <a:rPr lang="en-US" sz="2400" b="0" i="1" dirty="0" smtClean="0">
                        <a:solidFill>
                          <a:prstClr val="black"/>
                        </a:solidFill>
                        <a:latin typeface="Cambria Math" panose="02040503050406030204" pitchFamily="18" charset="0"/>
                      </a:rPr>
                      <m:t>0</m:t>
                    </m:r>
                    <m:r>
                      <a:rPr lang="en-US" sz="2400" i="1">
                        <a:solidFill>
                          <a:prstClr val="black"/>
                        </a:solidFill>
                        <a:latin typeface="Cambria Math" panose="02040503050406030204" pitchFamily="18" charset="0"/>
                        <a:ea typeface="Cambria Math" panose="02040503050406030204" pitchFamily="18" charset="0"/>
                      </a:rPr>
                      <m:t>°</m:t>
                    </m:r>
                  </m:oMath>
                </a14:m>
                <a:r>
                  <a:rPr lang="en-US" sz="2400" dirty="0"/>
                  <a:t>. Find its new frequency.</a:t>
                </a:r>
              </a:p>
              <a:p>
                <a:pPr marL="342900" indent="-342900" algn="just">
                  <a:buAutoNum type="arabicPeriod"/>
                </a:pPr>
                <a:endParaRPr lang="en-US" sz="2400" dirty="0"/>
              </a:p>
              <a:p>
                <a:pPr marL="342900" indent="-342900" algn="just">
                  <a:buAutoNum type="arabicPeriod"/>
                </a:pPr>
                <a:r>
                  <a:rPr lang="en-US" sz="2400" dirty="0"/>
                  <a:t>At what scattering angle will incident 100-keV x-rays leave a target with an energy of 90 keV?</a:t>
                </a:r>
              </a:p>
            </p:txBody>
          </p:sp>
        </mc:Choice>
        <mc:Fallback xmlns="">
          <p:sp>
            <p:nvSpPr>
              <p:cNvPr id="4" name="TextBox 3">
                <a:extLst>
                  <a:ext uri="{FF2B5EF4-FFF2-40B4-BE49-F238E27FC236}">
                    <a16:creationId xmlns:a16="http://schemas.microsoft.com/office/drawing/2014/main" xmlns="" xmlns:a14="http://schemas.microsoft.com/office/drawing/2010/main" id="{0117E42A-5B30-184F-3871-861C16F5E96B}"/>
                  </a:ext>
                </a:extLst>
              </p:cNvPr>
              <p:cNvSpPr txBox="1">
                <a:spLocks noRot="1" noChangeAspect="1" noMove="1" noResize="1" noEditPoints="1" noAdjustHandles="1" noChangeArrowheads="1" noChangeShapeType="1" noTextEdit="1"/>
              </p:cNvSpPr>
              <p:nvPr/>
            </p:nvSpPr>
            <p:spPr>
              <a:xfrm>
                <a:off x="1784412" y="159798"/>
                <a:ext cx="9809825" cy="6001643"/>
              </a:xfrm>
              <a:prstGeom prst="rect">
                <a:avLst/>
              </a:prstGeom>
              <a:blipFill>
                <a:blip r:embed="rId2"/>
                <a:stretch>
                  <a:fillRect l="-994" t="-914" r="-932" b="-1320"/>
                </a:stretch>
              </a:blipFill>
            </p:spPr>
            <p:txBody>
              <a:bodyPr/>
              <a:lstStyle/>
              <a:p>
                <a:r>
                  <a:rPr lang="en-US">
                    <a:noFill/>
                  </a:rPr>
                  <a:t> </a:t>
                </a:r>
              </a:p>
            </p:txBody>
          </p:sp>
        </mc:Fallback>
      </mc:AlternateContent>
    </p:spTree>
    <p:extLst>
      <p:ext uri="{BB962C8B-B14F-4D97-AF65-F5344CB8AC3E}">
        <p14:creationId xmlns:p14="http://schemas.microsoft.com/office/powerpoint/2010/main" val="3308973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9F6EF5-359D-C904-CB5B-D1931A3394C7}"/>
              </a:ext>
            </a:extLst>
          </p:cNvPr>
          <p:cNvSpPr txBox="1"/>
          <p:nvPr/>
        </p:nvSpPr>
        <p:spPr>
          <a:xfrm>
            <a:off x="5104661" y="0"/>
            <a:ext cx="1819922" cy="646331"/>
          </a:xfrm>
          <a:prstGeom prst="rect">
            <a:avLst/>
          </a:prstGeom>
          <a:noFill/>
        </p:spPr>
        <p:txBody>
          <a:bodyPr wrap="square" rtlCol="0">
            <a:spAutoFit/>
          </a:bodyPr>
          <a:lstStyle/>
          <a:p>
            <a:r>
              <a:rPr lang="en-US" sz="3600" dirty="0"/>
              <a:t>X-RAYS</a:t>
            </a:r>
          </a:p>
        </p:txBody>
      </p:sp>
      <p:sp>
        <p:nvSpPr>
          <p:cNvPr id="3" name="TextBox 2">
            <a:extLst>
              <a:ext uri="{FF2B5EF4-FFF2-40B4-BE49-F238E27FC236}">
                <a16:creationId xmlns:a16="http://schemas.microsoft.com/office/drawing/2014/main" id="{B20058C9-2C50-8396-F4F6-90CE5EE7226E}"/>
              </a:ext>
            </a:extLst>
          </p:cNvPr>
          <p:cNvSpPr txBox="1"/>
          <p:nvPr/>
        </p:nvSpPr>
        <p:spPr>
          <a:xfrm>
            <a:off x="887767" y="646331"/>
            <a:ext cx="11008311" cy="5262979"/>
          </a:xfrm>
          <a:prstGeom prst="rect">
            <a:avLst/>
          </a:prstGeom>
          <a:noFill/>
        </p:spPr>
        <p:txBody>
          <a:bodyPr wrap="square" rtlCol="0">
            <a:spAutoFit/>
          </a:bodyPr>
          <a:lstStyle/>
          <a:p>
            <a:r>
              <a:rPr lang="en-US" sz="2400" dirty="0"/>
              <a:t>From photoelectric effect we come to know that photon can transfer its energy to electron, can the opposite process is possible? That is can the kinetic energy of an electron be converted to a photon?</a:t>
            </a:r>
          </a:p>
          <a:p>
            <a:r>
              <a:rPr lang="en-US" sz="2400" dirty="0"/>
              <a:t>In1895 Wilhelm Roentgen found that a highly penetrating radiation of unknown nature is produced when fast electrons impinge on matter, this is called x-rays.</a:t>
            </a:r>
          </a:p>
          <a:p>
            <a:endParaRPr lang="en-US" sz="2400" dirty="0"/>
          </a:p>
          <a:p>
            <a:pPr marL="342900" indent="-342900">
              <a:buFont typeface="Wingdings" panose="05000000000000000000" pitchFamily="2" charset="2"/>
              <a:buChar char="Ø"/>
            </a:pPr>
            <a:r>
              <a:rPr lang="en-US" sz="2400" dirty="0"/>
              <a:t>It travel in straight line</a:t>
            </a:r>
          </a:p>
          <a:p>
            <a:pPr marL="342900" indent="-342900">
              <a:buFont typeface="Wingdings" panose="05000000000000000000" pitchFamily="2" charset="2"/>
              <a:buChar char="Ø"/>
            </a:pPr>
            <a:r>
              <a:rPr lang="en-US" sz="2400" dirty="0"/>
              <a:t>It is unaffected by electric and magnetic field.</a:t>
            </a:r>
          </a:p>
          <a:p>
            <a:pPr marL="342900" indent="-342900">
              <a:buFont typeface="Wingdings" panose="05000000000000000000" pitchFamily="2" charset="2"/>
              <a:buChar char="Ø"/>
            </a:pPr>
            <a:r>
              <a:rPr lang="en-US" sz="2400" dirty="0"/>
              <a:t>It passes through opaque materials</a:t>
            </a:r>
          </a:p>
          <a:p>
            <a:pPr marL="342900" indent="-342900">
              <a:buFont typeface="Wingdings" panose="05000000000000000000" pitchFamily="2" charset="2"/>
              <a:buChar char="Ø"/>
            </a:pPr>
            <a:r>
              <a:rPr lang="en-US" sz="2400" dirty="0"/>
              <a:t>It causes phosphorescent substance to glow</a:t>
            </a:r>
          </a:p>
          <a:p>
            <a:pPr marL="342900" indent="-342900">
              <a:buFont typeface="Wingdings" panose="05000000000000000000" pitchFamily="2" charset="2"/>
              <a:buChar char="Ø"/>
            </a:pPr>
            <a:r>
              <a:rPr lang="en-US" sz="2400" dirty="0"/>
              <a:t>The faster the original electrons, the more penetrating the resulting x-rays</a:t>
            </a:r>
          </a:p>
          <a:p>
            <a:pPr marL="342900" indent="-342900">
              <a:buFont typeface="Wingdings" panose="05000000000000000000" pitchFamily="2" charset="2"/>
              <a:buChar char="Ø"/>
            </a:pPr>
            <a:r>
              <a:rPr lang="en-US" sz="2400" dirty="0"/>
              <a:t>The greater the number of electrons, the greater the intensity of the x-ray beam</a:t>
            </a:r>
          </a:p>
          <a:p>
            <a:pPr marL="342900" indent="-342900">
              <a:buFont typeface="Wingdings" panose="05000000000000000000" pitchFamily="2" charset="2"/>
              <a:buChar char="Ø"/>
            </a:pPr>
            <a:r>
              <a:rPr lang="en-US" sz="2400" dirty="0"/>
              <a:t>Electromagnetic radiation with wavelength 0.01-10 nm falls into the x-ray </a:t>
            </a:r>
            <a:r>
              <a:rPr lang="en-US" sz="2400" dirty="0" err="1"/>
              <a:t>catagory</a:t>
            </a:r>
            <a:endParaRPr lang="en-US" sz="2400" dirty="0"/>
          </a:p>
          <a:p>
            <a:pPr marL="342900" indent="-342900">
              <a:buFont typeface="Wingdings" panose="05000000000000000000" pitchFamily="2" charset="2"/>
              <a:buChar char="Ø"/>
            </a:pPr>
            <a:endParaRPr lang="en-US" sz="2400" dirty="0"/>
          </a:p>
        </p:txBody>
      </p:sp>
    </p:spTree>
    <p:extLst>
      <p:ext uri="{BB962C8B-B14F-4D97-AF65-F5344CB8AC3E}">
        <p14:creationId xmlns:p14="http://schemas.microsoft.com/office/powerpoint/2010/main" val="4128160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8DC8B1-751E-F2BD-D32C-EB5E11386E52}"/>
              </a:ext>
            </a:extLst>
          </p:cNvPr>
          <p:cNvPicPr>
            <a:picLocks noChangeAspect="1"/>
          </p:cNvPicPr>
          <p:nvPr/>
        </p:nvPicPr>
        <p:blipFill>
          <a:blip r:embed="rId2"/>
          <a:stretch>
            <a:fillRect/>
          </a:stretch>
        </p:blipFill>
        <p:spPr>
          <a:xfrm>
            <a:off x="2087690" y="0"/>
            <a:ext cx="6582102" cy="2968399"/>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C07A878-63CC-8489-88F7-3F1985739626}"/>
                  </a:ext>
                </a:extLst>
              </p:cNvPr>
              <p:cNvSpPr txBox="1"/>
              <p:nvPr/>
            </p:nvSpPr>
            <p:spPr>
              <a:xfrm>
                <a:off x="97655" y="2968399"/>
                <a:ext cx="11842812" cy="3623171"/>
              </a:xfrm>
              <a:prstGeom prst="rect">
                <a:avLst/>
              </a:prstGeom>
              <a:noFill/>
            </p:spPr>
            <p:txBody>
              <a:bodyPr wrap="square" rtlCol="0">
                <a:spAutoFit/>
              </a:bodyPr>
              <a:lstStyle/>
              <a:p>
                <a:pPr algn="just"/>
                <a:r>
                  <a:rPr lang="en-US" sz="2400" dirty="0"/>
                  <a:t>The figure above represents the diagram of an x-ray tube. A cathode, heated by a filament through which an electric current is passed, supplies electrons by thermionic emission. The high potential difference V maintained between the cathode and a metallic target accelerates the electrons toward the latter. The face of the target is at an angle relative to the electron beam, and x-rays that leave the target pass through the side of the tube. </a:t>
                </a:r>
              </a:p>
              <a:p>
                <a:pPr algn="just"/>
                <a:endParaRPr lang="en-US" sz="2400" dirty="0"/>
              </a:p>
              <a:p>
                <a:pPr marL="285750" indent="-285750" algn="just">
                  <a:buFont typeface="Wingdings" panose="05000000000000000000" pitchFamily="2" charset="2"/>
                  <a:buChar char="Ø"/>
                </a:pPr>
                <a:r>
                  <a:rPr lang="en-US" sz="2400" dirty="0"/>
                  <a:t>The x-rays produced at a given accelerating potential V vary in wavelength, but none has a wavelength shorter than a certain value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rPr>
                          <m:t>𝑚𝑖𝑛</m:t>
                        </m:r>
                      </m:sub>
                    </m:sSub>
                  </m:oMath>
                </a14:m>
                <a:r>
                  <a:rPr lang="en-US" sz="2400" dirty="0"/>
                  <a:t>. Increasing V decreases </a:t>
                </a:r>
                <a14:m>
                  <m:oMath xmlns:m="http://schemas.openxmlformats.org/officeDocument/2006/math">
                    <m:sSub>
                      <m:sSubPr>
                        <m:ctrlPr>
                          <a:rPr lang="en-US" sz="2400" i="1">
                            <a:solidFill>
                              <a:prstClr val="black"/>
                            </a:solidFill>
                            <a:latin typeface="Cambria Math" panose="02040503050406030204" pitchFamily="18" charset="0"/>
                          </a:rPr>
                        </m:ctrlPr>
                      </m:sSubPr>
                      <m:e>
                        <m:r>
                          <a:rPr lang="en-US" sz="2400" i="1">
                            <a:solidFill>
                              <a:prstClr val="black"/>
                            </a:solidFill>
                            <a:latin typeface="Cambria Math" panose="02040503050406030204" pitchFamily="18" charset="0"/>
                            <a:ea typeface="Cambria Math" panose="02040503050406030204" pitchFamily="18" charset="0"/>
                          </a:rPr>
                          <m:t>𝜆</m:t>
                        </m:r>
                      </m:e>
                      <m:sub>
                        <m:r>
                          <a:rPr lang="en-US" sz="2400" i="1">
                            <a:solidFill>
                              <a:prstClr val="black"/>
                            </a:solidFill>
                            <a:latin typeface="Cambria Math" panose="02040503050406030204" pitchFamily="18" charset="0"/>
                          </a:rPr>
                          <m:t>𝑚𝑖𝑛</m:t>
                        </m:r>
                      </m:sub>
                    </m:sSub>
                  </m:oMath>
                </a14:m>
                <a:endParaRPr lang="en-US" sz="2400" dirty="0"/>
              </a:p>
              <a:p>
                <a:pPr algn="ct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𝜆</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𝑚𝑖𝑛</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24</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10</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m:t>
                            </m:r>
                          </m:sup>
                        </m:sSup>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𝑉</m:t>
                        </m:r>
                      </m:den>
                    </m:f>
                  </m:oMath>
                </a14:m>
                <a:r>
                  <a:rPr lang="en-US" sz="2400" dirty="0"/>
                  <a:t> V . m</a:t>
                </a:r>
              </a:p>
            </p:txBody>
          </p:sp>
        </mc:Choice>
        <mc:Fallback xmlns="">
          <p:sp>
            <p:nvSpPr>
              <p:cNvPr id="6" name="TextBox 5">
                <a:extLst>
                  <a:ext uri="{FF2B5EF4-FFF2-40B4-BE49-F238E27FC236}">
                    <a16:creationId xmlns:a16="http://schemas.microsoft.com/office/drawing/2014/main" xmlns="" id="{FC07A878-63CC-8489-88F7-3F1985739626}"/>
                  </a:ext>
                </a:extLst>
              </p:cNvPr>
              <p:cNvSpPr txBox="1">
                <a:spLocks noRot="1" noChangeAspect="1" noMove="1" noResize="1" noEditPoints="1" noAdjustHandles="1" noChangeArrowheads="1" noChangeShapeType="1" noTextEdit="1"/>
              </p:cNvSpPr>
              <p:nvPr/>
            </p:nvSpPr>
            <p:spPr>
              <a:xfrm>
                <a:off x="97655" y="2968399"/>
                <a:ext cx="11842812" cy="3623171"/>
              </a:xfrm>
              <a:prstGeom prst="rect">
                <a:avLst/>
              </a:prstGeom>
              <a:blipFill>
                <a:blip r:embed="rId3"/>
                <a:stretch>
                  <a:fillRect l="-772" t="-1347" r="-823" b="-842"/>
                </a:stretch>
              </a:blipFill>
            </p:spPr>
            <p:txBody>
              <a:bodyPr/>
              <a:lstStyle/>
              <a:p>
                <a:r>
                  <a:rPr lang="en-US">
                    <a:noFill/>
                  </a:rPr>
                  <a:t> </a:t>
                </a:r>
              </a:p>
            </p:txBody>
          </p:sp>
        </mc:Fallback>
      </mc:AlternateContent>
    </p:spTree>
    <p:extLst>
      <p:ext uri="{BB962C8B-B14F-4D97-AF65-F5344CB8AC3E}">
        <p14:creationId xmlns:p14="http://schemas.microsoft.com/office/powerpoint/2010/main" val="27236928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148643-1E36-C209-3FB3-D04D35F2D2B8}"/>
              </a:ext>
            </a:extLst>
          </p:cNvPr>
          <p:cNvSpPr txBox="1"/>
          <p:nvPr/>
        </p:nvSpPr>
        <p:spPr>
          <a:xfrm>
            <a:off x="811763" y="382555"/>
            <a:ext cx="9335414" cy="830997"/>
          </a:xfrm>
          <a:prstGeom prst="rect">
            <a:avLst/>
          </a:prstGeom>
          <a:noFill/>
        </p:spPr>
        <p:txBody>
          <a:bodyPr wrap="square" rtlCol="0">
            <a:spAutoFit/>
          </a:bodyPr>
          <a:lstStyle/>
          <a:p>
            <a:r>
              <a:rPr lang="en-US" sz="2400" dirty="0">
                <a:solidFill>
                  <a:srgbClr val="FF0000"/>
                </a:solidFill>
              </a:rPr>
              <a:t>Find the shortest wavelength and greatest frequency present in the radiation from an x-ray machine whose accelerating potential is 50,000 V.</a:t>
            </a:r>
          </a:p>
        </p:txBody>
      </p:sp>
      <p:pic>
        <p:nvPicPr>
          <p:cNvPr id="6" name="Picture 5">
            <a:extLst>
              <a:ext uri="{FF2B5EF4-FFF2-40B4-BE49-F238E27FC236}">
                <a16:creationId xmlns:a16="http://schemas.microsoft.com/office/drawing/2014/main" id="{C22849D6-5A47-676A-D053-C7415385F797}"/>
              </a:ext>
            </a:extLst>
          </p:cNvPr>
          <p:cNvPicPr>
            <a:picLocks noChangeAspect="1"/>
          </p:cNvPicPr>
          <p:nvPr/>
        </p:nvPicPr>
        <p:blipFill>
          <a:blip r:embed="rId2"/>
          <a:stretch>
            <a:fillRect/>
          </a:stretch>
        </p:blipFill>
        <p:spPr>
          <a:xfrm>
            <a:off x="946540" y="2121393"/>
            <a:ext cx="8728733" cy="2431402"/>
          </a:xfrm>
          <a:prstGeom prst="rect">
            <a:avLst/>
          </a:prstGeom>
        </p:spPr>
      </p:pic>
    </p:spTree>
    <p:extLst>
      <p:ext uri="{BB962C8B-B14F-4D97-AF65-F5344CB8AC3E}">
        <p14:creationId xmlns:p14="http://schemas.microsoft.com/office/powerpoint/2010/main" val="309544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E971D9-D7E4-7B9A-33E9-AFEF63B3BC02}"/>
              </a:ext>
            </a:extLst>
          </p:cNvPr>
          <p:cNvSpPr txBox="1"/>
          <p:nvPr/>
        </p:nvSpPr>
        <p:spPr>
          <a:xfrm>
            <a:off x="772357" y="1120676"/>
            <a:ext cx="9534618" cy="2677656"/>
          </a:xfrm>
          <a:prstGeom prst="rect">
            <a:avLst/>
          </a:prstGeom>
          <a:noFill/>
        </p:spPr>
        <p:txBody>
          <a:bodyPr wrap="square" rtlCol="0">
            <a:spAutoFit/>
          </a:bodyPr>
          <a:lstStyle/>
          <a:p>
            <a:pPr marL="342900" indent="-342900" algn="just">
              <a:buAutoNum type="arabicPeriod"/>
            </a:pPr>
            <a:r>
              <a:rPr lang="en-US" sz="2400" dirty="0"/>
              <a:t>What voltage must be applied to an x-ray tube for it to emit x-rays with a minimum wavelength of 30 pm?</a:t>
            </a:r>
          </a:p>
          <a:p>
            <a:pPr marL="342900" indent="-342900" algn="just">
              <a:buAutoNum type="arabicPeriod"/>
            </a:pPr>
            <a:endParaRPr lang="en-US" sz="2400" dirty="0"/>
          </a:p>
          <a:p>
            <a:pPr marL="342900" indent="-342900" algn="just">
              <a:buAutoNum type="arabicPeriod"/>
            </a:pPr>
            <a:r>
              <a:rPr lang="en-US" sz="2400" dirty="0"/>
              <a:t>Electrons are accelerated in television tubes through potential differences of about 10 kV. Find the highest frequency of the electromagnetic waves emitted when these electrons strike the screen of the tube. What kind of waves are these?</a:t>
            </a:r>
          </a:p>
        </p:txBody>
      </p:sp>
    </p:spTree>
    <p:extLst>
      <p:ext uri="{BB962C8B-B14F-4D97-AF65-F5344CB8AC3E}">
        <p14:creationId xmlns:p14="http://schemas.microsoft.com/office/powerpoint/2010/main" val="1435111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4E529D-34F6-E46A-C939-F3625C6006C7}"/>
              </a:ext>
            </a:extLst>
          </p:cNvPr>
          <p:cNvSpPr txBox="1"/>
          <p:nvPr/>
        </p:nvSpPr>
        <p:spPr>
          <a:xfrm>
            <a:off x="4158343" y="-130629"/>
            <a:ext cx="3875314" cy="646331"/>
          </a:xfrm>
          <a:prstGeom prst="rect">
            <a:avLst/>
          </a:prstGeom>
          <a:noFill/>
        </p:spPr>
        <p:txBody>
          <a:bodyPr wrap="square" rtlCol="0">
            <a:spAutoFit/>
          </a:bodyPr>
          <a:lstStyle/>
          <a:p>
            <a:r>
              <a:rPr lang="en-US" sz="3600" dirty="0"/>
              <a:t>De Broglie Waves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D6F3F59-760B-F776-B459-9132445AA2A8}"/>
                  </a:ext>
                </a:extLst>
              </p:cNvPr>
              <p:cNvSpPr txBox="1"/>
              <p:nvPr/>
            </p:nvSpPr>
            <p:spPr>
              <a:xfrm>
                <a:off x="734786" y="1199279"/>
                <a:ext cx="10797307" cy="4072205"/>
              </a:xfrm>
              <a:prstGeom prst="rect">
                <a:avLst/>
              </a:prstGeom>
              <a:noFill/>
            </p:spPr>
            <p:txBody>
              <a:bodyPr wrap="square" rtlCol="0">
                <a:spAutoFit/>
              </a:bodyPr>
              <a:lstStyle/>
              <a:p>
                <a:r>
                  <a:rPr lang="en-US" sz="2400" dirty="0"/>
                  <a:t>A moving body behaves in certain ways as though it has a wave nature.</a:t>
                </a:r>
              </a:p>
              <a:p>
                <a:r>
                  <a:rPr lang="en-US" sz="2400" dirty="0"/>
                  <a:t>A photon of frequency </a:t>
                </a:r>
                <a14:m>
                  <m:oMath xmlns:m="http://schemas.openxmlformats.org/officeDocument/2006/math">
                    <m:r>
                      <a:rPr lang="en-US" sz="2400" i="1" smtClean="0">
                        <a:latin typeface="Cambria Math" panose="02040503050406030204" pitchFamily="18" charset="0"/>
                        <a:ea typeface="Cambria Math" panose="02040503050406030204" pitchFamily="18" charset="0"/>
                      </a:rPr>
                      <m:t>𝜈</m:t>
                    </m:r>
                  </m:oMath>
                </a14:m>
                <a:r>
                  <a:rPr lang="en-US" sz="2400" dirty="0"/>
                  <a:t> has the momentum </a:t>
                </a:r>
                <a14:m>
                  <m:oMath xmlns:m="http://schemas.openxmlformats.org/officeDocument/2006/math">
                    <m:r>
                      <a:rPr lang="en-US" sz="2400" b="0" i="1" smtClean="0">
                        <a:latin typeface="Cambria Math" panose="02040503050406030204" pitchFamily="18" charset="0"/>
                      </a:rPr>
                      <m:t>𝑝</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r>
                          <a:rPr lang="en-US" sz="2400" b="0" i="1" smtClean="0">
                            <a:latin typeface="Cambria Math" panose="02040503050406030204" pitchFamily="18" charset="0"/>
                            <a:ea typeface="Cambria Math" panose="02040503050406030204" pitchFamily="18" charset="0"/>
                          </a:rPr>
                          <m:t>𝜈</m:t>
                        </m:r>
                      </m:num>
                      <m:den>
                        <m:r>
                          <a:rPr lang="en-US" sz="2400" b="0" i="1" smtClean="0">
                            <a:latin typeface="Cambria Math" panose="02040503050406030204" pitchFamily="18" charset="0"/>
                          </a:rPr>
                          <m:t>𝑐</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num>
                      <m:den>
                        <m:r>
                          <a:rPr lang="en-US" sz="2400" b="0" i="1" smtClean="0">
                            <a:latin typeface="Cambria Math" panose="02040503050406030204" pitchFamily="18" charset="0"/>
                            <a:ea typeface="Cambria Math" panose="02040503050406030204" pitchFamily="18" charset="0"/>
                          </a:rPr>
                          <m:t>𝜆</m:t>
                        </m:r>
                      </m:den>
                    </m:f>
                  </m:oMath>
                </a14:m>
                <a:endParaRPr lang="en-US" sz="2400" dirty="0"/>
              </a:p>
              <a:p>
                <a:r>
                  <a:rPr lang="en-US" sz="2400" dirty="0"/>
                  <a:t>The wavelength of the photon is therefore</a:t>
                </a:r>
              </a:p>
              <a:p>
                <a:pPr algn="ctr"/>
                <a14:m>
                  <m:oMath xmlns:m="http://schemas.openxmlformats.org/officeDocument/2006/math">
                    <m:r>
                      <m:rPr>
                        <m:sty m:val="p"/>
                      </m:rP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λ</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den>
                    </m:f>
                  </m:oMath>
                </a14:m>
                <a:r>
                  <a:rPr lang="en-US" sz="2400" dirty="0"/>
                  <a:t>                (1)</a:t>
                </a:r>
              </a:p>
              <a:p>
                <a:r>
                  <a:rPr lang="en-US" sz="2400" dirty="0"/>
                  <a:t>Equation (1) is a general equation for any particles. The momentum of a particle of mass m and velocity v is </a:t>
                </a:r>
                <a14:m>
                  <m:oMath xmlns:m="http://schemas.openxmlformats.org/officeDocument/2006/math">
                    <m:r>
                      <a:rPr lang="en-US" sz="2400" b="0" i="1" smtClean="0">
                        <a:latin typeface="Cambria Math" panose="02040503050406030204" pitchFamily="18" charset="0"/>
                      </a:rPr>
                      <m:t>𝑝</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𝛾</m:t>
                    </m:r>
                    <m:r>
                      <a:rPr lang="en-US" sz="2400" b="0" i="1" smtClean="0">
                        <a:latin typeface="Cambria Math" panose="02040503050406030204" pitchFamily="18" charset="0"/>
                        <a:ea typeface="Cambria Math" panose="02040503050406030204" pitchFamily="18" charset="0"/>
                      </a:rPr>
                      <m:t>𝑚𝑣</m:t>
                    </m:r>
                  </m:oMath>
                </a14:m>
                <a:r>
                  <a:rPr lang="en-US" sz="2400" dirty="0"/>
                  <a:t>, so de Broglie wavelength is </a:t>
                </a:r>
              </a:p>
              <a:p>
                <a:pPr algn="ctr"/>
                <a14:m>
                  <m:oMath xmlns:m="http://schemas.openxmlformats.org/officeDocument/2006/math">
                    <m:r>
                      <m:rPr>
                        <m:sty m:val="p"/>
                      </m:rP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λ</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num>
                      <m:den>
                        <m:r>
                          <a:rPr lang="en-US" sz="2400" i="1">
                            <a:solidFill>
                              <a:prstClr val="black"/>
                            </a:solidFill>
                            <a:latin typeface="Cambria Math" panose="02040503050406030204" pitchFamily="18" charset="0"/>
                            <a:ea typeface="Cambria Math" panose="02040503050406030204" pitchFamily="18" charset="0"/>
                          </a:rPr>
                          <m:t>𝛾</m:t>
                        </m:r>
                        <m:r>
                          <a:rPr lang="en-US" sz="2400" i="1">
                            <a:solidFill>
                              <a:prstClr val="black"/>
                            </a:solidFill>
                            <a:latin typeface="Cambria Math" panose="02040503050406030204" pitchFamily="18" charset="0"/>
                            <a:ea typeface="Cambria Math" panose="02040503050406030204" pitchFamily="18" charset="0"/>
                          </a:rPr>
                          <m:t>𝑚𝑣</m:t>
                        </m:r>
                      </m:den>
                    </m:f>
                  </m:oMath>
                </a14:m>
                <a:r>
                  <a:rPr lang="en-US" sz="2400" dirty="0"/>
                  <a:t>                 (2)</a:t>
                </a:r>
              </a:p>
              <a:p>
                <a:r>
                  <a:rPr lang="en-US" sz="2400" dirty="0"/>
                  <a:t>Where </a:t>
                </a:r>
                <a14:m>
                  <m:oMath xmlns:m="http://schemas.openxmlformats.org/officeDocument/2006/math">
                    <m:r>
                      <a:rPr lang="en-US" sz="2400" i="1" smtClean="0">
                        <a:latin typeface="Cambria Math" panose="02040503050406030204" pitchFamily="18" charset="0"/>
                        <a:ea typeface="Cambria Math" panose="02040503050406030204" pitchFamily="18" charset="0"/>
                      </a:rPr>
                      <m:t>𝛾</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ad>
                          <m:radPr>
                            <m:degHide m:val="on"/>
                            <m:ctrlPr>
                              <a:rPr lang="en-US" sz="2400" b="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𝑣</m:t>
                                    </m:r>
                                  </m:e>
                                  <m:sup>
                                    <m:r>
                                      <a:rPr lang="en-US" sz="2400" b="0" i="1" smtClean="0">
                                        <a:latin typeface="Cambria Math" panose="02040503050406030204" pitchFamily="18" charset="0"/>
                                        <a:ea typeface="Cambria Math" panose="02040503050406030204" pitchFamily="18" charset="0"/>
                                      </a:rPr>
                                      <m:t>2</m:t>
                                    </m:r>
                                  </m:sup>
                                </m:sSup>
                              </m:num>
                              <m:den>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𝑐</m:t>
                                    </m:r>
                                  </m:e>
                                  <m:sup>
                                    <m:r>
                                      <a:rPr lang="en-US" sz="2400" b="0" i="1" smtClean="0">
                                        <a:latin typeface="Cambria Math" panose="02040503050406030204" pitchFamily="18" charset="0"/>
                                        <a:ea typeface="Cambria Math" panose="02040503050406030204" pitchFamily="18" charset="0"/>
                                      </a:rPr>
                                      <m:t>2</m:t>
                                    </m:r>
                                  </m:sup>
                                </m:sSup>
                              </m:den>
                            </m:f>
                          </m:e>
                        </m:rad>
                      </m:den>
                    </m:f>
                  </m:oMath>
                </a14:m>
                <a:endParaRPr lang="en-US" sz="2400" dirty="0"/>
              </a:p>
            </p:txBody>
          </p:sp>
        </mc:Choice>
        <mc:Fallback xmlns="">
          <p:sp>
            <p:nvSpPr>
              <p:cNvPr id="3" name="TextBox 2">
                <a:extLst>
                  <a:ext uri="{FF2B5EF4-FFF2-40B4-BE49-F238E27FC236}">
                    <a16:creationId xmlns:a16="http://schemas.microsoft.com/office/drawing/2014/main" xmlns="" xmlns:a14="http://schemas.microsoft.com/office/drawing/2010/main" id="{AD6F3F59-760B-F776-B459-9132445AA2A8}"/>
                  </a:ext>
                </a:extLst>
              </p:cNvPr>
              <p:cNvSpPr txBox="1">
                <a:spLocks noRot="1" noChangeAspect="1" noMove="1" noResize="1" noEditPoints="1" noAdjustHandles="1" noChangeArrowheads="1" noChangeShapeType="1" noTextEdit="1"/>
              </p:cNvSpPr>
              <p:nvPr/>
            </p:nvSpPr>
            <p:spPr>
              <a:xfrm>
                <a:off x="734786" y="1199279"/>
                <a:ext cx="10797307" cy="4072205"/>
              </a:xfrm>
              <a:prstGeom prst="rect">
                <a:avLst/>
              </a:prstGeom>
              <a:blipFill>
                <a:blip r:embed="rId2"/>
                <a:stretch>
                  <a:fillRect l="-903" t="-1198"/>
                </a:stretch>
              </a:blipFill>
            </p:spPr>
            <p:txBody>
              <a:bodyPr/>
              <a:lstStyle/>
              <a:p>
                <a:r>
                  <a:rPr lang="en-US">
                    <a:noFill/>
                  </a:rPr>
                  <a:t> </a:t>
                </a:r>
              </a:p>
            </p:txBody>
          </p:sp>
        </mc:Fallback>
      </mc:AlternateContent>
    </p:spTree>
    <p:extLst>
      <p:ext uri="{BB962C8B-B14F-4D97-AF65-F5344CB8AC3E}">
        <p14:creationId xmlns:p14="http://schemas.microsoft.com/office/powerpoint/2010/main" val="10441689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188546-762E-6E49-26B5-B452236D37BF}"/>
              </a:ext>
            </a:extLst>
          </p:cNvPr>
          <p:cNvPicPr>
            <a:picLocks noChangeAspect="1"/>
          </p:cNvPicPr>
          <p:nvPr/>
        </p:nvPicPr>
        <p:blipFill>
          <a:blip r:embed="rId2"/>
          <a:stretch>
            <a:fillRect/>
          </a:stretch>
        </p:blipFill>
        <p:spPr>
          <a:xfrm>
            <a:off x="1411919" y="1394488"/>
            <a:ext cx="8291374" cy="180633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26CEF5-21ED-0E61-06A4-7CE6C4DEFE5D}"/>
                  </a:ext>
                </a:extLst>
              </p:cNvPr>
              <p:cNvSpPr txBox="1"/>
              <p:nvPr/>
            </p:nvSpPr>
            <p:spPr>
              <a:xfrm>
                <a:off x="985421" y="150920"/>
                <a:ext cx="9658905" cy="830997"/>
              </a:xfrm>
              <a:prstGeom prst="rect">
                <a:avLst/>
              </a:prstGeom>
              <a:noFill/>
            </p:spPr>
            <p:txBody>
              <a:bodyPr wrap="square" rtlCol="0">
                <a:spAutoFit/>
              </a:bodyPr>
              <a:lstStyle/>
              <a:p>
                <a:r>
                  <a:rPr lang="en-US" sz="2400" dirty="0">
                    <a:solidFill>
                      <a:srgbClr val="FF0000"/>
                    </a:solidFill>
                  </a:rPr>
                  <a:t>Find the de Broglie wavelengths of (a) a 46-g golf ball with  a velocity of 30 m/s, and (b) an electron with a velocity of </a:t>
                </a:r>
                <a14:m>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10</m:t>
                        </m:r>
                      </m:e>
                      <m:sup>
                        <m:r>
                          <a:rPr lang="en-US" sz="2400" b="0" i="1" smtClean="0">
                            <a:solidFill>
                              <a:srgbClr val="FF0000"/>
                            </a:solidFill>
                            <a:latin typeface="Cambria Math" panose="02040503050406030204" pitchFamily="18" charset="0"/>
                          </a:rPr>
                          <m:t>7</m:t>
                        </m:r>
                      </m:sup>
                    </m:sSup>
                  </m:oMath>
                </a14:m>
                <a:r>
                  <a:rPr lang="en-US" sz="2400" dirty="0">
                    <a:solidFill>
                      <a:srgbClr val="FF0000"/>
                    </a:solidFill>
                  </a:rPr>
                  <a:t>m/s.</a:t>
                </a:r>
              </a:p>
            </p:txBody>
          </p:sp>
        </mc:Choice>
        <mc:Fallback xmlns="">
          <p:sp>
            <p:nvSpPr>
              <p:cNvPr id="6" name="TextBox 5">
                <a:extLst>
                  <a:ext uri="{FF2B5EF4-FFF2-40B4-BE49-F238E27FC236}">
                    <a16:creationId xmlns:a16="http://schemas.microsoft.com/office/drawing/2014/main" xmlns="" xmlns:a14="http://schemas.microsoft.com/office/drawing/2010/main" id="{5026CEF5-21ED-0E61-06A4-7CE6C4DEFE5D}"/>
                  </a:ext>
                </a:extLst>
              </p:cNvPr>
              <p:cNvSpPr txBox="1">
                <a:spLocks noRot="1" noChangeAspect="1" noMove="1" noResize="1" noEditPoints="1" noAdjustHandles="1" noChangeArrowheads="1" noChangeShapeType="1" noTextEdit="1"/>
              </p:cNvSpPr>
              <p:nvPr/>
            </p:nvSpPr>
            <p:spPr>
              <a:xfrm>
                <a:off x="985421" y="150920"/>
                <a:ext cx="9658905" cy="830997"/>
              </a:xfrm>
              <a:prstGeom prst="rect">
                <a:avLst/>
              </a:prstGeom>
              <a:blipFill>
                <a:blip r:embed="rId3"/>
                <a:stretch>
                  <a:fillRect l="-1010" t="-5882" b="-1617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D189F01F-93E6-D0FC-1B19-0A3B8B723A0A}"/>
              </a:ext>
            </a:extLst>
          </p:cNvPr>
          <p:cNvPicPr>
            <a:picLocks noChangeAspect="1"/>
          </p:cNvPicPr>
          <p:nvPr/>
        </p:nvPicPr>
        <p:blipFill>
          <a:blip r:embed="rId4"/>
          <a:stretch>
            <a:fillRect/>
          </a:stretch>
        </p:blipFill>
        <p:spPr>
          <a:xfrm>
            <a:off x="1531628" y="3429000"/>
            <a:ext cx="8929992" cy="2196800"/>
          </a:xfrm>
          <a:prstGeom prst="rect">
            <a:avLst/>
          </a:prstGeom>
        </p:spPr>
      </p:pic>
    </p:spTree>
    <p:extLst>
      <p:ext uri="{BB962C8B-B14F-4D97-AF65-F5344CB8AC3E}">
        <p14:creationId xmlns:p14="http://schemas.microsoft.com/office/powerpoint/2010/main" val="123238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FD70A5-A3F9-EAD3-B7D4-27CB626ACC4F}"/>
              </a:ext>
            </a:extLst>
          </p:cNvPr>
          <p:cNvSpPr txBox="1"/>
          <p:nvPr/>
        </p:nvSpPr>
        <p:spPr>
          <a:xfrm>
            <a:off x="1340528" y="221941"/>
            <a:ext cx="10058400" cy="830997"/>
          </a:xfrm>
          <a:prstGeom prst="rect">
            <a:avLst/>
          </a:prstGeom>
          <a:noFill/>
        </p:spPr>
        <p:txBody>
          <a:bodyPr wrap="square" rtlCol="0">
            <a:spAutoFit/>
          </a:bodyPr>
          <a:lstStyle/>
          <a:p>
            <a:r>
              <a:rPr lang="en-US" sz="2400" dirty="0">
                <a:solidFill>
                  <a:srgbClr val="FF0000"/>
                </a:solidFill>
              </a:rPr>
              <a:t>Find the kinetic energy of a proton whose de Broglie wavelength is 1 </a:t>
            </a:r>
            <a:r>
              <a:rPr lang="en-US" sz="2400" dirty="0" err="1">
                <a:solidFill>
                  <a:srgbClr val="FF0000"/>
                </a:solidFill>
              </a:rPr>
              <a:t>fm</a:t>
            </a:r>
            <a:r>
              <a:rPr lang="en-US" sz="2400" dirty="0">
                <a:solidFill>
                  <a:srgbClr val="FF0000"/>
                </a:solidFill>
              </a:rPr>
              <a:t>=1x10</a:t>
            </a:r>
            <a:r>
              <a:rPr lang="en-US" sz="2400" baseline="30000" dirty="0">
                <a:solidFill>
                  <a:srgbClr val="FF0000"/>
                </a:solidFill>
              </a:rPr>
              <a:t>-15 </a:t>
            </a:r>
            <a:r>
              <a:rPr lang="en-US" sz="2400" dirty="0">
                <a:solidFill>
                  <a:srgbClr val="FF0000"/>
                </a:solidFill>
              </a:rPr>
              <a:t>m, which is roughly the diameter of a proton.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3A78D5-F88A-5622-9644-41D82D5C7B77}"/>
                  </a:ext>
                </a:extLst>
              </p:cNvPr>
              <p:cNvSpPr txBox="1"/>
              <p:nvPr/>
            </p:nvSpPr>
            <p:spPr>
              <a:xfrm>
                <a:off x="1340528" y="1686758"/>
                <a:ext cx="9898602" cy="4376583"/>
              </a:xfrm>
              <a:prstGeom prst="rect">
                <a:avLst/>
              </a:prstGeom>
              <a:noFill/>
            </p:spPr>
            <p:txBody>
              <a:bodyPr wrap="square" rtlCol="0">
                <a:spAutoFit/>
              </a:bodyPr>
              <a:lstStyle/>
              <a:p>
                <a:r>
                  <a:rPr lang="en-US" sz="2400" dirty="0"/>
                  <a:t>A relativistic calculation is needed unless pc for the proton is much smaller than the proton rest energy </a:t>
                </a:r>
              </a:p>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938</m:t>
                      </m:r>
                      <m:r>
                        <a:rPr lang="en-US" sz="2400" b="0" i="1" smtClean="0">
                          <a:latin typeface="Cambria Math" panose="02040503050406030204" pitchFamily="18" charset="0"/>
                        </a:rPr>
                        <m:t> </m:t>
                      </m:r>
                      <m:r>
                        <a:rPr lang="en-US" sz="2400" b="0" i="1" smtClean="0">
                          <a:latin typeface="Cambria Math" panose="02040503050406030204" pitchFamily="18" charset="0"/>
                        </a:rPr>
                        <m:t>𝐺𝑒𝑉</m:t>
                      </m:r>
                    </m:oMath>
                  </m:oMathPara>
                </a14:m>
                <a:endParaRPr lang="en-US" sz="2400" b="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𝑝𝑐</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r>
                            <a:rPr lang="en-US" sz="2400" b="0" i="1" smtClean="0">
                              <a:latin typeface="Cambria Math" panose="02040503050406030204" pitchFamily="18" charset="0"/>
                            </a:rPr>
                            <m:t>𝑐</m:t>
                          </m:r>
                        </m:num>
                        <m:den>
                          <m:r>
                            <a:rPr lang="en-US" sz="2400" b="0" i="1" smtClean="0">
                              <a:latin typeface="Cambria Math" panose="02040503050406030204" pitchFamily="18" charset="0"/>
                              <a:ea typeface="Cambria Math" panose="02040503050406030204" pitchFamily="18" charset="0"/>
                            </a:rPr>
                            <m:t>𝜆</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6</m:t>
                              </m:r>
                              <m:r>
                                <a:rPr lang="en-US" sz="2400" b="0" i="1" smtClean="0">
                                  <a:latin typeface="Cambria Math" panose="02040503050406030204" pitchFamily="18" charset="0"/>
                                </a:rPr>
                                <m:t>.</m:t>
                              </m:r>
                              <m:r>
                                <a:rPr lang="en-US" sz="2400" b="0" i="1" smtClean="0">
                                  <a:latin typeface="Cambria Math" panose="02040503050406030204" pitchFamily="18" charset="0"/>
                                </a:rPr>
                                <m:t>626</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m:t>
                              </m:r>
                              <m:r>
                                <a:rPr lang="en-US" sz="2400" b="0" i="1" smtClean="0">
                                  <a:latin typeface="Cambria Math" panose="02040503050406030204" pitchFamily="18" charset="0"/>
                                </a:rPr>
                                <m:t>34</m:t>
                              </m:r>
                            </m:sup>
                          </m:sSup>
                          <m:r>
                            <a:rPr lang="en-US" sz="2400" b="0" i="1" smtClean="0">
                              <a:latin typeface="Cambria Math" panose="02040503050406030204" pitchFamily="18" charset="0"/>
                            </a:rPr>
                            <m:t> </m:t>
                          </m:r>
                          <m:r>
                            <a:rPr lang="en-US" sz="2400" b="0" i="1" smtClean="0">
                              <a:latin typeface="Cambria Math" panose="02040503050406030204" pitchFamily="18" charset="0"/>
                            </a:rPr>
                            <m:t>𝐽</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r>
                                <a:rPr lang="en-US" sz="2400" b="0" i="1" smtClean="0">
                                  <a:latin typeface="Cambria Math" panose="02040503050406030204" pitchFamily="18" charset="0"/>
                                </a:rPr>
                                <m:t>.</m:t>
                              </m:r>
                              <m:r>
                                <a:rPr lang="en-US" sz="2400" b="0" i="1" smtClean="0">
                                  <a:latin typeface="Cambria Math" panose="02040503050406030204" pitchFamily="18" charset="0"/>
                                </a:rPr>
                                <m:t>998</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8</m:t>
                              </m:r>
                            </m:sup>
                          </m:sSup>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00</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m:t>
                              </m:r>
                              <m:r>
                                <a:rPr lang="en-US" sz="2400" b="0" i="1" smtClean="0">
                                  <a:latin typeface="Cambria Math" panose="02040503050406030204" pitchFamily="18" charset="0"/>
                                </a:rPr>
                                <m:t>15</m:t>
                              </m:r>
                            </m:sup>
                          </m:sSup>
                          <m:r>
                            <a:rPr lang="en-US" sz="2400" b="0" i="1" smtClean="0">
                              <a:latin typeface="Cambria Math" panose="02040503050406030204" pitchFamily="18" charset="0"/>
                            </a:rPr>
                            <m:t> </m:t>
                          </m:r>
                          <m:r>
                            <a:rPr lang="en-US" sz="2400" b="0" i="1" smtClean="0">
                              <a:latin typeface="Cambria Math" panose="02040503050406030204" pitchFamily="18" charset="0"/>
                            </a:rPr>
                            <m:t>𝑚</m:t>
                          </m:r>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19</m:t>
                          </m:r>
                          <m:r>
                            <a:rPr lang="en-US" sz="2400" b="0" i="1" smtClean="0">
                              <a:latin typeface="Cambria Math" panose="02040503050406030204" pitchFamily="18" charset="0"/>
                            </a:rPr>
                            <m:t>.</m:t>
                          </m:r>
                          <m:r>
                            <a:rPr lang="en-US" sz="2400" b="0" i="1" smtClean="0">
                              <a:latin typeface="Cambria Math" panose="02040503050406030204" pitchFamily="18" charset="0"/>
                            </a:rPr>
                            <m:t>86</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m:t>
                          </m:r>
                          <m:r>
                            <a:rPr lang="en-US" sz="2400" b="0" i="1" smtClean="0">
                              <a:latin typeface="Cambria Math" panose="02040503050406030204" pitchFamily="18" charset="0"/>
                            </a:rPr>
                            <m:t>11</m:t>
                          </m:r>
                        </m:sup>
                      </m:sSup>
                      <m:r>
                        <a:rPr lang="en-US" sz="2400" b="0" i="1" smtClean="0">
                          <a:latin typeface="Cambria Math" panose="02040503050406030204" pitchFamily="18" charset="0"/>
                        </a:rPr>
                        <m:t>𝐽</m:t>
                      </m:r>
                    </m:oMath>
                  </m:oMathPara>
                </a14:m>
                <a:endParaRPr lang="en-US" sz="2400" b="0" dirty="0"/>
              </a:p>
              <a:p>
                <a:pPr algn="ct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19</m:t>
                              </m:r>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86</m:t>
                              </m:r>
                              <m:r>
                                <a:rPr lang="en-US" sz="2400" i="1">
                                  <a:solidFill>
                                    <a:prstClr val="black"/>
                                  </a:solidFill>
                                  <a:latin typeface="Cambria Math" panose="02040503050406030204" pitchFamily="18" charset="0"/>
                                  <a:ea typeface="Cambria Math" panose="02040503050406030204" pitchFamily="18" charset="0"/>
                                </a:rPr>
                                <m:t>×</m:t>
                              </m:r>
                              <m:r>
                                <a:rPr lang="en-US" sz="2400" i="1">
                                  <a:solidFill>
                                    <a:prstClr val="black"/>
                                  </a:solidFill>
                                  <a:latin typeface="Cambria Math" panose="02040503050406030204" pitchFamily="18" charset="0"/>
                                  <a:ea typeface="Cambria Math" panose="02040503050406030204" pitchFamily="18" charset="0"/>
                                </a:rPr>
                                <m:t>10</m:t>
                              </m:r>
                            </m:e>
                            <m:sup>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11</m:t>
                              </m:r>
                            </m:sup>
                          </m:sSup>
                          <m:r>
                            <a:rPr lang="en-US" sz="2400" i="1">
                              <a:solidFill>
                                <a:prstClr val="black"/>
                              </a:solidFill>
                              <a:latin typeface="Cambria Math" panose="02040503050406030204" pitchFamily="18" charset="0"/>
                            </a:rPr>
                            <m:t>𝐽</m:t>
                          </m:r>
                          <m:r>
                            <m:rPr>
                              <m:nor/>
                            </m:rPr>
                            <a:rPr lang="en-US" sz="2400" dirty="0">
                              <a:solidFill>
                                <a:prstClr val="black"/>
                              </a:solidFill>
                            </a:rPr>
                            <m:t> </m:t>
                          </m:r>
                        </m:num>
                        <m:den>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6</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m:t>
                              </m:r>
                              <m:r>
                                <a:rPr lang="en-US" sz="2400" b="0" i="1" smtClean="0">
                                  <a:latin typeface="Cambria Math" panose="02040503050406030204" pitchFamily="18" charset="0"/>
                                </a:rPr>
                                <m:t>19</m:t>
                              </m:r>
                            </m:sup>
                          </m:sSup>
                        </m:den>
                      </m:f>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241</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rPr>
                            <m:t>9</m:t>
                          </m:r>
                        </m:sup>
                      </m:sSup>
                      <m:r>
                        <a:rPr lang="en-US" sz="2400" b="0" i="1" smtClean="0">
                          <a:latin typeface="Cambria Math" panose="02040503050406030204" pitchFamily="18" charset="0"/>
                        </a:rPr>
                        <m:t> </m:t>
                      </m:r>
                      <m:r>
                        <a:rPr lang="en-US" sz="2400" b="0" i="1" smtClean="0">
                          <a:latin typeface="Cambria Math" panose="02040503050406030204" pitchFamily="18" charset="0"/>
                        </a:rPr>
                        <m:t>𝑒𝑉</m:t>
                      </m:r>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241</m:t>
                      </m:r>
                      <m:r>
                        <a:rPr lang="en-US" sz="2400" b="0" i="1" smtClean="0">
                          <a:latin typeface="Cambria Math" panose="02040503050406030204" pitchFamily="18" charset="0"/>
                        </a:rPr>
                        <m:t> </m:t>
                      </m:r>
                      <m:r>
                        <a:rPr lang="en-US" sz="2400" b="0" i="1" smtClean="0">
                          <a:latin typeface="Cambria Math" panose="02040503050406030204" pitchFamily="18" charset="0"/>
                        </a:rPr>
                        <m:t>𝐺𝑒𝑉</m:t>
                      </m:r>
                    </m:oMath>
                  </m:oMathPara>
                </a14:m>
                <a:endParaRPr lang="en-US" sz="2400" dirty="0"/>
              </a:p>
              <a:p>
                <a:pPr algn="ctr"/>
                <a:r>
                  <a:rPr lang="en-US" sz="2400" dirty="0"/>
                  <a:t>So, the total energy of the proton is </a:t>
                </a:r>
              </a:p>
              <a:p>
                <a:pPr algn="ct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𝐸</m:t>
                      </m:r>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0</m:t>
                                  </m:r>
                                </m:sub>
                              </m:sSub>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𝑝</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m:t>
                              </m:r>
                            </m:e>
                            <m:sup>
                              <m:r>
                                <a:rPr lang="en-US" sz="2400" b="0" i="1" smtClean="0">
                                  <a:latin typeface="Cambria Math" panose="02040503050406030204" pitchFamily="18" charset="0"/>
                                </a:rPr>
                                <m:t>2</m:t>
                              </m:r>
                            </m:sup>
                          </m:sSup>
                        </m:e>
                      </m:rad>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938</m:t>
                              </m:r>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241</m:t>
                              </m:r>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e>
                      </m:rad>
                      <m:r>
                        <a:rPr lang="en-US" sz="2400" b="0" i="1" smtClean="0">
                          <a:latin typeface="Cambria Math" panose="02040503050406030204" pitchFamily="18" charset="0"/>
                        </a:rPr>
                        <m:t>=</m:t>
                      </m:r>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555</m:t>
                      </m:r>
                      <m:r>
                        <a:rPr lang="en-US" sz="2400" b="0" i="1" smtClean="0">
                          <a:latin typeface="Cambria Math" panose="02040503050406030204" pitchFamily="18" charset="0"/>
                        </a:rPr>
                        <m:t> </m:t>
                      </m:r>
                      <m:r>
                        <a:rPr lang="en-US" sz="2400" b="0" i="1" smtClean="0">
                          <a:latin typeface="Cambria Math" panose="02040503050406030204" pitchFamily="18" charset="0"/>
                        </a:rPr>
                        <m:t>𝐺𝑒𝑉</m:t>
                      </m:r>
                    </m:oMath>
                  </m:oMathPara>
                </a14:m>
                <a:endParaRPr lang="en-US" sz="2400" dirty="0"/>
              </a:p>
              <a:p>
                <a:pPr algn="ctr"/>
                <a:r>
                  <a:rPr lang="en-US" sz="2400" dirty="0"/>
                  <a:t>Kinetic energy </a:t>
                </a:r>
                <a14:m>
                  <m:oMath xmlns:m="http://schemas.openxmlformats.org/officeDocument/2006/math">
                    <m:r>
                      <a:rPr lang="en-US" sz="2400" b="0" i="1" smtClean="0">
                        <a:latin typeface="Cambria Math" panose="02040503050406030204" pitchFamily="18" charset="0"/>
                      </a:rPr>
                      <m:t>𝐾𝐸</m:t>
                    </m:r>
                    <m:r>
                      <a:rPr lang="en-US" sz="2400" b="0" i="1" smtClean="0">
                        <a:latin typeface="Cambria Math" panose="02040503050406030204" pitchFamily="18" charset="0"/>
                      </a:rPr>
                      <m:t>=</m:t>
                    </m:r>
                    <m:r>
                      <a:rPr lang="en-US" sz="2400" b="0" i="1" smtClean="0">
                        <a:latin typeface="Cambria Math" panose="02040503050406030204" pitchFamily="18" charset="0"/>
                      </a:rPr>
                      <m:t>𝐸</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m:t>
                        </m:r>
                        <m:r>
                          <a:rPr lang="en-US" sz="2400" b="0" i="1" smtClean="0">
                            <a:latin typeface="Cambria Math" panose="02040503050406030204" pitchFamily="18" charset="0"/>
                          </a:rPr>
                          <m:t>555</m:t>
                        </m:r>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938</m:t>
                        </m:r>
                      </m:e>
                    </m:d>
                    <m:r>
                      <a:rPr lang="en-US" sz="2400" b="0" i="1" smtClean="0">
                        <a:latin typeface="Cambria Math" panose="02040503050406030204" pitchFamily="18" charset="0"/>
                      </a:rPr>
                      <m:t>𝐺𝑒𝑉</m:t>
                    </m:r>
                    <m:r>
                      <a:rPr lang="en-US" sz="2400" b="0" i="1" smtClean="0">
                        <a:latin typeface="Cambria Math" panose="02040503050406030204" pitchFamily="18" charset="0"/>
                      </a:rPr>
                      <m:t>=</m:t>
                    </m:r>
                    <m:r>
                      <a:rPr lang="en-US" sz="2400" b="0" i="1" smtClean="0">
                        <a:latin typeface="Cambria Math" panose="02040503050406030204" pitchFamily="18" charset="0"/>
                      </a:rPr>
                      <m:t>0</m:t>
                    </m:r>
                    <m:r>
                      <a:rPr lang="en-US" sz="2400" b="0" i="1" smtClean="0">
                        <a:latin typeface="Cambria Math" panose="02040503050406030204" pitchFamily="18" charset="0"/>
                      </a:rPr>
                      <m:t>.</m:t>
                    </m:r>
                    <m:r>
                      <a:rPr lang="en-US" sz="2400" b="0" i="1" smtClean="0">
                        <a:latin typeface="Cambria Math" panose="02040503050406030204" pitchFamily="18" charset="0"/>
                      </a:rPr>
                      <m:t>617</m:t>
                    </m:r>
                    <m:r>
                      <a:rPr lang="en-US" sz="2400" b="0" i="1" smtClean="0">
                        <a:latin typeface="Cambria Math" panose="02040503050406030204" pitchFamily="18" charset="0"/>
                      </a:rPr>
                      <m:t> </m:t>
                    </m:r>
                    <m:r>
                      <a:rPr lang="en-US" sz="2400" b="0" i="1" smtClean="0">
                        <a:latin typeface="Cambria Math" panose="02040503050406030204" pitchFamily="18" charset="0"/>
                      </a:rPr>
                      <m:t>𝐺𝑒𝑉</m:t>
                    </m:r>
                    <m:r>
                      <a:rPr lang="en-US" sz="2400" b="0" i="1" smtClean="0">
                        <a:latin typeface="Cambria Math" panose="02040503050406030204" pitchFamily="18" charset="0"/>
                      </a:rPr>
                      <m:t>=</m:t>
                    </m:r>
                    <m:r>
                      <a:rPr lang="en-US" sz="2400" b="0" i="1" smtClean="0">
                        <a:latin typeface="Cambria Math" panose="02040503050406030204" pitchFamily="18" charset="0"/>
                      </a:rPr>
                      <m:t>617</m:t>
                    </m:r>
                    <m:r>
                      <a:rPr lang="en-US" sz="2400" b="0" i="1" smtClean="0">
                        <a:latin typeface="Cambria Math" panose="02040503050406030204" pitchFamily="18" charset="0"/>
                      </a:rPr>
                      <m:t> </m:t>
                    </m:r>
                    <m:r>
                      <a:rPr lang="en-US" sz="2400" b="0" i="1" smtClean="0">
                        <a:latin typeface="Cambria Math" panose="02040503050406030204" pitchFamily="18" charset="0"/>
                      </a:rPr>
                      <m:t>𝑀𝑒𝑉</m:t>
                    </m:r>
                  </m:oMath>
                </a14:m>
                <a:endParaRPr lang="en-US" sz="2400" dirty="0"/>
              </a:p>
            </p:txBody>
          </p:sp>
        </mc:Choice>
        <mc:Fallback xmlns="">
          <p:sp>
            <p:nvSpPr>
              <p:cNvPr id="7" name="TextBox 6">
                <a:extLst>
                  <a:ext uri="{FF2B5EF4-FFF2-40B4-BE49-F238E27FC236}">
                    <a16:creationId xmlns:a16="http://schemas.microsoft.com/office/drawing/2014/main" xmlns="" xmlns:a14="http://schemas.microsoft.com/office/drawing/2010/main" id="{003A78D5-F88A-5622-9644-41D82D5C7B77}"/>
                  </a:ext>
                </a:extLst>
              </p:cNvPr>
              <p:cNvSpPr txBox="1">
                <a:spLocks noRot="1" noChangeAspect="1" noMove="1" noResize="1" noEditPoints="1" noAdjustHandles="1" noChangeArrowheads="1" noChangeShapeType="1" noTextEdit="1"/>
              </p:cNvSpPr>
              <p:nvPr/>
            </p:nvSpPr>
            <p:spPr>
              <a:xfrm>
                <a:off x="1340528" y="1686758"/>
                <a:ext cx="9898602" cy="4376583"/>
              </a:xfrm>
              <a:prstGeom prst="rect">
                <a:avLst/>
              </a:prstGeom>
              <a:blipFill>
                <a:blip r:embed="rId2"/>
                <a:stretch>
                  <a:fillRect l="-985" t="-1114"/>
                </a:stretch>
              </a:blipFill>
            </p:spPr>
            <p:txBody>
              <a:bodyPr/>
              <a:lstStyle/>
              <a:p>
                <a:r>
                  <a:rPr lang="en-US">
                    <a:noFill/>
                  </a:rPr>
                  <a:t> </a:t>
                </a:r>
              </a:p>
            </p:txBody>
          </p:sp>
        </mc:Fallback>
      </mc:AlternateContent>
    </p:spTree>
    <p:extLst>
      <p:ext uri="{BB962C8B-B14F-4D97-AF65-F5344CB8AC3E}">
        <p14:creationId xmlns:p14="http://schemas.microsoft.com/office/powerpoint/2010/main" val="2586935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36F7393-7B72-C90B-283B-D55CC8AF9664}"/>
                  </a:ext>
                </a:extLst>
              </p:cNvPr>
              <p:cNvSpPr txBox="1"/>
              <p:nvPr/>
            </p:nvSpPr>
            <p:spPr>
              <a:xfrm>
                <a:off x="1331650" y="470517"/>
                <a:ext cx="9507985" cy="6001643"/>
              </a:xfrm>
              <a:prstGeom prst="rect">
                <a:avLst/>
              </a:prstGeom>
              <a:noFill/>
            </p:spPr>
            <p:txBody>
              <a:bodyPr wrap="square" rtlCol="0">
                <a:spAutoFit/>
              </a:bodyPr>
              <a:lstStyle/>
              <a:p>
                <a:pPr algn="just"/>
                <a:r>
                  <a:rPr lang="en-US" sz="2400" dirty="0"/>
                  <a:t>In water waves, the quantity that varies periodically is the height of the water surface, in sound waves it is pressure, in light waves it is electric and magnetic field. What is varies in case of matter wave?? The answer is wave function, denoted by the symbol </a:t>
                </a:r>
                <a14:m>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Ψ</m:t>
                    </m:r>
                  </m:oMath>
                </a14:m>
                <a:r>
                  <a:rPr lang="en-US" sz="2400" dirty="0"/>
                  <a:t>.</a:t>
                </a:r>
              </a:p>
              <a:p>
                <a:pPr algn="just"/>
                <a:endParaRPr lang="en-US" sz="2400" dirty="0"/>
              </a:p>
              <a:p>
                <a:pPr algn="just"/>
                <a:r>
                  <a:rPr lang="en-US" sz="2400" dirty="0">
                    <a:solidFill>
                      <a:srgbClr val="FF0000"/>
                    </a:solidFill>
                  </a:rPr>
                  <a:t>What is the physical significance of wave function </a:t>
                </a:r>
                <a14:m>
                  <m:oMath xmlns:m="http://schemas.openxmlformats.org/officeDocument/2006/math">
                    <m:r>
                      <m:rPr>
                        <m:sty m:val="p"/>
                      </m:rPr>
                      <a:rPr kumimoji="0" lang="el-GR"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rPr>
                      <m:t>Ψ</m:t>
                    </m:r>
                  </m:oMath>
                </a14:m>
                <a:endParaRPr lang="en-US" sz="2400" dirty="0">
                  <a:solidFill>
                    <a:srgbClr val="FF0000"/>
                  </a:solidFill>
                </a:endParaRPr>
              </a:p>
              <a:p>
                <a:pPr algn="just"/>
                <a:endParaRPr lang="en-US" sz="2400" dirty="0"/>
              </a:p>
              <a:p>
                <a:pPr algn="just"/>
                <a:r>
                  <a:rPr lang="en-US" sz="2400" dirty="0"/>
                  <a:t>The value of the wave function associated with a moving body at the particular point </a:t>
                </a:r>
                <a:r>
                  <a:rPr lang="en-US" sz="2400" dirty="0" err="1"/>
                  <a:t>x,y,z</a:t>
                </a:r>
                <a:r>
                  <a:rPr lang="en-US" sz="2400" dirty="0"/>
                  <a:t> in space and time t is related to the likelihood of finding the body there at the time. The wave function does not have any direct physical significance since there is no direct experimental evidence of measurement of </a:t>
                </a:r>
                <a14:m>
                  <m:oMath xmlns:m="http://schemas.openxmlformats.org/officeDocument/2006/math">
                    <m:r>
                      <m:rPr>
                        <m:sty m:val="p"/>
                      </m:rPr>
                      <a:rPr kumimoji="0" lang="el-GR"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Ψ</m:t>
                    </m:r>
                  </m:oMath>
                </a14:m>
                <a:r>
                  <a:rPr lang="en-US" sz="2400" dirty="0"/>
                  <a:t>. The probability of experimentally finding the  body described by the wave function </a:t>
                </a:r>
                <a14:m>
                  <m:oMath xmlns:m="http://schemas.openxmlformats.org/officeDocument/2006/math">
                    <m:r>
                      <m:rPr>
                        <m:sty m:val="p"/>
                      </m:rPr>
                      <a:rPr lang="el-GR" sz="2400" i="1">
                        <a:solidFill>
                          <a:prstClr val="black"/>
                        </a:solidFill>
                        <a:latin typeface="Cambria Math" panose="02040503050406030204" pitchFamily="18" charset="0"/>
                        <a:ea typeface="Cambria Math" panose="02040503050406030204" pitchFamily="18" charset="0"/>
                      </a:rPr>
                      <m:t>Ψ</m:t>
                    </m:r>
                  </m:oMath>
                </a14:m>
                <a:r>
                  <a:rPr lang="en-US" sz="2400" dirty="0"/>
                  <a:t> at the point </a:t>
                </a:r>
                <a:r>
                  <a:rPr lang="en-US" sz="2400" dirty="0" err="1"/>
                  <a:t>x,y,z</a:t>
                </a:r>
                <a:r>
                  <a:rPr lang="en-US" sz="2400" dirty="0"/>
                  <a:t> at the time t is proportional to the value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m:t>
                        </m:r>
                        <m:r>
                          <m:rPr>
                            <m:sty m:val="p"/>
                          </m:rPr>
                          <a:rPr lang="el-GR" sz="2400" i="1">
                            <a:solidFill>
                              <a:prstClr val="black"/>
                            </a:solidFill>
                            <a:latin typeface="Cambria Math" panose="02040503050406030204" pitchFamily="18" charset="0"/>
                            <a:ea typeface="Cambria Math" panose="02040503050406030204" pitchFamily="18" charset="0"/>
                          </a:rPr>
                          <m:t>Ψ</m:t>
                        </m:r>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oMath>
                </a14:m>
                <a:r>
                  <a:rPr lang="en-US" sz="2400" dirty="0"/>
                  <a:t> there at t. A large value of probability means the more chance of finding the particle there and small value of </a:t>
                </a:r>
                <a14:m>
                  <m:oMath xmlns:m="http://schemas.openxmlformats.org/officeDocument/2006/math">
                    <m:sSup>
                      <m:sSupPr>
                        <m:ctrlPr>
                          <a:rPr lang="en-US" sz="2400" i="1">
                            <a:solidFill>
                              <a:prstClr val="black"/>
                            </a:solidFill>
                            <a:latin typeface="Cambria Math" panose="02040503050406030204" pitchFamily="18" charset="0"/>
                          </a:rPr>
                        </m:ctrlPr>
                      </m:sSupPr>
                      <m:e>
                        <m:r>
                          <a:rPr lang="en-US" sz="2400" i="1">
                            <a:solidFill>
                              <a:prstClr val="black"/>
                            </a:solidFill>
                            <a:latin typeface="Cambria Math" panose="02040503050406030204" pitchFamily="18" charset="0"/>
                          </a:rPr>
                          <m:t>|</m:t>
                        </m:r>
                        <m:r>
                          <m:rPr>
                            <m:sty m:val="p"/>
                          </m:rPr>
                          <a:rPr lang="el-GR" sz="2400" i="1">
                            <a:solidFill>
                              <a:prstClr val="black"/>
                            </a:solidFill>
                            <a:latin typeface="Cambria Math" panose="02040503050406030204" pitchFamily="18" charset="0"/>
                            <a:ea typeface="Cambria Math" panose="02040503050406030204" pitchFamily="18" charset="0"/>
                          </a:rPr>
                          <m:t>Ψ</m:t>
                        </m:r>
                        <m:r>
                          <a:rPr lang="en-US" sz="2400" i="1">
                            <a:solidFill>
                              <a:prstClr val="black"/>
                            </a:solidFill>
                            <a:latin typeface="Cambria Math" panose="02040503050406030204" pitchFamily="18" charset="0"/>
                          </a:rPr>
                          <m:t>|</m:t>
                        </m:r>
                      </m:e>
                      <m:sup>
                        <m:r>
                          <a:rPr lang="en-US" sz="2400" i="1">
                            <a:solidFill>
                              <a:prstClr val="black"/>
                            </a:solidFill>
                            <a:latin typeface="Cambria Math" panose="02040503050406030204" pitchFamily="18" charset="0"/>
                          </a:rPr>
                          <m:t>2</m:t>
                        </m:r>
                      </m:sup>
                    </m:sSup>
                  </m:oMath>
                </a14:m>
                <a:r>
                  <a:rPr lang="en-US" sz="2400" dirty="0">
                    <a:solidFill>
                      <a:prstClr val="black"/>
                    </a:solidFill>
                  </a:rPr>
                  <a:t> means less chance of finding the particle in that particular place.</a:t>
                </a:r>
                <a:endParaRPr lang="en-US" sz="2400" dirty="0"/>
              </a:p>
            </p:txBody>
          </p:sp>
        </mc:Choice>
        <mc:Fallback xmlns="">
          <p:sp>
            <p:nvSpPr>
              <p:cNvPr id="4" name="TextBox 3">
                <a:extLst>
                  <a:ext uri="{FF2B5EF4-FFF2-40B4-BE49-F238E27FC236}">
                    <a16:creationId xmlns:a16="http://schemas.microsoft.com/office/drawing/2014/main" xmlns="" xmlns:a14="http://schemas.microsoft.com/office/drawing/2010/main" id="{836F7393-7B72-C90B-283B-D55CC8AF9664}"/>
                  </a:ext>
                </a:extLst>
              </p:cNvPr>
              <p:cNvSpPr txBox="1">
                <a:spLocks noRot="1" noChangeAspect="1" noMove="1" noResize="1" noEditPoints="1" noAdjustHandles="1" noChangeArrowheads="1" noChangeShapeType="1" noTextEdit="1"/>
              </p:cNvSpPr>
              <p:nvPr/>
            </p:nvSpPr>
            <p:spPr>
              <a:xfrm>
                <a:off x="1331650" y="470517"/>
                <a:ext cx="9507985" cy="6001643"/>
              </a:xfrm>
              <a:prstGeom prst="rect">
                <a:avLst/>
              </a:prstGeom>
              <a:blipFill>
                <a:blip r:embed="rId2"/>
                <a:stretch>
                  <a:fillRect l="-962" t="-812" r="-1026" b="-1320"/>
                </a:stretch>
              </a:blipFill>
            </p:spPr>
            <p:txBody>
              <a:bodyPr/>
              <a:lstStyle/>
              <a:p>
                <a:r>
                  <a:rPr lang="en-US">
                    <a:noFill/>
                  </a:rPr>
                  <a:t> </a:t>
                </a:r>
              </a:p>
            </p:txBody>
          </p:sp>
        </mc:Fallback>
      </mc:AlternateContent>
    </p:spTree>
    <p:extLst>
      <p:ext uri="{BB962C8B-B14F-4D97-AF65-F5344CB8AC3E}">
        <p14:creationId xmlns:p14="http://schemas.microsoft.com/office/powerpoint/2010/main" val="209597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358AECA-61E2-766A-834B-A61605248EF3}"/>
              </a:ext>
            </a:extLst>
          </p:cNvPr>
          <p:cNvSpPr txBox="1"/>
          <p:nvPr/>
        </p:nvSpPr>
        <p:spPr>
          <a:xfrm>
            <a:off x="3233058" y="37322"/>
            <a:ext cx="6092890" cy="584775"/>
          </a:xfrm>
          <a:prstGeom prst="rect">
            <a:avLst/>
          </a:prstGeom>
          <a:noFill/>
        </p:spPr>
        <p:txBody>
          <a:bodyPr wrap="square">
            <a:spAutoFit/>
          </a:bodyPr>
          <a:lstStyle/>
          <a:p>
            <a:r>
              <a:rPr lang="en-US" sz="3200" b="0" i="0" dirty="0">
                <a:solidFill>
                  <a:srgbClr val="0070C0"/>
                </a:solidFill>
                <a:effectLst/>
                <a:latin typeface="CalibriLight"/>
              </a:rPr>
              <a:t>DAVISSON GERMER EXPERIMENT</a:t>
            </a:r>
            <a:endParaRPr lang="en-US" sz="3200" dirty="0"/>
          </a:p>
        </p:txBody>
      </p:sp>
      <p:sp>
        <p:nvSpPr>
          <p:cNvPr id="5" name="TextBox 4">
            <a:extLst>
              <a:ext uri="{FF2B5EF4-FFF2-40B4-BE49-F238E27FC236}">
                <a16:creationId xmlns:a16="http://schemas.microsoft.com/office/drawing/2014/main" id="{54C67BC0-7C49-0B1E-1503-26F454BC9DCD}"/>
              </a:ext>
            </a:extLst>
          </p:cNvPr>
          <p:cNvSpPr txBox="1"/>
          <p:nvPr/>
        </p:nvSpPr>
        <p:spPr>
          <a:xfrm>
            <a:off x="335902" y="931176"/>
            <a:ext cx="11775232" cy="4524315"/>
          </a:xfrm>
          <a:prstGeom prst="rect">
            <a:avLst/>
          </a:prstGeom>
          <a:noFill/>
        </p:spPr>
        <p:txBody>
          <a:bodyPr wrap="square">
            <a:spAutoFit/>
          </a:bodyPr>
          <a:lstStyle/>
          <a:p>
            <a:r>
              <a:rPr lang="en-US" sz="2400" b="0" i="0" dirty="0">
                <a:solidFill>
                  <a:srgbClr val="002060"/>
                </a:solidFill>
                <a:effectLst/>
                <a:latin typeface="Calibri" panose="020F0502020204030204" pitchFamily="34" charset="0"/>
              </a:rPr>
              <a:t>In 1923 Louise de Broglie suggested that like radiation matter also posses duel nature that are particle and wave. According to him a particle of mass m moving with velocity v always associated with a wave with wavelength λ=h/p here h is Plank’s constant and p is momentum of the particle.</a:t>
            </a:r>
            <a:br>
              <a:rPr lang="en-US" sz="2400" b="0" i="0" dirty="0">
                <a:solidFill>
                  <a:srgbClr val="002060"/>
                </a:solidFill>
                <a:effectLst/>
                <a:latin typeface="Calibri" panose="020F0502020204030204" pitchFamily="34" charset="0"/>
              </a:rPr>
            </a:br>
            <a:r>
              <a:rPr lang="en-US" sz="2400" b="0" i="0" dirty="0">
                <a:solidFill>
                  <a:srgbClr val="0070C0"/>
                </a:solidFill>
                <a:effectLst/>
                <a:latin typeface="Calibri" panose="020F0502020204030204" pitchFamily="34" charset="0"/>
              </a:rPr>
              <a:t>In 1926Walter Maurice Elsasser suggested that wave like nature of matter might be invested by electrons scattering experiment in crystalline solids.</a:t>
            </a:r>
          </a:p>
          <a:p>
            <a:br>
              <a:rPr lang="en-US" sz="2400" b="0" i="0" dirty="0">
                <a:solidFill>
                  <a:srgbClr val="0070C0"/>
                </a:solidFill>
                <a:effectLst/>
                <a:latin typeface="Calibri" panose="020F0502020204030204" pitchFamily="34" charset="0"/>
              </a:rPr>
            </a:br>
            <a:r>
              <a:rPr lang="en-US" sz="2400" b="0" i="0" dirty="0">
                <a:solidFill>
                  <a:srgbClr val="002060"/>
                </a:solidFill>
                <a:effectLst/>
                <a:latin typeface="Calibri" panose="020F0502020204030204" pitchFamily="34" charset="0"/>
              </a:rPr>
              <a:t>In 1927 Davisson and Germer proved that fast moving electrons show diffraction effect (property of waves)and calculated the wave length of electrons wave.</a:t>
            </a:r>
          </a:p>
          <a:p>
            <a:br>
              <a:rPr lang="en-US" sz="2400" b="0" i="0" dirty="0">
                <a:solidFill>
                  <a:srgbClr val="002060"/>
                </a:solidFill>
                <a:effectLst/>
                <a:latin typeface="Calibri" panose="020F0502020204030204" pitchFamily="34" charset="0"/>
              </a:rPr>
            </a:br>
            <a:r>
              <a:rPr lang="en-US" sz="2400" b="0" i="0" dirty="0">
                <a:solidFill>
                  <a:srgbClr val="0070C0"/>
                </a:solidFill>
                <a:effectLst/>
                <a:latin typeface="Calibri" panose="020F0502020204030204" pitchFamily="34" charset="0"/>
              </a:rPr>
              <a:t>In the same time G P Thomson also proved experimentally the wave nature of electrons.</a:t>
            </a:r>
            <a:r>
              <a:rPr lang="en-US" sz="2400" dirty="0"/>
              <a:t> </a:t>
            </a:r>
            <a:br>
              <a:rPr lang="en-US" sz="2400" dirty="0"/>
            </a:br>
            <a:endParaRPr lang="en-US" sz="2400" dirty="0"/>
          </a:p>
        </p:txBody>
      </p:sp>
    </p:spTree>
    <p:extLst>
      <p:ext uri="{BB962C8B-B14F-4D97-AF65-F5344CB8AC3E}">
        <p14:creationId xmlns:p14="http://schemas.microsoft.com/office/powerpoint/2010/main" val="42150138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B4C93-5F8F-9886-2C5C-88CDF61F9622}"/>
              </a:ext>
            </a:extLst>
          </p:cNvPr>
          <p:cNvSpPr txBox="1"/>
          <p:nvPr/>
        </p:nvSpPr>
        <p:spPr>
          <a:xfrm>
            <a:off x="556181" y="476701"/>
            <a:ext cx="11387580" cy="3693319"/>
          </a:xfrm>
          <a:prstGeom prst="rect">
            <a:avLst/>
          </a:prstGeom>
          <a:noFill/>
        </p:spPr>
        <p:txBody>
          <a:bodyPr wrap="square">
            <a:spAutoFit/>
          </a:bodyPr>
          <a:lstStyle/>
          <a:p>
            <a:r>
              <a:rPr lang="en-US" sz="2400" b="0" i="0" dirty="0">
                <a:solidFill>
                  <a:srgbClr val="002060"/>
                </a:solidFill>
                <a:effectLst/>
                <a:latin typeface="Calibri" panose="020F0502020204030204" pitchFamily="34" charset="0"/>
              </a:rPr>
              <a:t>Davisson and Germer Experiment:</a:t>
            </a:r>
            <a:br>
              <a:rPr lang="en-US" sz="2400" b="0" i="0" dirty="0">
                <a:solidFill>
                  <a:srgbClr val="002060"/>
                </a:solidFill>
                <a:effectLst/>
                <a:latin typeface="Calibri" panose="020F0502020204030204" pitchFamily="34" charset="0"/>
              </a:rPr>
            </a:br>
            <a:r>
              <a:rPr lang="en-US" sz="2400" b="0" i="0" dirty="0">
                <a:solidFill>
                  <a:srgbClr val="00B0F0"/>
                </a:solidFill>
                <a:effectLst/>
                <a:latin typeface="Calibri" panose="020F0502020204030204" pitchFamily="34" charset="0"/>
              </a:rPr>
              <a:t>The Davisson and Germer experiment confirmed the earlier hypothesis of de Broglie which demonstrated the wave nature of the electrons,. This experiment confirms that electrons exhibit diffraction pattern when they are scattered from a crystal plane .</a:t>
            </a:r>
            <a:br>
              <a:rPr lang="en-US" sz="2400" b="0" i="0" dirty="0">
                <a:solidFill>
                  <a:srgbClr val="00B0F0"/>
                </a:solidFill>
                <a:effectLst/>
                <a:latin typeface="Calibri" panose="020F0502020204030204" pitchFamily="34" charset="0"/>
              </a:rPr>
            </a:br>
            <a:endParaRPr lang="en-US" sz="2400" b="0" i="0" dirty="0">
              <a:solidFill>
                <a:srgbClr val="00B0F0"/>
              </a:solidFill>
              <a:effectLst/>
              <a:latin typeface="Calibri" panose="020F0502020204030204" pitchFamily="34" charset="0"/>
            </a:endParaRPr>
          </a:p>
          <a:p>
            <a:r>
              <a:rPr lang="en-US" sz="2400" b="0" i="0" dirty="0">
                <a:solidFill>
                  <a:srgbClr val="002060"/>
                </a:solidFill>
                <a:effectLst/>
                <a:latin typeface="Calibri" panose="020F0502020204030204" pitchFamily="34" charset="0"/>
              </a:rPr>
              <a:t>Davisson and Germer Apparatus:</a:t>
            </a:r>
            <a:br>
              <a:rPr lang="en-US" sz="2400" b="0" i="0" dirty="0">
                <a:solidFill>
                  <a:srgbClr val="002060"/>
                </a:solidFill>
                <a:effectLst/>
                <a:latin typeface="Calibri" panose="020F0502020204030204" pitchFamily="34" charset="0"/>
              </a:rPr>
            </a:br>
            <a:r>
              <a:rPr lang="en-US" sz="2400" b="0" i="0" dirty="0">
                <a:solidFill>
                  <a:srgbClr val="00B0F0"/>
                </a:solidFill>
                <a:effectLst/>
                <a:latin typeface="Calibri" panose="020F0502020204030204" pitchFamily="34" charset="0"/>
              </a:rPr>
              <a:t>In this apparatus the energy of the electrons in the primary beam can be</a:t>
            </a:r>
            <a:br>
              <a:rPr lang="en-US" sz="2400" b="0" i="0" dirty="0">
                <a:solidFill>
                  <a:srgbClr val="00B0F0"/>
                </a:solidFill>
                <a:effectLst/>
                <a:latin typeface="Calibri" panose="020F0502020204030204" pitchFamily="34" charset="0"/>
              </a:rPr>
            </a:br>
            <a:r>
              <a:rPr lang="en-US" sz="2400" b="0" i="0" dirty="0">
                <a:solidFill>
                  <a:srgbClr val="00B0F0"/>
                </a:solidFill>
                <a:effectLst/>
                <a:latin typeface="Calibri" panose="020F0502020204030204" pitchFamily="34" charset="0"/>
              </a:rPr>
              <a:t>varied with the angle at which they are incident upon the nickel crystal</a:t>
            </a:r>
            <a:br>
              <a:rPr lang="en-US" sz="2400" b="0" i="0" dirty="0">
                <a:solidFill>
                  <a:srgbClr val="00B0F0"/>
                </a:solidFill>
                <a:effectLst/>
                <a:latin typeface="Calibri" panose="020F0502020204030204" pitchFamily="34" charset="0"/>
              </a:rPr>
            </a:br>
            <a:r>
              <a:rPr lang="en-US" sz="2400" b="0" i="0" dirty="0">
                <a:solidFill>
                  <a:srgbClr val="00B0F0"/>
                </a:solidFill>
                <a:effectLst/>
                <a:latin typeface="Calibri" panose="020F0502020204030204" pitchFamily="34" charset="0"/>
              </a:rPr>
              <a:t>target . The crystal and the detector was kept on a rotating plane.</a:t>
            </a:r>
            <a:r>
              <a:rPr lang="en-US" dirty="0"/>
              <a:t> </a:t>
            </a:r>
            <a:br>
              <a:rPr lang="en-US" dirty="0"/>
            </a:br>
            <a:endParaRPr lang="en-US" dirty="0"/>
          </a:p>
        </p:txBody>
      </p:sp>
      <p:pic>
        <p:nvPicPr>
          <p:cNvPr id="5" name="Picture 4">
            <a:extLst>
              <a:ext uri="{FF2B5EF4-FFF2-40B4-BE49-F238E27FC236}">
                <a16:creationId xmlns:a16="http://schemas.microsoft.com/office/drawing/2014/main" id="{D7CE4A5B-AB42-C58B-AB01-C5638C9BE17E}"/>
              </a:ext>
            </a:extLst>
          </p:cNvPr>
          <p:cNvPicPr>
            <a:picLocks noChangeAspect="1"/>
          </p:cNvPicPr>
          <p:nvPr/>
        </p:nvPicPr>
        <p:blipFill>
          <a:blip r:embed="rId2"/>
          <a:stretch>
            <a:fillRect/>
          </a:stretch>
        </p:blipFill>
        <p:spPr>
          <a:xfrm>
            <a:off x="3101418" y="3946394"/>
            <a:ext cx="5211550" cy="2434905"/>
          </a:xfrm>
          <a:prstGeom prst="rect">
            <a:avLst/>
          </a:prstGeom>
        </p:spPr>
      </p:pic>
    </p:spTree>
    <p:extLst>
      <p:ext uri="{BB962C8B-B14F-4D97-AF65-F5344CB8AC3E}">
        <p14:creationId xmlns:p14="http://schemas.microsoft.com/office/powerpoint/2010/main" val="1867861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682B11-AD86-9904-9B37-7C84C8E4FA5E}"/>
              </a:ext>
            </a:extLst>
          </p:cNvPr>
          <p:cNvSpPr txBox="1"/>
          <p:nvPr/>
        </p:nvSpPr>
        <p:spPr>
          <a:xfrm>
            <a:off x="331509" y="305830"/>
            <a:ext cx="11528982" cy="5909310"/>
          </a:xfrm>
          <a:prstGeom prst="rect">
            <a:avLst/>
          </a:prstGeom>
          <a:noFill/>
        </p:spPr>
        <p:txBody>
          <a:bodyPr wrap="square">
            <a:spAutoFit/>
          </a:bodyPr>
          <a:lstStyle/>
          <a:p>
            <a:r>
              <a:rPr lang="en-US" sz="2400" b="0" i="0" dirty="0">
                <a:solidFill>
                  <a:srgbClr val="002060"/>
                </a:solidFill>
                <a:effectLst/>
                <a:latin typeface="Calibri" panose="020F0502020204030204" pitchFamily="34" charset="0"/>
              </a:rPr>
              <a:t>An electron beam from an electron gun then is fired at the nickel crystal.</a:t>
            </a:r>
          </a:p>
          <a:p>
            <a:br>
              <a:rPr lang="en-US" sz="2400" b="0" i="0" dirty="0">
                <a:solidFill>
                  <a:srgbClr val="002060"/>
                </a:solidFill>
                <a:effectLst/>
                <a:latin typeface="Calibri" panose="020F0502020204030204" pitchFamily="34" charset="0"/>
              </a:rPr>
            </a:br>
            <a:r>
              <a:rPr lang="en-US" sz="2400" b="0" i="0" dirty="0">
                <a:solidFill>
                  <a:srgbClr val="00B0F0"/>
                </a:solidFill>
                <a:effectLst/>
                <a:latin typeface="Calibri" panose="020F0502020204030204" pitchFamily="34" charset="0"/>
              </a:rPr>
              <a:t>The electron gun was a heated tungsten filament. The thermally excited electrons were then accelerated through an electric potential difference, giving them a certain amount of kinetic energy, towards the nickel crystal.</a:t>
            </a:r>
          </a:p>
          <a:p>
            <a:br>
              <a:rPr lang="en-US" sz="2400" b="0" i="0" dirty="0">
                <a:solidFill>
                  <a:srgbClr val="00B0F0"/>
                </a:solidFill>
                <a:effectLst/>
                <a:latin typeface="Calibri" panose="020F0502020204030204" pitchFamily="34" charset="0"/>
              </a:rPr>
            </a:br>
            <a:r>
              <a:rPr lang="en-US" sz="2400" b="0" i="0" dirty="0">
                <a:solidFill>
                  <a:srgbClr val="002060"/>
                </a:solidFill>
                <a:effectLst/>
                <a:latin typeface="Calibri" panose="020F0502020204030204" pitchFamily="34" charset="0"/>
              </a:rPr>
              <a:t>The experiment was conducted in a vacuum chamber to avoid collisions of the electrons with other atoms on their way.</a:t>
            </a:r>
          </a:p>
          <a:p>
            <a:br>
              <a:rPr lang="en-US" sz="2400" b="0" i="0" dirty="0">
                <a:solidFill>
                  <a:srgbClr val="002060"/>
                </a:solidFill>
                <a:effectLst/>
                <a:latin typeface="Calibri" panose="020F0502020204030204" pitchFamily="34" charset="0"/>
              </a:rPr>
            </a:br>
            <a:r>
              <a:rPr lang="en-US" sz="2400" b="0" i="0" dirty="0">
                <a:solidFill>
                  <a:srgbClr val="00B0F0"/>
                </a:solidFill>
                <a:effectLst/>
                <a:latin typeface="Calibri" panose="020F0502020204030204" pitchFamily="34" charset="0"/>
              </a:rPr>
              <a:t>To measure the number of electrons that were scattered at different angles, a faraday cup electron detector was used. The number of reflected electrons varied as the angle between the detector and the incident electron beam varied.</a:t>
            </a:r>
          </a:p>
          <a:p>
            <a:br>
              <a:rPr lang="en-US" sz="2400" b="0" i="0" dirty="0">
                <a:solidFill>
                  <a:srgbClr val="00B0F0"/>
                </a:solidFill>
                <a:effectLst/>
                <a:latin typeface="Calibri" panose="020F0502020204030204" pitchFamily="34" charset="0"/>
              </a:rPr>
            </a:br>
            <a:r>
              <a:rPr lang="en-US" sz="2400" b="0" i="0" dirty="0">
                <a:solidFill>
                  <a:srgbClr val="002060"/>
                </a:solidFill>
                <a:effectLst/>
                <a:latin typeface="Calibri" panose="020F0502020204030204" pitchFamily="34" charset="0"/>
              </a:rPr>
              <a:t>The detector was designed to accept only elastically scattered electrons</a:t>
            </a:r>
            <a:br>
              <a:rPr lang="en-US" sz="2400" b="0" i="0" dirty="0">
                <a:solidFill>
                  <a:srgbClr val="002060"/>
                </a:solidFill>
                <a:effectLst/>
                <a:latin typeface="Calibri" panose="020F0502020204030204" pitchFamily="34" charset="0"/>
              </a:rPr>
            </a:br>
            <a:r>
              <a:rPr lang="en-US" sz="2400" b="0" i="0" dirty="0">
                <a:solidFill>
                  <a:srgbClr val="002060"/>
                </a:solidFill>
                <a:effectLst/>
                <a:latin typeface="Calibri" panose="020F0502020204030204" pitchFamily="34" charset="0"/>
              </a:rPr>
              <a:t>with high velocity at angles between 20 ͦand 90 ͦ.</a:t>
            </a:r>
            <a:r>
              <a:rPr lang="en-US" dirty="0"/>
              <a:t> </a:t>
            </a:r>
            <a:br>
              <a:rPr lang="en-US" dirty="0"/>
            </a:br>
            <a:endParaRPr lang="en-US" dirty="0"/>
          </a:p>
        </p:txBody>
      </p:sp>
    </p:spTree>
    <p:extLst>
      <p:ext uri="{BB962C8B-B14F-4D97-AF65-F5344CB8AC3E}">
        <p14:creationId xmlns:p14="http://schemas.microsoft.com/office/powerpoint/2010/main" val="17204772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7A88A7-9AAD-ED11-5797-C56F1B44A0CA}"/>
              </a:ext>
            </a:extLst>
          </p:cNvPr>
          <p:cNvSpPr txBox="1"/>
          <p:nvPr/>
        </p:nvSpPr>
        <p:spPr>
          <a:xfrm>
            <a:off x="1527143" y="253138"/>
            <a:ext cx="8267305" cy="6001643"/>
          </a:xfrm>
          <a:prstGeom prst="rect">
            <a:avLst/>
          </a:prstGeom>
          <a:noFill/>
        </p:spPr>
        <p:txBody>
          <a:bodyPr wrap="square">
            <a:spAutoFit/>
          </a:bodyPr>
          <a:lstStyle/>
          <a:p>
            <a:pPr algn="just"/>
            <a:r>
              <a:rPr lang="en-US" sz="2400" b="0" i="0" dirty="0">
                <a:solidFill>
                  <a:srgbClr val="000000"/>
                </a:solidFill>
                <a:effectLst/>
                <a:latin typeface="CIDFont+F2"/>
              </a:rPr>
              <a:t>According to the classical physics the scattered electrons should</a:t>
            </a:r>
            <a:br>
              <a:rPr lang="en-US" sz="2400" b="0" i="0" dirty="0">
                <a:solidFill>
                  <a:srgbClr val="000000"/>
                </a:solidFill>
                <a:effectLst/>
                <a:latin typeface="CIDFont+F2"/>
              </a:rPr>
            </a:br>
            <a:r>
              <a:rPr lang="en-US" sz="2400" b="0" i="0" dirty="0">
                <a:solidFill>
                  <a:srgbClr val="000000"/>
                </a:solidFill>
                <a:effectLst/>
                <a:latin typeface="CIDFont+F2"/>
              </a:rPr>
              <a:t>emerge in all directions with only a moderate dependence of</a:t>
            </a:r>
            <a:br>
              <a:rPr lang="en-US" sz="2400" b="0" i="0" dirty="0">
                <a:solidFill>
                  <a:srgbClr val="000000"/>
                </a:solidFill>
                <a:effectLst/>
                <a:latin typeface="CIDFont+F2"/>
              </a:rPr>
            </a:br>
            <a:r>
              <a:rPr lang="en-US" sz="2400" b="0" i="0" dirty="0">
                <a:solidFill>
                  <a:srgbClr val="000000"/>
                </a:solidFill>
                <a:effectLst/>
                <a:latin typeface="CIDFont+F2"/>
              </a:rPr>
              <a:t>their intensity upon scattering angle and even less upon the</a:t>
            </a:r>
            <a:br>
              <a:rPr lang="en-US" sz="2400" b="0" i="0" dirty="0">
                <a:solidFill>
                  <a:srgbClr val="000000"/>
                </a:solidFill>
                <a:effectLst/>
                <a:latin typeface="CIDFont+F2"/>
              </a:rPr>
            </a:br>
            <a:r>
              <a:rPr lang="en-US" sz="2400" b="0" i="0" dirty="0">
                <a:solidFill>
                  <a:srgbClr val="000000"/>
                </a:solidFill>
                <a:effectLst/>
                <a:latin typeface="CIDFont+F2"/>
              </a:rPr>
              <a:t>energy of the primary electrons.</a:t>
            </a:r>
          </a:p>
          <a:p>
            <a:pPr algn="just"/>
            <a:br>
              <a:rPr lang="en-US" sz="2400" b="0" i="0" dirty="0">
                <a:solidFill>
                  <a:srgbClr val="000000"/>
                </a:solidFill>
                <a:effectLst/>
                <a:latin typeface="CIDFont+F2"/>
              </a:rPr>
            </a:br>
            <a:r>
              <a:rPr lang="en-US" sz="2400" b="0" i="0" dirty="0">
                <a:solidFill>
                  <a:srgbClr val="000000"/>
                </a:solidFill>
                <a:effectLst/>
                <a:latin typeface="CIDFont+F2"/>
              </a:rPr>
              <a:t>During the experiment an accident occurred that allowed air to</a:t>
            </a:r>
            <a:br>
              <a:rPr lang="en-US" sz="2400" b="0" i="0" dirty="0">
                <a:solidFill>
                  <a:srgbClr val="000000"/>
                </a:solidFill>
                <a:effectLst/>
                <a:latin typeface="CIDFont+F2"/>
              </a:rPr>
            </a:br>
            <a:r>
              <a:rPr lang="en-US" sz="2400" b="0" i="0" dirty="0">
                <a:solidFill>
                  <a:srgbClr val="000000"/>
                </a:solidFill>
                <a:effectLst/>
                <a:latin typeface="CIDFont+F2"/>
              </a:rPr>
              <a:t>enter the apparatus and oxidize the metal surface.</a:t>
            </a:r>
          </a:p>
          <a:p>
            <a:pPr algn="just"/>
            <a:br>
              <a:rPr lang="en-US" sz="2400" b="0" i="0" dirty="0">
                <a:solidFill>
                  <a:srgbClr val="000000"/>
                </a:solidFill>
                <a:effectLst/>
                <a:latin typeface="CIDFont+F2"/>
              </a:rPr>
            </a:br>
            <a:r>
              <a:rPr lang="en-US" sz="2400" b="0" i="0" dirty="0">
                <a:solidFill>
                  <a:srgbClr val="000000"/>
                </a:solidFill>
                <a:effectLst/>
                <a:latin typeface="CIDFont+F2"/>
              </a:rPr>
              <a:t>To reduce the oxide to pure nickel the target was baked in high</a:t>
            </a:r>
            <a:br>
              <a:rPr lang="en-US" sz="2400" b="0" i="0" dirty="0">
                <a:solidFill>
                  <a:srgbClr val="000000"/>
                </a:solidFill>
                <a:effectLst/>
                <a:latin typeface="CIDFont+F2"/>
              </a:rPr>
            </a:br>
            <a:r>
              <a:rPr lang="en-US" sz="2400" b="0" i="0" dirty="0">
                <a:solidFill>
                  <a:srgbClr val="000000"/>
                </a:solidFill>
                <a:effectLst/>
                <a:latin typeface="CIDFont+F2"/>
              </a:rPr>
              <a:t>temperature oven. After heating the target was returned to</a:t>
            </a:r>
            <a:br>
              <a:rPr lang="en-US" sz="2400" b="0" i="0" dirty="0">
                <a:solidFill>
                  <a:srgbClr val="000000"/>
                </a:solidFill>
                <a:effectLst/>
                <a:latin typeface="CIDFont+F2"/>
              </a:rPr>
            </a:br>
            <a:r>
              <a:rPr lang="en-US" sz="2400" b="0" i="0" dirty="0">
                <a:solidFill>
                  <a:srgbClr val="000000"/>
                </a:solidFill>
                <a:effectLst/>
                <a:latin typeface="CIDFont+F2"/>
              </a:rPr>
              <a:t>the apparatus and measurements resumed.</a:t>
            </a:r>
          </a:p>
          <a:p>
            <a:pPr algn="just"/>
            <a:br>
              <a:rPr lang="en-US" sz="2400" b="0" i="0" dirty="0">
                <a:solidFill>
                  <a:srgbClr val="000000"/>
                </a:solidFill>
                <a:effectLst/>
                <a:latin typeface="CIDFont+F2"/>
              </a:rPr>
            </a:br>
            <a:r>
              <a:rPr lang="en-US" sz="2400" b="0" i="0" dirty="0">
                <a:solidFill>
                  <a:srgbClr val="000000"/>
                </a:solidFill>
                <a:effectLst/>
                <a:latin typeface="CIDFont+F2"/>
              </a:rPr>
              <a:t>Surprisingly, instead of a continuous variation of scattered</a:t>
            </a:r>
            <a:br>
              <a:rPr lang="en-US" sz="2400" b="0" i="0" dirty="0">
                <a:solidFill>
                  <a:srgbClr val="000000"/>
                </a:solidFill>
                <a:effectLst/>
                <a:latin typeface="CIDFont+F2"/>
              </a:rPr>
            </a:br>
            <a:r>
              <a:rPr lang="en-US" sz="2400" b="0" i="0" dirty="0">
                <a:solidFill>
                  <a:srgbClr val="000000"/>
                </a:solidFill>
                <a:effectLst/>
                <a:latin typeface="CIDFont+F2"/>
              </a:rPr>
              <a:t>electron intensity with angle distinct maxima and minima</a:t>
            </a:r>
            <a:br>
              <a:rPr lang="en-US" sz="2400" b="0" i="0" dirty="0">
                <a:solidFill>
                  <a:srgbClr val="000000"/>
                </a:solidFill>
                <a:effectLst/>
                <a:latin typeface="CIDFont+F2"/>
              </a:rPr>
            </a:br>
            <a:r>
              <a:rPr lang="en-US" sz="2400" b="0" i="0" dirty="0">
                <a:solidFill>
                  <a:srgbClr val="000000"/>
                </a:solidFill>
                <a:effectLst/>
                <a:latin typeface="CIDFont+F2"/>
              </a:rPr>
              <a:t>were observed whose position depended on the electron energy</a:t>
            </a:r>
            <a:r>
              <a:rPr lang="en-US" sz="2400" dirty="0"/>
              <a:t> </a:t>
            </a:r>
            <a:br>
              <a:rPr lang="en-US" sz="2400" dirty="0"/>
            </a:br>
            <a:endParaRPr lang="en-US" sz="2400" dirty="0"/>
          </a:p>
        </p:txBody>
      </p:sp>
    </p:spTree>
    <p:extLst>
      <p:ext uri="{BB962C8B-B14F-4D97-AF65-F5344CB8AC3E}">
        <p14:creationId xmlns:p14="http://schemas.microsoft.com/office/powerpoint/2010/main" val="3463146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802343-EA52-4E88-0B41-7DF1CC3AFFC7}"/>
              </a:ext>
            </a:extLst>
          </p:cNvPr>
          <p:cNvPicPr>
            <a:picLocks noChangeAspect="1"/>
          </p:cNvPicPr>
          <p:nvPr/>
        </p:nvPicPr>
        <p:blipFill>
          <a:blip r:embed="rId2"/>
          <a:stretch>
            <a:fillRect/>
          </a:stretch>
        </p:blipFill>
        <p:spPr>
          <a:xfrm>
            <a:off x="1814512" y="100012"/>
            <a:ext cx="8562975" cy="6657975"/>
          </a:xfrm>
          <a:prstGeom prst="rect">
            <a:avLst/>
          </a:prstGeom>
        </p:spPr>
      </p:pic>
    </p:spTree>
    <p:extLst>
      <p:ext uri="{BB962C8B-B14F-4D97-AF65-F5344CB8AC3E}">
        <p14:creationId xmlns:p14="http://schemas.microsoft.com/office/powerpoint/2010/main" val="34174560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6E4B6A-E2B5-0682-1671-6993CDF478D2}"/>
              </a:ext>
            </a:extLst>
          </p:cNvPr>
          <p:cNvSpPr txBox="1"/>
          <p:nvPr/>
        </p:nvSpPr>
        <p:spPr>
          <a:xfrm>
            <a:off x="1385741" y="451334"/>
            <a:ext cx="8625525" cy="5693866"/>
          </a:xfrm>
          <a:prstGeom prst="rect">
            <a:avLst/>
          </a:prstGeom>
          <a:noFill/>
        </p:spPr>
        <p:txBody>
          <a:bodyPr wrap="square">
            <a:spAutoFit/>
          </a:bodyPr>
          <a:lstStyle/>
          <a:p>
            <a:r>
              <a:rPr lang="en-US" sz="2800" b="0" i="0" dirty="0">
                <a:solidFill>
                  <a:srgbClr val="FF0000"/>
                </a:solidFill>
                <a:effectLst/>
                <a:latin typeface="CIDFont+F2"/>
              </a:rPr>
              <a:t>What is the reason for this new effect?</a:t>
            </a:r>
            <a:br>
              <a:rPr lang="en-US" sz="2800" b="0" i="0" dirty="0">
                <a:solidFill>
                  <a:srgbClr val="FF0000"/>
                </a:solidFill>
                <a:effectLst/>
                <a:latin typeface="CIDFont+F2"/>
              </a:rPr>
            </a:br>
            <a:r>
              <a:rPr lang="en-US" sz="2800" b="0" i="0" dirty="0">
                <a:solidFill>
                  <a:srgbClr val="000000"/>
                </a:solidFill>
                <a:effectLst/>
                <a:latin typeface="CIDFont+F2"/>
              </a:rPr>
              <a:t>De Broglie hypothesis suggested that the electrons</a:t>
            </a:r>
            <a:br>
              <a:rPr lang="en-US" sz="2800" b="0" i="0" dirty="0">
                <a:solidFill>
                  <a:srgbClr val="000000"/>
                </a:solidFill>
                <a:effectLst/>
                <a:latin typeface="CIDFont+F2"/>
              </a:rPr>
            </a:br>
            <a:r>
              <a:rPr lang="en-US" sz="2800" b="0" i="0" dirty="0">
                <a:solidFill>
                  <a:srgbClr val="000000"/>
                </a:solidFill>
                <a:effectLst/>
                <a:latin typeface="CIDFont+F2"/>
              </a:rPr>
              <a:t>waves were being diffracted by the target much as X</a:t>
            </a:r>
            <a:br>
              <a:rPr lang="en-US" sz="2800" b="0" i="0" dirty="0">
                <a:solidFill>
                  <a:srgbClr val="000000"/>
                </a:solidFill>
                <a:effectLst/>
                <a:latin typeface="CIDFont+F2"/>
              </a:rPr>
            </a:br>
            <a:r>
              <a:rPr lang="en-US" sz="2800" b="0" i="0" dirty="0">
                <a:solidFill>
                  <a:srgbClr val="000000"/>
                </a:solidFill>
                <a:effectLst/>
                <a:latin typeface="CIDFont+F2"/>
              </a:rPr>
              <a:t>rays are diffracted by Bragg reflection from crystal</a:t>
            </a:r>
            <a:br>
              <a:rPr lang="en-US" sz="2800" b="0" i="0" dirty="0">
                <a:solidFill>
                  <a:srgbClr val="000000"/>
                </a:solidFill>
                <a:effectLst/>
                <a:latin typeface="CIDFont+F2"/>
              </a:rPr>
            </a:br>
            <a:r>
              <a:rPr lang="en-US" sz="2800" b="0" i="0" dirty="0">
                <a:solidFill>
                  <a:srgbClr val="000000"/>
                </a:solidFill>
                <a:effectLst/>
                <a:latin typeface="CIDFont+F2"/>
              </a:rPr>
              <a:t>planes.</a:t>
            </a:r>
            <a:r>
              <a:rPr lang="en-US" dirty="0"/>
              <a:t> </a:t>
            </a:r>
            <a:br>
              <a:rPr lang="en-US" dirty="0"/>
            </a:br>
            <a:r>
              <a:rPr kumimoji="0" lang="en-US" sz="2800" b="0" i="0" u="none" strike="noStrike" kern="1200" cap="none" spc="0" normalizeH="0" baseline="0" noProof="0" dirty="0">
                <a:ln>
                  <a:noFill/>
                </a:ln>
                <a:solidFill>
                  <a:srgbClr val="FF0000"/>
                </a:solidFill>
                <a:effectLst/>
                <a:uLnTx/>
                <a:uFillTx/>
                <a:latin typeface="CIDFont+F2"/>
                <a:ea typeface="+mn-ea"/>
                <a:cs typeface="+mn-cs"/>
              </a:rPr>
              <a:t>Why did it not appear until after the Ni target was baked?</a:t>
            </a:r>
          </a:p>
          <a:p>
            <a:br>
              <a:rPr kumimoji="0" lang="en-US" sz="2800" b="0" i="0" u="none" strike="noStrike" kern="1200" cap="none" spc="0" normalizeH="0" baseline="0" noProof="0" dirty="0">
                <a:ln>
                  <a:noFill/>
                </a:ln>
                <a:solidFill>
                  <a:srgbClr val="FF0000"/>
                </a:solidFill>
                <a:effectLst/>
                <a:uLnTx/>
                <a:uFillTx/>
                <a:latin typeface="CIDFont+F2"/>
                <a:ea typeface="+mn-ea"/>
                <a:cs typeface="+mn-cs"/>
              </a:rPr>
            </a:br>
            <a:r>
              <a:rPr lang="en-US" sz="2800" b="0" i="0" dirty="0">
                <a:solidFill>
                  <a:srgbClr val="000000"/>
                </a:solidFill>
                <a:effectLst/>
                <a:latin typeface="CIDFont+F2"/>
              </a:rPr>
              <a:t>It was realized that the effect of heating a block of</a:t>
            </a:r>
            <a:br>
              <a:rPr lang="en-US" sz="2800" b="0" i="0" dirty="0">
                <a:solidFill>
                  <a:srgbClr val="000000"/>
                </a:solidFill>
                <a:effectLst/>
                <a:latin typeface="CIDFont+F2"/>
              </a:rPr>
            </a:br>
            <a:r>
              <a:rPr lang="en-US" sz="2800" b="0" i="0" dirty="0">
                <a:solidFill>
                  <a:srgbClr val="000000"/>
                </a:solidFill>
                <a:effectLst/>
                <a:latin typeface="CIDFont+F2"/>
              </a:rPr>
              <a:t>nickel at high temperature caused many small</a:t>
            </a:r>
            <a:br>
              <a:rPr lang="en-US" sz="2800" b="0" i="0" dirty="0">
                <a:solidFill>
                  <a:srgbClr val="000000"/>
                </a:solidFill>
                <a:effectLst/>
                <a:latin typeface="CIDFont+F2"/>
              </a:rPr>
            </a:br>
            <a:r>
              <a:rPr lang="en-US" sz="2800" b="0" i="0" dirty="0">
                <a:solidFill>
                  <a:srgbClr val="000000"/>
                </a:solidFill>
                <a:effectLst/>
                <a:latin typeface="CIDFont+F2"/>
              </a:rPr>
              <a:t>individual crystals of which it was composed to</a:t>
            </a:r>
            <a:br>
              <a:rPr lang="en-US" sz="2800" b="0" i="0" dirty="0">
                <a:solidFill>
                  <a:srgbClr val="000000"/>
                </a:solidFill>
                <a:effectLst/>
                <a:latin typeface="CIDFont+F2"/>
              </a:rPr>
            </a:br>
            <a:r>
              <a:rPr lang="en-US" sz="2800" b="0" i="0" dirty="0">
                <a:solidFill>
                  <a:srgbClr val="000000"/>
                </a:solidFill>
                <a:effectLst/>
                <a:latin typeface="CIDFont+F2"/>
              </a:rPr>
              <a:t>form into a single large crystal, all of these atoms</a:t>
            </a:r>
            <a:br>
              <a:rPr lang="en-US" sz="2800" b="0" i="0" dirty="0">
                <a:solidFill>
                  <a:srgbClr val="000000"/>
                </a:solidFill>
                <a:effectLst/>
                <a:latin typeface="CIDFont+F2"/>
              </a:rPr>
            </a:br>
            <a:r>
              <a:rPr lang="en-US" sz="2800" b="0" i="0" dirty="0">
                <a:solidFill>
                  <a:srgbClr val="000000"/>
                </a:solidFill>
                <a:effectLst/>
                <a:latin typeface="CIDFont+F2"/>
              </a:rPr>
              <a:t>got arranged in a regular lattice.</a:t>
            </a:r>
            <a:r>
              <a:rPr lang="en-US" sz="2800" dirty="0"/>
              <a:t> </a:t>
            </a:r>
            <a:br>
              <a:rPr lang="en-US" sz="2800" dirty="0"/>
            </a:br>
            <a:endParaRPr lang="en-US" sz="2800" dirty="0"/>
          </a:p>
        </p:txBody>
      </p:sp>
    </p:spTree>
    <p:extLst>
      <p:ext uri="{BB962C8B-B14F-4D97-AF65-F5344CB8AC3E}">
        <p14:creationId xmlns:p14="http://schemas.microsoft.com/office/powerpoint/2010/main" val="2827645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154280-6476-60B9-9D56-FFD786131C86}"/>
              </a:ext>
            </a:extLst>
          </p:cNvPr>
          <p:cNvSpPr txBox="1"/>
          <p:nvPr/>
        </p:nvSpPr>
        <p:spPr>
          <a:xfrm>
            <a:off x="859410" y="725668"/>
            <a:ext cx="10473179" cy="4524315"/>
          </a:xfrm>
          <a:prstGeom prst="rect">
            <a:avLst/>
          </a:prstGeom>
          <a:noFill/>
        </p:spPr>
        <p:txBody>
          <a:bodyPr wrap="square">
            <a:spAutoFit/>
          </a:bodyPr>
          <a:lstStyle/>
          <a:p>
            <a:r>
              <a:rPr lang="en-US" sz="2400" b="0" i="0" dirty="0">
                <a:solidFill>
                  <a:srgbClr val="0070C0"/>
                </a:solidFill>
                <a:effectLst/>
                <a:latin typeface="Calibri" panose="020F0502020204030204" pitchFamily="34" charset="0"/>
              </a:rPr>
              <a:t>When the angle between the incident beam and the scattered beam become 50 ͦ the detector shows maximum numbers of electron scattering. The maximum numbers of reflected electrons in the detector indicate that electrons are being diffracted. In such a case applying Bragg’s law we can write ,</a:t>
            </a:r>
          </a:p>
          <a:p>
            <a:br>
              <a:rPr lang="en-US" sz="2400" b="0" i="0" dirty="0">
                <a:solidFill>
                  <a:srgbClr val="0070C0"/>
                </a:solidFill>
                <a:effectLst/>
                <a:latin typeface="Calibri" panose="020F0502020204030204" pitchFamily="34" charset="0"/>
              </a:rPr>
            </a:br>
            <a:r>
              <a:rPr lang="en-US" sz="2400" b="0" i="0" dirty="0">
                <a:solidFill>
                  <a:srgbClr val="0070C0"/>
                </a:solidFill>
                <a:effectLst/>
                <a:latin typeface="Calibri" panose="020F0502020204030204" pitchFamily="34" charset="0"/>
              </a:rPr>
              <a:t>2dsinθ=</a:t>
            </a:r>
            <a:r>
              <a:rPr lang="en-US" sz="2400" b="0" i="0" dirty="0" err="1">
                <a:solidFill>
                  <a:srgbClr val="0070C0"/>
                </a:solidFill>
                <a:effectLst/>
                <a:latin typeface="Calibri" panose="020F0502020204030204" pitchFamily="34" charset="0"/>
              </a:rPr>
              <a:t>nλ</a:t>
            </a:r>
            <a:r>
              <a:rPr lang="en-US" sz="2400" b="0" i="0" dirty="0">
                <a:solidFill>
                  <a:srgbClr val="0070C0"/>
                </a:solidFill>
                <a:effectLst/>
                <a:latin typeface="Calibri" panose="020F0502020204030204" pitchFamily="34" charset="0"/>
              </a:rPr>
              <a:t> 						here θ is Glancing angle</a:t>
            </a:r>
            <a:br>
              <a:rPr lang="en-US" sz="2400" b="0" i="0" dirty="0">
                <a:solidFill>
                  <a:srgbClr val="0070C0"/>
                </a:solidFill>
                <a:effectLst/>
                <a:latin typeface="Calibri" panose="020F0502020204030204" pitchFamily="34" charset="0"/>
              </a:rPr>
            </a:br>
            <a:r>
              <a:rPr lang="en-US" sz="2400" b="0" i="0" dirty="0">
                <a:solidFill>
                  <a:srgbClr val="0070C0"/>
                </a:solidFill>
                <a:effectLst/>
                <a:latin typeface="Calibri" panose="020F0502020204030204" pitchFamily="34" charset="0"/>
              </a:rPr>
              <a:t>so λ= 2x 0.91x sin 65 ͦ </a:t>
            </a:r>
            <a:r>
              <a:rPr lang="en-US" sz="2400" dirty="0">
                <a:solidFill>
                  <a:srgbClr val="0070C0"/>
                </a:solidFill>
                <a:latin typeface="Calibri" panose="020F0502020204030204" pitchFamily="34" charset="0"/>
              </a:rPr>
              <a:t>					</a:t>
            </a:r>
            <a:r>
              <a:rPr lang="en-US" sz="2400" b="0" i="0" dirty="0">
                <a:solidFill>
                  <a:srgbClr val="0070C0"/>
                </a:solidFill>
                <a:effectLst/>
                <a:latin typeface="Calibri" panose="020F0502020204030204" pitchFamily="34" charset="0"/>
              </a:rPr>
              <a:t>for nickel d = 0.91 A ͦ</a:t>
            </a:r>
            <a:br>
              <a:rPr lang="en-US" sz="2400" b="0" i="0" dirty="0">
                <a:solidFill>
                  <a:srgbClr val="0070C0"/>
                </a:solidFill>
                <a:effectLst/>
                <a:latin typeface="Calibri" panose="020F0502020204030204" pitchFamily="34" charset="0"/>
              </a:rPr>
            </a:br>
            <a:r>
              <a:rPr lang="en-US" sz="2400" b="0" i="0" dirty="0">
                <a:solidFill>
                  <a:srgbClr val="0070C0"/>
                </a:solidFill>
                <a:effectLst/>
                <a:latin typeface="Calibri" panose="020F0502020204030204" pitchFamily="34" charset="0"/>
              </a:rPr>
              <a:t>= 1.82x 0.9063 =1.65 A ͦ 				and for 1st order n=1</a:t>
            </a:r>
          </a:p>
          <a:p>
            <a:br>
              <a:rPr lang="en-US" sz="2400" b="0" i="0" dirty="0">
                <a:solidFill>
                  <a:srgbClr val="0070C0"/>
                </a:solidFill>
                <a:effectLst/>
                <a:latin typeface="Calibri" panose="020F0502020204030204" pitchFamily="34" charset="0"/>
              </a:rPr>
            </a:br>
            <a:r>
              <a:rPr lang="en-US" sz="2400" b="0" i="0" dirty="0">
                <a:solidFill>
                  <a:srgbClr val="0070C0"/>
                </a:solidFill>
                <a:effectLst/>
                <a:latin typeface="Calibri" panose="020F0502020204030204" pitchFamily="34" charset="0"/>
              </a:rPr>
              <a:t>λ = 1.65 A ͦis the experimental value of wavelength associated with</a:t>
            </a:r>
            <a:br>
              <a:rPr lang="en-US" sz="2400" b="0" i="0" dirty="0">
                <a:solidFill>
                  <a:srgbClr val="0070C0"/>
                </a:solidFill>
                <a:effectLst/>
                <a:latin typeface="Calibri" panose="020F0502020204030204" pitchFamily="34" charset="0"/>
              </a:rPr>
            </a:br>
            <a:r>
              <a:rPr lang="en-US" sz="2400" b="0" i="0" dirty="0">
                <a:solidFill>
                  <a:srgbClr val="0070C0"/>
                </a:solidFill>
                <a:effectLst/>
                <a:latin typeface="Calibri" panose="020F0502020204030204" pitchFamily="34" charset="0"/>
              </a:rPr>
              <a:t>an electron considering it to be associated with a wave.</a:t>
            </a:r>
            <a:r>
              <a:rPr lang="en-US" sz="2400" dirty="0"/>
              <a:t> </a:t>
            </a:r>
            <a:br>
              <a:rPr lang="en-US" sz="2400" dirty="0"/>
            </a:br>
            <a:endParaRPr lang="en-US" sz="2400" dirty="0"/>
          </a:p>
        </p:txBody>
      </p:sp>
    </p:spTree>
    <p:extLst>
      <p:ext uri="{BB962C8B-B14F-4D97-AF65-F5344CB8AC3E}">
        <p14:creationId xmlns:p14="http://schemas.microsoft.com/office/powerpoint/2010/main" val="1609407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F00BF7-0CAE-0195-C7D9-BC7EB214AFD3}"/>
              </a:ext>
            </a:extLst>
          </p:cNvPr>
          <p:cNvPicPr>
            <a:picLocks noChangeAspect="1"/>
          </p:cNvPicPr>
          <p:nvPr/>
        </p:nvPicPr>
        <p:blipFill>
          <a:blip r:embed="rId2"/>
          <a:stretch>
            <a:fillRect/>
          </a:stretch>
        </p:blipFill>
        <p:spPr>
          <a:xfrm>
            <a:off x="671512" y="1219200"/>
            <a:ext cx="10848975" cy="4419600"/>
          </a:xfrm>
          <a:prstGeom prst="rect">
            <a:avLst/>
          </a:prstGeom>
        </p:spPr>
      </p:pic>
    </p:spTree>
    <p:extLst>
      <p:ext uri="{BB962C8B-B14F-4D97-AF65-F5344CB8AC3E}">
        <p14:creationId xmlns:p14="http://schemas.microsoft.com/office/powerpoint/2010/main" val="3208493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20D298E-8EE2-C1C4-3D8E-2378FD469C9E}"/>
              </a:ext>
            </a:extLst>
          </p:cNvPr>
          <p:cNvGrpSpPr/>
          <p:nvPr/>
        </p:nvGrpSpPr>
        <p:grpSpPr>
          <a:xfrm>
            <a:off x="479394" y="967666"/>
            <a:ext cx="5069150" cy="4384656"/>
            <a:chOff x="665825" y="514905"/>
            <a:chExt cx="5069150" cy="4384656"/>
          </a:xfrm>
        </p:grpSpPr>
        <p:pic>
          <p:nvPicPr>
            <p:cNvPr id="3" name="Picture 2">
              <a:extLst>
                <a:ext uri="{FF2B5EF4-FFF2-40B4-BE49-F238E27FC236}">
                  <a16:creationId xmlns:a16="http://schemas.microsoft.com/office/drawing/2014/main" id="{7BD506C7-B926-A2DF-E510-9D0D5E637297}"/>
                </a:ext>
              </a:extLst>
            </p:cNvPr>
            <p:cNvPicPr>
              <a:picLocks noChangeAspect="1"/>
            </p:cNvPicPr>
            <p:nvPr/>
          </p:nvPicPr>
          <p:blipFill>
            <a:blip r:embed="rId2"/>
            <a:stretch>
              <a:fillRect/>
            </a:stretch>
          </p:blipFill>
          <p:spPr>
            <a:xfrm>
              <a:off x="1509204" y="514905"/>
              <a:ext cx="3195961" cy="163227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875DF5E-29FE-D8B5-7D06-91DD94AA50E1}"/>
                    </a:ext>
                  </a:extLst>
                </p:cNvPr>
                <p:cNvSpPr txBox="1"/>
                <p:nvPr/>
              </p:nvSpPr>
              <p:spPr>
                <a:xfrm>
                  <a:off x="665825" y="2059296"/>
                  <a:ext cx="5069150" cy="2840265"/>
                </a:xfrm>
                <a:prstGeom prst="rect">
                  <a:avLst/>
                </a:prstGeom>
                <a:noFill/>
              </p:spPr>
              <p:txBody>
                <a:bodyPr wrap="square" rtlCol="0">
                  <a:spAutoFit/>
                </a:bodyPr>
                <a:lstStyle/>
                <a:p>
                  <a:pPr algn="just"/>
                  <a:r>
                    <a:rPr lang="en-US" sz="2400" dirty="0"/>
                    <a:t>A narrow de Broglie wave, the position of the particle can be precisely determined but the wavelength can not be since there no enough number of waves. That is why the momentum can not be precisely determined since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𝑝</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𝜈</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𝑐</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𝜆</m:t>
                          </m:r>
                        </m:den>
                      </m:f>
                    </m:oMath>
                  </a14:m>
                  <a:endParaRPr lang="en-US" sz="2400" dirty="0"/>
                </a:p>
              </p:txBody>
            </p:sp>
          </mc:Choice>
          <mc:Fallback xmlns="">
            <p:sp>
              <p:nvSpPr>
                <p:cNvPr id="6" name="TextBox 5">
                  <a:extLst>
                    <a:ext uri="{FF2B5EF4-FFF2-40B4-BE49-F238E27FC236}">
                      <a16:creationId xmlns:a16="http://schemas.microsoft.com/office/drawing/2014/main" xmlns="" xmlns:a14="http://schemas.microsoft.com/office/drawing/2010/main" id="{A875DF5E-29FE-D8B5-7D06-91DD94AA50E1}"/>
                    </a:ext>
                  </a:extLst>
                </p:cNvPr>
                <p:cNvSpPr txBox="1">
                  <a:spLocks noRot="1" noChangeAspect="1" noMove="1" noResize="1" noEditPoints="1" noAdjustHandles="1" noChangeArrowheads="1" noChangeShapeType="1" noTextEdit="1"/>
                </p:cNvSpPr>
                <p:nvPr/>
              </p:nvSpPr>
              <p:spPr>
                <a:xfrm>
                  <a:off x="665825" y="2059296"/>
                  <a:ext cx="5069150" cy="2840265"/>
                </a:xfrm>
                <a:prstGeom prst="rect">
                  <a:avLst/>
                </a:prstGeom>
                <a:blipFill>
                  <a:blip r:embed="rId3"/>
                  <a:stretch>
                    <a:fillRect l="-1925" t="-1717" r="-1805"/>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24F30857-A256-DBD0-A6B1-EA8FE347C615}"/>
              </a:ext>
            </a:extLst>
          </p:cNvPr>
          <p:cNvGrpSpPr/>
          <p:nvPr/>
        </p:nvGrpSpPr>
        <p:grpSpPr>
          <a:xfrm>
            <a:off x="6391923" y="967666"/>
            <a:ext cx="5069150" cy="3673005"/>
            <a:chOff x="6391923" y="664114"/>
            <a:chExt cx="5069150" cy="3673005"/>
          </a:xfrm>
        </p:grpSpPr>
        <p:pic>
          <p:nvPicPr>
            <p:cNvPr id="5" name="Picture 4">
              <a:extLst>
                <a:ext uri="{FF2B5EF4-FFF2-40B4-BE49-F238E27FC236}">
                  <a16:creationId xmlns:a16="http://schemas.microsoft.com/office/drawing/2014/main" id="{44304818-3A78-F143-0B45-4E2814708879}"/>
                </a:ext>
              </a:extLst>
            </p:cNvPr>
            <p:cNvPicPr>
              <a:picLocks noChangeAspect="1"/>
            </p:cNvPicPr>
            <p:nvPr/>
          </p:nvPicPr>
          <p:blipFill>
            <a:blip r:embed="rId4"/>
            <a:stretch>
              <a:fillRect/>
            </a:stretch>
          </p:blipFill>
          <p:spPr>
            <a:xfrm>
              <a:off x="7137647" y="664114"/>
              <a:ext cx="3080551" cy="1793321"/>
            </a:xfrm>
            <a:prstGeom prst="rect">
              <a:avLst/>
            </a:prstGeom>
          </p:spPr>
        </p:pic>
        <p:sp>
          <p:nvSpPr>
            <p:cNvPr id="9" name="TextBox 8">
              <a:extLst>
                <a:ext uri="{FF2B5EF4-FFF2-40B4-BE49-F238E27FC236}">
                  <a16:creationId xmlns:a16="http://schemas.microsoft.com/office/drawing/2014/main" id="{AC8BDCB3-BB4D-72F6-AF07-824A14B7BC5B}"/>
                </a:ext>
              </a:extLst>
            </p:cNvPr>
            <p:cNvSpPr txBox="1"/>
            <p:nvPr/>
          </p:nvSpPr>
          <p:spPr>
            <a:xfrm>
              <a:off x="6391923" y="2398127"/>
              <a:ext cx="5069150" cy="1938992"/>
            </a:xfrm>
            <a:prstGeom prst="rect">
              <a:avLst/>
            </a:prstGeom>
            <a:noFill/>
          </p:spPr>
          <p:txBody>
            <a:bodyPr wrap="square" rtlCol="0">
              <a:spAutoFit/>
            </a:bodyPr>
            <a:lstStyle/>
            <a:p>
              <a:pPr algn="just"/>
              <a:r>
                <a:rPr lang="en-US" sz="2400" dirty="0"/>
                <a:t>A large de Broglie wave, the momentum of the particle can be precisely determined but the position  can not be since it is spread over a wide range of space.</a:t>
              </a:r>
            </a:p>
          </p:txBody>
        </p:sp>
      </p:grpSp>
      <p:sp>
        <p:nvSpPr>
          <p:cNvPr id="11" name="TextBox 10">
            <a:extLst>
              <a:ext uri="{FF2B5EF4-FFF2-40B4-BE49-F238E27FC236}">
                <a16:creationId xmlns:a16="http://schemas.microsoft.com/office/drawing/2014/main" id="{B8108819-03F3-3312-BA48-E762A73062DC}"/>
              </a:ext>
            </a:extLst>
          </p:cNvPr>
          <p:cNvSpPr txBox="1"/>
          <p:nvPr/>
        </p:nvSpPr>
        <p:spPr>
          <a:xfrm>
            <a:off x="3608771" y="0"/>
            <a:ext cx="5069151" cy="646331"/>
          </a:xfrm>
          <a:prstGeom prst="rect">
            <a:avLst/>
          </a:prstGeom>
          <a:noFill/>
        </p:spPr>
        <p:txBody>
          <a:bodyPr wrap="square" rtlCol="0">
            <a:spAutoFit/>
          </a:bodyPr>
          <a:lstStyle/>
          <a:p>
            <a:r>
              <a:rPr lang="en-US" sz="3600" dirty="0"/>
              <a:t>The Uncertainty Principle</a:t>
            </a:r>
          </a:p>
        </p:txBody>
      </p:sp>
      <p:sp>
        <p:nvSpPr>
          <p:cNvPr id="12" name="TextBox 11">
            <a:extLst>
              <a:ext uri="{FF2B5EF4-FFF2-40B4-BE49-F238E27FC236}">
                <a16:creationId xmlns:a16="http://schemas.microsoft.com/office/drawing/2014/main" id="{4905AF81-CE58-49A7-BEFD-E5C1BE93D7FB}"/>
              </a:ext>
            </a:extLst>
          </p:cNvPr>
          <p:cNvSpPr txBox="1"/>
          <p:nvPr/>
        </p:nvSpPr>
        <p:spPr>
          <a:xfrm>
            <a:off x="612559" y="5418034"/>
            <a:ext cx="10750858" cy="1138773"/>
          </a:xfrm>
          <a:prstGeom prst="rect">
            <a:avLst/>
          </a:prstGeom>
          <a:noFill/>
        </p:spPr>
        <p:txBody>
          <a:bodyPr wrap="square" rtlCol="0">
            <a:spAutoFit/>
          </a:bodyPr>
          <a:lstStyle/>
          <a:p>
            <a:r>
              <a:rPr lang="en-US" sz="2400" dirty="0">
                <a:solidFill>
                  <a:srgbClr val="FF0000"/>
                </a:solidFill>
              </a:rPr>
              <a:t>Uncertainty Principle:</a:t>
            </a:r>
            <a:r>
              <a:rPr lang="en-US" sz="2400" dirty="0"/>
              <a:t> </a:t>
            </a:r>
            <a:r>
              <a:rPr lang="en-US" sz="2400" dirty="0">
                <a:solidFill>
                  <a:srgbClr val="7030A0"/>
                </a:solidFill>
              </a:rPr>
              <a:t>It is impossible to know both the exact position and exact momentum of an object at the same time.</a:t>
            </a:r>
          </a:p>
          <a:p>
            <a:pPr algn="r"/>
            <a:r>
              <a:rPr lang="en-US" sz="2000" dirty="0"/>
              <a:t>Werner Heisenberg 1927</a:t>
            </a:r>
          </a:p>
        </p:txBody>
      </p:sp>
    </p:spTree>
    <p:extLst>
      <p:ext uri="{BB962C8B-B14F-4D97-AF65-F5344CB8AC3E}">
        <p14:creationId xmlns:p14="http://schemas.microsoft.com/office/powerpoint/2010/main" val="16221488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E7817D-50A7-629A-4EEA-4C5268BCC683}"/>
              </a:ext>
            </a:extLst>
          </p:cNvPr>
          <p:cNvPicPr>
            <a:picLocks noChangeAspect="1"/>
          </p:cNvPicPr>
          <p:nvPr/>
        </p:nvPicPr>
        <p:blipFill>
          <a:blip r:embed="rId2"/>
          <a:stretch>
            <a:fillRect/>
          </a:stretch>
        </p:blipFill>
        <p:spPr>
          <a:xfrm>
            <a:off x="1953087" y="452762"/>
            <a:ext cx="7995696" cy="5749339"/>
          </a:xfrm>
          <a:prstGeom prst="rect">
            <a:avLst/>
          </a:prstGeom>
        </p:spPr>
      </p:pic>
      <p:sp>
        <p:nvSpPr>
          <p:cNvPr id="4" name="TextBox 3">
            <a:extLst>
              <a:ext uri="{FF2B5EF4-FFF2-40B4-BE49-F238E27FC236}">
                <a16:creationId xmlns:a16="http://schemas.microsoft.com/office/drawing/2014/main" id="{F5B14BE1-7C86-EDEC-67DE-138263290CC9}"/>
              </a:ext>
            </a:extLst>
          </p:cNvPr>
          <p:cNvSpPr txBox="1"/>
          <p:nvPr/>
        </p:nvSpPr>
        <p:spPr>
          <a:xfrm>
            <a:off x="5601810" y="-8903"/>
            <a:ext cx="1305018" cy="461665"/>
          </a:xfrm>
          <a:prstGeom prst="rect">
            <a:avLst/>
          </a:prstGeom>
          <a:noFill/>
        </p:spPr>
        <p:txBody>
          <a:bodyPr wrap="square" rtlCol="0">
            <a:spAutoFit/>
          </a:bodyPr>
          <a:lstStyle/>
          <a:p>
            <a:r>
              <a:rPr lang="en-US" sz="2400" dirty="0"/>
              <a:t>Proof</a:t>
            </a:r>
          </a:p>
        </p:txBody>
      </p:sp>
    </p:spTree>
    <p:extLst>
      <p:ext uri="{BB962C8B-B14F-4D97-AF65-F5344CB8AC3E}">
        <p14:creationId xmlns:p14="http://schemas.microsoft.com/office/powerpoint/2010/main" val="2833444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D38EDB-34B3-C7D5-619B-0F4B3A925CFA}"/>
              </a:ext>
            </a:extLst>
          </p:cNvPr>
          <p:cNvPicPr>
            <a:picLocks noChangeAspect="1"/>
          </p:cNvPicPr>
          <p:nvPr/>
        </p:nvPicPr>
        <p:blipFill>
          <a:blip r:embed="rId2"/>
          <a:stretch>
            <a:fillRect/>
          </a:stretch>
        </p:blipFill>
        <p:spPr>
          <a:xfrm>
            <a:off x="2148396" y="550417"/>
            <a:ext cx="7618315" cy="5974306"/>
          </a:xfrm>
          <a:prstGeom prst="rect">
            <a:avLst/>
          </a:prstGeom>
        </p:spPr>
      </p:pic>
    </p:spTree>
    <p:extLst>
      <p:ext uri="{BB962C8B-B14F-4D97-AF65-F5344CB8AC3E}">
        <p14:creationId xmlns:p14="http://schemas.microsoft.com/office/powerpoint/2010/main" val="1814269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EDB762-0CAE-6F7D-ECB3-E582F7F9DDCB}"/>
              </a:ext>
            </a:extLst>
          </p:cNvPr>
          <p:cNvPicPr>
            <a:picLocks noChangeAspect="1"/>
          </p:cNvPicPr>
          <p:nvPr/>
        </p:nvPicPr>
        <p:blipFill>
          <a:blip r:embed="rId2"/>
          <a:stretch>
            <a:fillRect/>
          </a:stretch>
        </p:blipFill>
        <p:spPr>
          <a:xfrm>
            <a:off x="2657579" y="0"/>
            <a:ext cx="6876841" cy="6858000"/>
          </a:xfrm>
          <a:prstGeom prst="rect">
            <a:avLst/>
          </a:prstGeom>
        </p:spPr>
      </p:pic>
    </p:spTree>
    <p:extLst>
      <p:ext uri="{BB962C8B-B14F-4D97-AF65-F5344CB8AC3E}">
        <p14:creationId xmlns:p14="http://schemas.microsoft.com/office/powerpoint/2010/main" val="517528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FB9D59-7EE8-37D7-2CA8-A445EF6E7013}"/>
              </a:ext>
            </a:extLst>
          </p:cNvPr>
          <p:cNvPicPr>
            <a:picLocks noChangeAspect="1"/>
          </p:cNvPicPr>
          <p:nvPr/>
        </p:nvPicPr>
        <p:blipFill>
          <a:blip r:embed="rId2"/>
          <a:stretch>
            <a:fillRect/>
          </a:stretch>
        </p:blipFill>
        <p:spPr>
          <a:xfrm>
            <a:off x="2211956" y="656948"/>
            <a:ext cx="8599447" cy="5805996"/>
          </a:xfrm>
          <a:prstGeom prst="rect">
            <a:avLst/>
          </a:prstGeom>
        </p:spPr>
      </p:pic>
      <p:sp>
        <p:nvSpPr>
          <p:cNvPr id="4" name="TextBox 3">
            <a:extLst>
              <a:ext uri="{FF2B5EF4-FFF2-40B4-BE49-F238E27FC236}">
                <a16:creationId xmlns:a16="http://schemas.microsoft.com/office/drawing/2014/main" id="{46572048-A16E-C130-140A-D8A160610692}"/>
              </a:ext>
            </a:extLst>
          </p:cNvPr>
          <p:cNvSpPr txBox="1"/>
          <p:nvPr/>
        </p:nvSpPr>
        <p:spPr>
          <a:xfrm>
            <a:off x="3355759" y="-88776"/>
            <a:ext cx="5734975" cy="646331"/>
          </a:xfrm>
          <a:prstGeom prst="rect">
            <a:avLst/>
          </a:prstGeom>
          <a:noFill/>
        </p:spPr>
        <p:txBody>
          <a:bodyPr wrap="square" rtlCol="0">
            <a:spAutoFit/>
          </a:bodyPr>
          <a:lstStyle/>
          <a:p>
            <a:r>
              <a:rPr lang="en-US" sz="3600" dirty="0"/>
              <a:t>The Energy Time Uncertainty</a:t>
            </a:r>
          </a:p>
        </p:txBody>
      </p:sp>
    </p:spTree>
    <p:extLst>
      <p:ext uri="{BB962C8B-B14F-4D97-AF65-F5344CB8AC3E}">
        <p14:creationId xmlns:p14="http://schemas.microsoft.com/office/powerpoint/2010/main" val="4029795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7D5DECD-DCB7-BFD5-01F1-6334B1CDFCEF}"/>
                  </a:ext>
                </a:extLst>
              </p:cNvPr>
              <p:cNvSpPr txBox="1"/>
              <p:nvPr/>
            </p:nvSpPr>
            <p:spPr>
              <a:xfrm>
                <a:off x="1287263" y="0"/>
                <a:ext cx="9854214" cy="830997"/>
              </a:xfrm>
              <a:prstGeom prst="rect">
                <a:avLst/>
              </a:prstGeom>
              <a:noFill/>
            </p:spPr>
            <p:txBody>
              <a:bodyPr wrap="square" rtlCol="0">
                <a:spAutoFit/>
              </a:bodyPr>
              <a:lstStyle/>
              <a:p>
                <a:r>
                  <a:rPr lang="en-US" sz="2400" dirty="0">
                    <a:solidFill>
                      <a:srgbClr val="FF0000"/>
                    </a:solidFill>
                  </a:rPr>
                  <a:t>A measurement establishes the position of a proton with an accuracy of </a:t>
                </a: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m:t>
                    </m:r>
                    <m:sSup>
                      <m:sSupPr>
                        <m:ctrlPr>
                          <a:rPr lang="en-US" sz="2400" i="1" smtClean="0">
                            <a:solidFill>
                              <a:srgbClr val="FF0000"/>
                            </a:solidFill>
                            <a:latin typeface="Cambria Math" panose="02040503050406030204" pitchFamily="18" charset="0"/>
                            <a:ea typeface="Cambria Math" panose="02040503050406030204" pitchFamily="18" charset="0"/>
                          </a:rPr>
                        </m:ctrlPr>
                      </m:sSupPr>
                      <m:e>
                        <m:r>
                          <a:rPr lang="en-US" sz="2400" b="0" i="1" smtClean="0">
                            <a:solidFill>
                              <a:srgbClr val="FF0000"/>
                            </a:solidFill>
                            <a:latin typeface="Cambria Math" panose="02040503050406030204" pitchFamily="18" charset="0"/>
                            <a:ea typeface="Cambria Math" panose="02040503050406030204" pitchFamily="18" charset="0"/>
                          </a:rPr>
                          <m:t>1.00×10</m:t>
                        </m:r>
                      </m:e>
                      <m:sup>
                        <m:r>
                          <a:rPr lang="en-US" sz="2400" b="0" i="1" smtClean="0">
                            <a:solidFill>
                              <a:srgbClr val="FF0000"/>
                            </a:solidFill>
                            <a:latin typeface="Cambria Math" panose="02040503050406030204" pitchFamily="18" charset="0"/>
                            <a:ea typeface="Cambria Math" panose="02040503050406030204" pitchFamily="18" charset="0"/>
                          </a:rPr>
                          <m:t>−11</m:t>
                        </m:r>
                      </m:sup>
                    </m:sSup>
                  </m:oMath>
                </a14:m>
                <a:r>
                  <a:rPr lang="en-US" sz="2400" dirty="0">
                    <a:solidFill>
                      <a:srgbClr val="FF0000"/>
                    </a:solidFill>
                  </a:rPr>
                  <a:t> m. Find the uncertainty in the proton’s position 1.00 s later.</a:t>
                </a:r>
              </a:p>
            </p:txBody>
          </p:sp>
        </mc:Choice>
        <mc:Fallback xmlns="">
          <p:sp>
            <p:nvSpPr>
              <p:cNvPr id="4" name="TextBox 3">
                <a:extLst>
                  <a:ext uri="{FF2B5EF4-FFF2-40B4-BE49-F238E27FC236}">
                    <a16:creationId xmlns:a16="http://schemas.microsoft.com/office/drawing/2014/main" xmlns="" xmlns:a14="http://schemas.microsoft.com/office/drawing/2010/main" id="{B7D5DECD-DCB7-BFD5-01F1-6334B1CDFCEF}"/>
                  </a:ext>
                </a:extLst>
              </p:cNvPr>
              <p:cNvSpPr txBox="1">
                <a:spLocks noRot="1" noChangeAspect="1" noMove="1" noResize="1" noEditPoints="1" noAdjustHandles="1" noChangeArrowheads="1" noChangeShapeType="1" noTextEdit="1"/>
              </p:cNvSpPr>
              <p:nvPr/>
            </p:nvSpPr>
            <p:spPr>
              <a:xfrm>
                <a:off x="1287263" y="0"/>
                <a:ext cx="9854214" cy="830997"/>
              </a:xfrm>
              <a:prstGeom prst="rect">
                <a:avLst/>
              </a:prstGeom>
              <a:blipFill>
                <a:blip r:embed="rId2"/>
                <a:stretch>
                  <a:fillRect l="-928" t="-5882" b="-1617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CC7A8815-DDAC-DC8B-2761-CF72943D0A6B}"/>
              </a:ext>
            </a:extLst>
          </p:cNvPr>
          <p:cNvPicPr>
            <a:picLocks noChangeAspect="1"/>
          </p:cNvPicPr>
          <p:nvPr/>
        </p:nvPicPr>
        <p:blipFill>
          <a:blip r:embed="rId3"/>
          <a:stretch>
            <a:fillRect/>
          </a:stretch>
        </p:blipFill>
        <p:spPr>
          <a:xfrm>
            <a:off x="1832313" y="1225302"/>
            <a:ext cx="9033955" cy="5468496"/>
          </a:xfrm>
          <a:prstGeom prst="rect">
            <a:avLst/>
          </a:prstGeom>
        </p:spPr>
      </p:pic>
    </p:spTree>
    <p:extLst>
      <p:ext uri="{BB962C8B-B14F-4D97-AF65-F5344CB8AC3E}">
        <p14:creationId xmlns:p14="http://schemas.microsoft.com/office/powerpoint/2010/main" val="34945840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0B4BB8E-06AB-F0D3-1084-B12C6587DC43}"/>
                  </a:ext>
                </a:extLst>
              </p:cNvPr>
              <p:cNvSpPr txBox="1"/>
              <p:nvPr/>
            </p:nvSpPr>
            <p:spPr>
              <a:xfrm>
                <a:off x="790112" y="0"/>
                <a:ext cx="11070455" cy="835165"/>
              </a:xfrm>
              <a:prstGeom prst="rect">
                <a:avLst/>
              </a:prstGeom>
              <a:noFill/>
            </p:spPr>
            <p:txBody>
              <a:bodyPr wrap="square" rtlCol="0">
                <a:spAutoFit/>
              </a:bodyPr>
              <a:lstStyle/>
              <a:p>
                <a:r>
                  <a:rPr lang="en-US" sz="2400" dirty="0">
                    <a:solidFill>
                      <a:srgbClr val="FF0000"/>
                    </a:solidFill>
                  </a:rPr>
                  <a:t>A typical atomic nucleus is about </a:t>
                </a:r>
                <a14:m>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5</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0</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m:t>
                        </m:r>
                      </m:e>
                      <m:sup>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15</m:t>
                        </m:r>
                      </m:sup>
                    </m:sSup>
                  </m:oMath>
                </a14:m>
                <a:r>
                  <a:rPr lang="en-US" sz="2400" dirty="0">
                    <a:solidFill>
                      <a:srgbClr val="FF0000"/>
                    </a:solidFill>
                  </a:rPr>
                  <a:t> m in radius. Use the uncertainty principle to place a lower limit on the energy an electron must have if it is to be part of a nucleus.</a:t>
                </a:r>
              </a:p>
            </p:txBody>
          </p:sp>
        </mc:Choice>
        <mc:Fallback xmlns="">
          <p:sp>
            <p:nvSpPr>
              <p:cNvPr id="4" name="TextBox 3">
                <a:extLst>
                  <a:ext uri="{FF2B5EF4-FFF2-40B4-BE49-F238E27FC236}">
                    <a16:creationId xmlns:a16="http://schemas.microsoft.com/office/drawing/2014/main" xmlns="" xmlns:a14="http://schemas.microsoft.com/office/drawing/2010/main" id="{40B4BB8E-06AB-F0D3-1084-B12C6587DC43}"/>
                  </a:ext>
                </a:extLst>
              </p:cNvPr>
              <p:cNvSpPr txBox="1">
                <a:spLocks noRot="1" noChangeAspect="1" noMove="1" noResize="1" noEditPoints="1" noAdjustHandles="1" noChangeArrowheads="1" noChangeShapeType="1" noTextEdit="1"/>
              </p:cNvSpPr>
              <p:nvPr/>
            </p:nvSpPr>
            <p:spPr>
              <a:xfrm>
                <a:off x="790112" y="0"/>
                <a:ext cx="11070455" cy="835165"/>
              </a:xfrm>
              <a:prstGeom prst="rect">
                <a:avLst/>
              </a:prstGeom>
              <a:blipFill>
                <a:blip r:embed="rId2"/>
                <a:stretch>
                  <a:fillRect l="-881" t="-5109" r="-551" b="-15328"/>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037C10D9-EF4A-6233-D528-81915C587C2D}"/>
              </a:ext>
            </a:extLst>
          </p:cNvPr>
          <p:cNvPicPr>
            <a:picLocks noChangeAspect="1"/>
          </p:cNvPicPr>
          <p:nvPr/>
        </p:nvPicPr>
        <p:blipFill>
          <a:blip r:embed="rId3"/>
          <a:stretch>
            <a:fillRect/>
          </a:stretch>
        </p:blipFill>
        <p:spPr>
          <a:xfrm>
            <a:off x="1398016" y="1102981"/>
            <a:ext cx="9395968" cy="4652038"/>
          </a:xfrm>
          <a:prstGeom prst="rect">
            <a:avLst/>
          </a:prstGeom>
        </p:spPr>
      </p:pic>
    </p:spTree>
    <p:extLst>
      <p:ext uri="{BB962C8B-B14F-4D97-AF65-F5344CB8AC3E}">
        <p14:creationId xmlns:p14="http://schemas.microsoft.com/office/powerpoint/2010/main" val="25286442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4ABFACD-0C86-5969-2CBE-1E1C6D164027}"/>
                  </a:ext>
                </a:extLst>
              </p:cNvPr>
              <p:cNvSpPr txBox="1"/>
              <p:nvPr/>
            </p:nvSpPr>
            <p:spPr>
              <a:xfrm>
                <a:off x="1171852" y="71022"/>
                <a:ext cx="9374820" cy="830997"/>
              </a:xfrm>
              <a:prstGeom prst="rect">
                <a:avLst/>
              </a:prstGeom>
              <a:noFill/>
            </p:spPr>
            <p:txBody>
              <a:bodyPr wrap="square" rtlCol="0">
                <a:spAutoFit/>
              </a:bodyPr>
              <a:lstStyle/>
              <a:p>
                <a:r>
                  <a:rPr lang="en-US" sz="2400" dirty="0">
                    <a:solidFill>
                      <a:srgbClr val="FF0000"/>
                    </a:solidFill>
                  </a:rPr>
                  <a:t>A hydrogen atom is </a:t>
                </a:r>
                <a14:m>
                  <m:oMath xmlns:m="http://schemas.openxmlformats.org/officeDocument/2006/math">
                    <m:sSup>
                      <m:sSupPr>
                        <m:ctrlPr>
                          <a:rPr lang="en-US" sz="2400" i="1" smtClean="0">
                            <a:solidFill>
                              <a:srgbClr val="FF0000"/>
                            </a:solidFill>
                            <a:latin typeface="Cambria Math" panose="02040503050406030204" pitchFamily="18" charset="0"/>
                          </a:rPr>
                        </m:ctrlPr>
                      </m:sSupPr>
                      <m:e>
                        <m:r>
                          <a:rPr lang="en-US" sz="2400" b="0" i="1" smtClean="0">
                            <a:solidFill>
                              <a:srgbClr val="FF0000"/>
                            </a:solidFill>
                            <a:latin typeface="Cambria Math" panose="02040503050406030204" pitchFamily="18" charset="0"/>
                          </a:rPr>
                          <m:t>5</m:t>
                        </m:r>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3</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10</m:t>
                        </m:r>
                      </m:e>
                      <m:sup>
                        <m:r>
                          <a:rPr lang="en-US" sz="2400" b="0" i="1" smtClean="0">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11</m:t>
                        </m:r>
                      </m:sup>
                    </m:sSup>
                  </m:oMath>
                </a14:m>
                <a:r>
                  <a:rPr lang="en-US" sz="2400" dirty="0">
                    <a:solidFill>
                      <a:srgbClr val="FF0000"/>
                    </a:solidFill>
                  </a:rPr>
                  <a:t> m in radius. Use the uncertainty principle to estimate the minimum energy at electron can have in this atom.</a:t>
                </a:r>
              </a:p>
            </p:txBody>
          </p:sp>
        </mc:Choice>
        <mc:Fallback xmlns="">
          <p:sp>
            <p:nvSpPr>
              <p:cNvPr id="4" name="TextBox 3">
                <a:extLst>
                  <a:ext uri="{FF2B5EF4-FFF2-40B4-BE49-F238E27FC236}">
                    <a16:creationId xmlns:a16="http://schemas.microsoft.com/office/drawing/2014/main" xmlns="" xmlns:a14="http://schemas.microsoft.com/office/drawing/2010/main" id="{F4ABFACD-0C86-5969-2CBE-1E1C6D164027}"/>
                  </a:ext>
                </a:extLst>
              </p:cNvPr>
              <p:cNvSpPr txBox="1">
                <a:spLocks noRot="1" noChangeAspect="1" noMove="1" noResize="1" noEditPoints="1" noAdjustHandles="1" noChangeArrowheads="1" noChangeShapeType="1" noTextEdit="1"/>
              </p:cNvSpPr>
              <p:nvPr/>
            </p:nvSpPr>
            <p:spPr>
              <a:xfrm>
                <a:off x="1171852" y="71022"/>
                <a:ext cx="9374820" cy="830997"/>
              </a:xfrm>
              <a:prstGeom prst="rect">
                <a:avLst/>
              </a:prstGeom>
              <a:blipFill>
                <a:blip r:embed="rId2"/>
                <a:stretch>
                  <a:fillRect l="-975" t="-5882" r="-1040" b="-1617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4A4AA6E2-C7C8-621A-FC74-B6B5F96FEADC}"/>
              </a:ext>
            </a:extLst>
          </p:cNvPr>
          <p:cNvPicPr>
            <a:picLocks noChangeAspect="1"/>
          </p:cNvPicPr>
          <p:nvPr/>
        </p:nvPicPr>
        <p:blipFill>
          <a:blip r:embed="rId3"/>
          <a:stretch>
            <a:fillRect/>
          </a:stretch>
        </p:blipFill>
        <p:spPr>
          <a:xfrm>
            <a:off x="1476424" y="1555302"/>
            <a:ext cx="9070248" cy="3451703"/>
          </a:xfrm>
          <a:prstGeom prst="rect">
            <a:avLst/>
          </a:prstGeom>
        </p:spPr>
      </p:pic>
    </p:spTree>
    <p:extLst>
      <p:ext uri="{BB962C8B-B14F-4D97-AF65-F5344CB8AC3E}">
        <p14:creationId xmlns:p14="http://schemas.microsoft.com/office/powerpoint/2010/main" val="1804066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850</TotalTime>
  <Words>4177</Words>
  <Application>Microsoft Office PowerPoint</Application>
  <PresentationFormat>Widescreen</PresentationFormat>
  <Paragraphs>213</Paragraphs>
  <Slides>53</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53</vt:i4>
      </vt:variant>
    </vt:vector>
  </HeadingPairs>
  <TitlesOfParts>
    <vt:vector size="65" baseType="lpstr">
      <vt:lpstr>Arial</vt:lpstr>
      <vt:lpstr>Calibri</vt:lpstr>
      <vt:lpstr>Calibri Light</vt:lpstr>
      <vt:lpstr>CalibriLight</vt:lpstr>
      <vt:lpstr>Cambria Math</vt:lpstr>
      <vt:lpstr>CIDFont+F2</vt:lpstr>
      <vt:lpstr>CMMI10</vt:lpstr>
      <vt:lpstr>CMR10</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akabir</dc:creator>
  <cp:lastModifiedBy>alamgir.kabir@du.ac.bd</cp:lastModifiedBy>
  <cp:revision>57</cp:revision>
  <dcterms:created xsi:type="dcterms:W3CDTF">2023-02-10T15:48:53Z</dcterms:created>
  <dcterms:modified xsi:type="dcterms:W3CDTF">2026-05-26T18:34:40Z</dcterms:modified>
</cp:coreProperties>
</file>